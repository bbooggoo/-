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85c0c445d94b8c" /><Relationship Type="http://schemas.openxmlformats.org/officeDocument/2006/relationships/extended-properties" Target="/docProps/app.xml" Id="Reb0409dbe9044e6d" /><Relationship Type="http://schemas.openxmlformats.org/officeDocument/2006/relationships/officeDocument" Target="/ppt/presentation.xml" Id="R974d29737c1244ee" /></Relationships>
</file>

<file path=ppt/presentation.xml><?xml version="1.0" encoding="utf-8"?>
<p:presentation xmlns:p="http://schemas.openxmlformats.org/presentationml/2006/main">
  <p:sldMasterIdLst>
    <p:sldMasterId xmlns:r="http://schemas.openxmlformats.org/officeDocument/2006/relationships" id="2147483648" r:id="R874408a8c86746f6"/>
  </p:sldMasterIdLst>
  <p:notesMasterIdLst>
    <p:notesMasterId xmlns:r="http://schemas.openxmlformats.org/officeDocument/2006/relationships" r:id="R307b6fa5a7d44992"/>
  </p:notesMasterIdLst>
  <p:sldIdLst>
    <p:sldId xmlns:r="http://schemas.openxmlformats.org/officeDocument/2006/relationships" id="256" r:id="R22a9f7adae31473e"/>
    <p:sldId xmlns:r="http://schemas.openxmlformats.org/officeDocument/2006/relationships" id="257" r:id="R422bfbd4020043ad"/>
    <p:sldId xmlns:r="http://schemas.openxmlformats.org/officeDocument/2006/relationships" id="258" r:id="Rccd31d30f5c44c9f"/>
    <p:sldId xmlns:r="http://schemas.openxmlformats.org/officeDocument/2006/relationships" id="259" r:id="R00daeddc3ebb4c2c"/>
    <p:sldId xmlns:r="http://schemas.openxmlformats.org/officeDocument/2006/relationships" id="260" r:id="R8c9931f54be844e0"/>
    <p:sldId xmlns:r="http://schemas.openxmlformats.org/officeDocument/2006/relationships" id="261" r:id="R93e9a2690f704acd"/>
    <p:sldId xmlns:r="http://schemas.openxmlformats.org/officeDocument/2006/relationships" id="262" r:id="R1a06735ec1774bd8"/>
    <p:sldId xmlns:r="http://schemas.openxmlformats.org/officeDocument/2006/relationships" id="263" r:id="R23b3593b39da47bd"/>
    <p:sldId xmlns:r="http://schemas.openxmlformats.org/officeDocument/2006/relationships" id="264" r:id="Rbc968ab453d14dab"/>
    <p:sldId xmlns:r="http://schemas.openxmlformats.org/officeDocument/2006/relationships" id="265" r:id="R2f528c3dd61b4963"/>
    <p:sldId xmlns:r="http://schemas.openxmlformats.org/officeDocument/2006/relationships" id="266" r:id="R52b68dd851884351"/>
    <p:sldId xmlns:r="http://schemas.openxmlformats.org/officeDocument/2006/relationships" id="267" r:id="Ra55b350ecb934913"/>
    <p:sldId xmlns:r="http://schemas.openxmlformats.org/officeDocument/2006/relationships" id="268" r:id="R9d7eb91943544c85"/>
    <p:sldId xmlns:r="http://schemas.openxmlformats.org/officeDocument/2006/relationships" id="269" r:id="R36cd91b156e6429d"/>
    <p:sldId xmlns:r="http://schemas.openxmlformats.org/officeDocument/2006/relationships" id="270" r:id="Rb4d9ec53e543409f"/>
    <p:sldId xmlns:r="http://schemas.openxmlformats.org/officeDocument/2006/relationships" id="271" r:id="Rae13b99a5d0240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0c04dfad314fa7" /><Relationship Type="http://schemas.openxmlformats.org/officeDocument/2006/relationships/slideMaster" Target="/ppt/slideMasters/slideMaster1.xml" Id="R874408a8c86746f6" /><Relationship Type="http://schemas.openxmlformats.org/officeDocument/2006/relationships/notesMaster" Target="/ppt/notesMasters/notesMaster1.xml" Id="R307b6fa5a7d44992" /><Relationship Type="http://schemas.openxmlformats.org/officeDocument/2006/relationships/presProps" Target="/ppt/presProps.xml" Id="Re37602f3beea42da" /><Relationship Type="http://schemas.openxmlformats.org/officeDocument/2006/relationships/tableStyles" Target="/ppt/tableStyles.xml" Id="R086f49c44d1f423b" /><Relationship Type="http://schemas.openxmlformats.org/officeDocument/2006/relationships/slide" Target="/ppt/slides/slide1.xml" Id="R22a9f7adae31473e" /><Relationship Type="http://schemas.openxmlformats.org/officeDocument/2006/relationships/slide" Target="/ppt/slides/slide2.xml" Id="R422bfbd4020043ad" /><Relationship Type="http://schemas.openxmlformats.org/officeDocument/2006/relationships/slide" Target="/ppt/slides/slide3.xml" Id="Rccd31d30f5c44c9f" /><Relationship Type="http://schemas.openxmlformats.org/officeDocument/2006/relationships/slide" Target="/ppt/slides/slide4.xml" Id="R00daeddc3ebb4c2c" /><Relationship Type="http://schemas.openxmlformats.org/officeDocument/2006/relationships/slide" Target="/ppt/slides/slide5.xml" Id="R8c9931f54be844e0" /><Relationship Type="http://schemas.openxmlformats.org/officeDocument/2006/relationships/slide" Target="/ppt/slides/slide6.xml" Id="R93e9a2690f704acd" /><Relationship Type="http://schemas.openxmlformats.org/officeDocument/2006/relationships/slide" Target="/ppt/slides/slide7.xml" Id="R1a06735ec1774bd8" /><Relationship Type="http://schemas.openxmlformats.org/officeDocument/2006/relationships/slide" Target="/ppt/slides/slide8.xml" Id="R23b3593b39da47bd" /><Relationship Type="http://schemas.openxmlformats.org/officeDocument/2006/relationships/slide" Target="/ppt/slides/slide9.xml" Id="Rbc968ab453d14dab" /><Relationship Type="http://schemas.openxmlformats.org/officeDocument/2006/relationships/slide" Target="/ppt/slides/slide10.xml" Id="R2f528c3dd61b4963" /><Relationship Type="http://schemas.openxmlformats.org/officeDocument/2006/relationships/slide" Target="/ppt/slides/slide11.xml" Id="R52b68dd851884351" /><Relationship Type="http://schemas.openxmlformats.org/officeDocument/2006/relationships/slide" Target="/ppt/slides/slide12.xml" Id="Ra55b350ecb934913" /><Relationship Type="http://schemas.openxmlformats.org/officeDocument/2006/relationships/slide" Target="/ppt/slides/slide13.xml" Id="R9d7eb91943544c85" /><Relationship Type="http://schemas.openxmlformats.org/officeDocument/2006/relationships/slide" Target="/ppt/slides/slide14.xml" Id="R36cd91b156e6429d" /><Relationship Type="http://schemas.openxmlformats.org/officeDocument/2006/relationships/slide" Target="/ppt/slides/slide15.xml" Id="Rb4d9ec53e543409f" /><Relationship Type="http://schemas.openxmlformats.org/officeDocument/2006/relationships/slide" Target="/ppt/slides/slide16.xml" Id="Rae13b99a5d0240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d1c3edd4884a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e8fb25e19c4efc" /><Relationship Type="http://schemas.openxmlformats.org/officeDocument/2006/relationships/notesMaster" Target="/ppt/notesMasters/notesMaster1.xml" Id="R1424773bdaa341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7eac96244a4fa8" /><Relationship Type="http://schemas.openxmlformats.org/officeDocument/2006/relationships/notesMaster" Target="/ppt/notesMasters/notesMaster1.xml" Id="Rd5b596ffbf1640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edc752732f4449" /><Relationship Type="http://schemas.openxmlformats.org/officeDocument/2006/relationships/notesMaster" Target="/ppt/notesMasters/notesMaster1.xml" Id="Red9ec9149e3e4d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e3c93c603b4a76" /><Relationship Type="http://schemas.openxmlformats.org/officeDocument/2006/relationships/notesMaster" Target="/ppt/notesMasters/notesMaster1.xml" Id="R2d2c2a2bb10a42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00d215ef9f435c" /><Relationship Type="http://schemas.openxmlformats.org/officeDocument/2006/relationships/notesMaster" Target="/ppt/notesMasters/notesMaster1.xml" Id="R9c5e90280a5848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b54e8ef1e64f8f" /><Relationship Type="http://schemas.openxmlformats.org/officeDocument/2006/relationships/notesMaster" Target="/ppt/notesMasters/notesMaster1.xml" Id="R7bbce4660cf048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d5f9bbe38a41ff" /><Relationship Type="http://schemas.openxmlformats.org/officeDocument/2006/relationships/notesMaster" Target="/ppt/notesMasters/notesMaster1.xml" Id="R2c4c840d76e745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13813c28c64a93" /><Relationship Type="http://schemas.openxmlformats.org/officeDocument/2006/relationships/notesMaster" Target="/ppt/notesMasters/notesMaster1.xml" Id="R2e0735137dee4d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f793b2c09e4d79" /><Relationship Type="http://schemas.openxmlformats.org/officeDocument/2006/relationships/notesMaster" Target="/ppt/notesMasters/notesMaster1.xml" Id="R9d547e8d4dbf4d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ebe4954cbc40ac" /><Relationship Type="http://schemas.openxmlformats.org/officeDocument/2006/relationships/notesMaster" Target="/ppt/notesMasters/notesMaster1.xml" Id="R29a57df37ae945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3b900616d84384" /><Relationship Type="http://schemas.openxmlformats.org/officeDocument/2006/relationships/notesMaster" Target="/ppt/notesMasters/notesMaster1.xml" Id="Re6d3cfe1749648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4adc041442449e" /><Relationship Type="http://schemas.openxmlformats.org/officeDocument/2006/relationships/notesMaster" Target="/ppt/notesMasters/notesMaster1.xml" Id="R62ce9b277a0f40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1c8c35cd6440dc" /><Relationship Type="http://schemas.openxmlformats.org/officeDocument/2006/relationships/notesMaster" Target="/ppt/notesMasters/notesMaster1.xml" Id="R4c9055e340764c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4f5ee0855945af" /><Relationship Type="http://schemas.openxmlformats.org/officeDocument/2006/relationships/notesMaster" Target="/ppt/notesMasters/notesMaster1.xml" Id="Rf5a473f389b44b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ea32d15ff54fb9" /><Relationship Type="http://schemas.openxmlformats.org/officeDocument/2006/relationships/notesMaster" Target="/ppt/notesMasters/notesMaster1.xml" Id="Rd709f4fbe13c44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d2bdd36b71463e" /><Relationship Type="http://schemas.openxmlformats.org/officeDocument/2006/relationships/notesMaster" Target="/ppt/notesMasters/notesMaster1.xml" Id="R11c4125ae6c64c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a:p xmlns:a="http://schemas.openxmlformats.org/drawingml/2006/main">
            <a:r>
              <a:t>Repair workflow from the shared implementation model:</a:t>
            </a:r>
          </a:p>
          <a:p xmlns:a="http://schemas.openxmlformats.org/drawingml/2006/main">
            <a:r>
              <a:t>1. 단위·허용오차 확인: 도면 단위를 확인한 뒤 선 틈 허용오차, 외부 코드 검색거리, 속성란 별칭을 입력합니다. 값은 프로젝트 기준이며 회사 표준값을 추정하지 않습니다.</a:t>
            </a:r>
          </a:p>
          <a:p xmlns:a="http://schemas.openxmlformats.org/drawingml/2006/main">
            <a:r>
              <a:t>2. 끊어진 BOX 선 연결: 생산설비 BOX 레이어의 열린 폴리라인과 LINE을 검사합니다. 허용오차 안의 유일한 끝점만 맞추고 단순 폐합을 확인합니다. 분기·교차·중복·고정 형상과 곡선 폐합은 자동 처리에서 제외합니다.</a:t>
            </a:r>
          </a:p>
          <a:p xmlns:a="http://schemas.openxmlformats.org/drawingml/2006/main">
            <a:r>
              <a:t>3. 서로 다른 속성란 통합: 개별 객체와 INSERT 속성의 건설코드 별칭을 검색해 공통 _constructionCode 필드에 복사합니다. 원래 속성란과 원본 추출값은 보존합니다. 서로 다른 값이 발견되면 충돌로 표시합니다.</a:t>
            </a:r>
          </a:p>
          <a:p xmlns:a="http://schemas.openxmlformats.org/drawingml/2006/main">
            <a:r>
              <a:t>4. BOX 밖 코드 귀속·이동: 속성 코드와 문자 후보를 대조합니다. 검색거리 안에서 관계가 유일한 문자만 BOX와 연결하고, 들어갈 크기의 회전 없는 문자를 직사각 BOX 안으로 이동합니다. 문자 폭은 근사값이므로 원본 대조가 필요합니다.</a:t>
            </a:r>
          </a:p>
          <a:p xmlns:a="http://schemas.openxmlformats.org/drawingml/2006/main">
            <a:r>
              <a:t>5. 누락·모호한 값 분리: 인접 BOX가 여러 개이거나 코드가 없으면 값을 만들지 않습니다. 공유 건설코드의 중복 허용 여부는 프로젝트에서 선택합니다. 객체 속성의 공통 건설코드를 수동 보완하고 다시 검사합니다.</a:t>
            </a:r>
          </a:p>
          <a:p xmlns:a="http://schemas.openxmlformats.org/drawingml/2006/main">
            <a:r>
              <a:t>6. 후보 적용·저장·재검사: 대상 Handle, 수정 종류, 이동량과 보류 사유를 보고 적용합니다. 분석 후 도면이 바뀌면 다시 분석해야 합니다. DB 저장 시 사유와 변경 전후를 남기고 현재 개정의 BOX·코드·Bay를 재검수합니다. 원본 DWG에는 재기록하지 않습니다.</a:t>
            </a:r>
          </a:p>
          <a:p xmlns:a="http://schemas.openxmlformats.org/drawingml/2006/main">
            <a:r>
              <a:t>No company-specific construction-code standard is inferred. Original DWG bytes and original extracted fields are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a:p xmlns:a="http://schemas.openxmlformats.org/drawingml/2006/main">
            <a:r>
              <a:t>1. 단위·허용오차 확인: 도면 단위를 확인한 뒤 선 틈 허용오차, 외부 코드 검색거리, 속성란 별칭을 입력합니다. 값은 프로젝트 기준이며 회사 표준값을 추정하지 않습니다.</a:t>
            </a:r>
          </a:p>
          <a:p xmlns:a="http://schemas.openxmlformats.org/drawingml/2006/main">
            <a:r>
              <a:t>2. 끊어진 BOX 선 연결: 생산설비 BOX 레이어의 열린 폴리라인과 LINE을 검사합니다. 허용오차 안의 유일한 끝점만 맞추고 단순 폐합을 확인합니다. 분기·교차·중복·고정 형상과 곡선 폐합은 자동 처리에서 제외합니다.</a:t>
            </a:r>
          </a:p>
          <a:p xmlns:a="http://schemas.openxmlformats.org/drawingml/2006/main">
            <a:r>
              <a:t>3. 서로 다른 속성란 통합: 개별 객체와 INSERT 속성의 건설코드 별칭을 검색해 공통 _constructionCode 필드에 복사합니다. 원래 속성란과 원본 추출값은 보존합니다. 서로 다른 값이 발견되면 충돌로 표시합니다.</a:t>
            </a:r>
          </a:p>
          <a:p xmlns:a="http://schemas.openxmlformats.org/drawingml/2006/main">
            <a:r>
              <a:t>4. BOX 밖 코드 귀속·이동: 속성 코드와 문자 후보를 대조합니다. 검색거리 안에서 관계가 유일한 문자만 BOX와 연결하고, 들어갈 크기의 회전 없는 문자를 직사각 BOX 안으로 이동합니다. 문자 폭은 근사값이므로 원본 대조가 필요합니다.</a:t>
            </a:r>
          </a:p>
          <a:p xmlns:a="http://schemas.openxmlformats.org/drawingml/2006/main">
            <a:r>
              <a:t>5. 누락·모호한 값 분리: 인접 BOX가 여러 개이거나 코드가 없으면 값을 만들지 않습니다. 공유 건설코드의 중복 허용 여부는 프로젝트에서 선택합니다. 객체 속성의 공통 건설코드를 수동 보완하고 다시 검사합니다.</a:t>
            </a:r>
          </a:p>
          <a:p xmlns:a="http://schemas.openxmlformats.org/drawingml/2006/main">
            <a:r>
              <a:t>6. 후보 적용·저장·재검사: 대상 Handle, 수정 종류, 이동량과 보류 사유를 보고 적용합니다. 분석 후 도면이 바뀌면 다시 분석해야 합니다. DB 저장 시 사유와 변경 전후를 남기고 현재 개정의 BOX·코드·Bay를 재검수합니다. 원본 DWG에는 재기록하지 않습니다.</a:t>
            </a:r>
          </a:p>
          <a:p xmlns:a="http://schemas.openxmlformats.org/drawingml/2006/main">
            <a:r>
              <a:t>Repair warnings are persisted in metadata and block QC until reanalysis. Proposals become stale after model changes. Editable shapes and connectors represent the six shared repairWorkflow stages.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a:p xmlns:a="http://schemas.openxmlformats.org/drawingml/2006/main">
            <a:r>
              <a:t>Samsung-coauthored 2026.04 conceptual-model research, indexed abstract and paper metadata: https://www.dbpia.co.kr/journal/articleDetail?nodeId=NODE12869219 . Indexed academic PDF: https://conf.aik.or.kr/pdfs/output/paper_260316135314675.pdf (direct retrieval unavailable). Evidence describes a generalized model and alternative KPIs, not a deployed internal solver.</a:t>
            </a:r>
          </a:p>
          <a:p xmlns:a="http://schemas.openxmlformats.org/drawingml/2006/main">
            <a:r>
              <a:t>Samsung Electronics and Samsung C&amp;T P2 FAB prototype study, 2022-12-31, DOI 10.13161/kibim.2022.12.4.001: https://journal-kibim.apub.co.kr/articles/xml/d4Mn/ . Revision/Hold, drawing consistency and issue feedback are reported research/workflow subjects.</a:t>
            </a:r>
          </a:p>
          <a:p xmlns:a="http://schemas.openxmlformats.org/drawingml/2006/main">
            <a:r>
              <a:t>Google Patents primary patent document KR101600068B1, 2016.03: https://patents.google.com/patent/KR101600068B1/ko . Assignees are Samsung C&amp;T and Samoo. Bay utility spatial separation and modules are patent concepts, not evidence of Samsung Electronics adoption or its internal standards. Our implementation is an independent sample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a:p xmlns:a="http://schemas.openxmlformats.org/drawingml/2006/main">
            <a:r>
              <a:t>SK hynix official M16 construction account, 2021-02-01: https://news.skhynix.co.kr/meet-the-protagonists-of-the-m16-construction/ . Search-indexed official content describes BIM piping/ducts/cable trays, within/between-floor clash prediction and electrical room distance/layout review. Direct website access returned 403 during research.</a:t>
            </a:r>
          </a:p>
          <a:p xmlns:a="http://schemas.openxmlformats.org/drawingml/2006/main">
            <a:r>
              <a:t>SK hynix official role account, 2019-12-03: https://news.skhynix.co.kr/people-who-build/ . Layout and UT Matrix changes, cross-trade coordination and repeated design/procurement/construction work.</a:t>
            </a:r>
          </a:p>
          <a:p xmlns:a="http://schemas.openxmlformats.org/drawingml/2006/main">
            <a:r>
              <a:t>SK Telecom official, 2026-06-01: https://news.sktelecom.com/en/3077 . States a 2025 SK hynix FAB digital twin PoC was completed and commercialization planned. Virtual equipment-layout and process-change scenarios are discussed.</a:t>
            </a:r>
          </a:p>
          <a:p xmlns:a="http://schemas.openxmlformats.org/drawingml/2006/main">
            <a:r>
              <a:t>SK hynix official NVIDIA partnership, 2026-06-08: https://news.skhynix.com/en/multi-year-tech-partnership-with-nvidia/ . FAB digital twin under development with Omniverse/OpenUSD. This does not establish completed automatic DWG composite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 Equipment sample result is calculated by inspect(sample(),1), autoLayout(sample(),1), then inspect(result.items,1). Before: 6 issues. After: 0 issues. Moved: 4 of 8 equipment. Composite sample result is calculated from sampleComposite(), inspectComposite(), and proposeComposite() with movement and connection strategies. {"count":6,"before":8,"movement":{"moved":4,"movement":4.704987562112089,"connection":98.2,"issues":0},"connection":{"moved":5,"movement":55.46897740461549,"connection":29.9,"issues":0},"ut":[{"id":"UPW-A","kind":"pipe","x":0,"y":6,"z":4,"capacity":100,"unit":"L/min","used":55,"remaining":45,"objects":["PIPE-01","PIPE-02"]},{"id":"EXH-A","kind":"duct","x":30,"y":36,"z":5.5,"capacity":500,"unit":"m³/min","used":360,"remaining":140,"objects":["DUCT-01","DUCT-02"]},{"id":"POWER-A","kind":"tray","x":60,"y":18,"z":7,"capacity":120,"unit":"kW","used":90,"remaining":30,"objects":["TRAY-01","TRAY-02"]}]} . Movement is summed Euclidean displacement. POC distance is summed minimum Manhattan distance between supply points and envelopes, a proxy rather than a routed length. These are sample demonstration results, not performance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dist/cad-model.mjs, dist/dwg-parser-worker.mjs, dist/box-repair.mjs, server/worker.mjs, the design studio UI, dist/workflow.mjs, dist/engine.mjs and dist/composite-engine.mjs. Parser: @mlightcad/libredwg-web 0.7.10 in a browser worker. Original DWG files use server object storage (R2) and extracted/current entity records use a server database (D1). DWG read support is limited to supported parser/geometry cases. Original DWG, extraction data and edited data are separate. DB editing does not write changes back into DWG. Native writeback, full BIM solids, routed utility engineering, organizational approval and internal Samsung standards are not claimed. The built-in equipment and composite calculations remain separate illustrative samples. Implementation verification reported by the implementation task: 44 automated tests passed; public DWG with 6 entities parsed through the browser pipeline, server storage, actual CAD dragging, saved revision and reloaded coordinates verified. BOX repair synthetic case: 0.01 m gap at 0.02 m tolerance, closure and BUILD_CODE to FAB-101 normalization proposed/applied; 7 missing-code warnings remained. These are limited public/synthetic fixtures; no actual Samsung project DWG was supplied and file-picker automation did not complete. Private site access is required. Engineering workflow requires tests, source commit/push, exact source-version deployment and verification. No native DWG writeback, internal standard compliance or delivery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b91048c66649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8b871770544684" /><Relationship Type="http://schemas.openxmlformats.org/officeDocument/2006/relationships/slideLayout" Target="/ppt/slideLayouts/slideLayout1.xml" Id="Rd4467ac2b4ab4d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467ac2b4ab4d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052e5abd0544c8" /><Relationship Type="http://schemas.openxmlformats.org/officeDocument/2006/relationships/notesSlide" Target="/ppt/notesSlides/notesSlide1.xml" Id="Rf2693c7dba534a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44fb7243194875" /><Relationship Type="http://schemas.openxmlformats.org/officeDocument/2006/relationships/notesSlide" Target="/ppt/notesSlides/notesSlide2.xml" Id="R08bfe20eac0e4e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dbe3d4c9664eb1" /><Relationship Type="http://schemas.openxmlformats.org/officeDocument/2006/relationships/notesSlide" Target="/ppt/notesSlides/notesSlide3.xml" Id="R207594ec36de44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db3eacfb204f65" /><Relationship Type="http://schemas.openxmlformats.org/officeDocument/2006/relationships/notesSlide" Target="/ppt/notesSlides/notesSlide4.xml" Id="R5b84389b59804c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c5b39ead274703" /><Relationship Type="http://schemas.openxmlformats.org/officeDocument/2006/relationships/notesSlide" Target="/ppt/notesSlides/notesSlide5.xml" Id="R44f1bc0a374c47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ec9ebc19374925" /><Relationship Type="http://schemas.openxmlformats.org/officeDocument/2006/relationships/notesSlide" Target="/ppt/notesSlides/notesSlide6.xml" Id="Rcc43c80f046644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6bde5ff1064b77" /><Relationship Type="http://schemas.openxmlformats.org/officeDocument/2006/relationships/notesSlide" Target="/ppt/notesSlides/notesSlide7.xml" Id="R69783a45d85b4c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f2878c38f1465d" /><Relationship Type="http://schemas.openxmlformats.org/officeDocument/2006/relationships/notesSlide" Target="/ppt/notesSlides/notesSlide8.xml" Id="Rce0974eee0d743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ae847905e24c05" /><Relationship Type="http://schemas.openxmlformats.org/officeDocument/2006/relationships/notesSlide" Target="/ppt/notesSlides/notesSlide9.xml" Id="R962f2cefeefe4a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67fb17b74e404e" /><Relationship Type="http://schemas.openxmlformats.org/officeDocument/2006/relationships/notesSlide" Target="/ppt/notesSlides/notesSlide10.xml" Id="Ra5c39c118b1047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a34466c3854007" /><Relationship Type="http://schemas.openxmlformats.org/officeDocument/2006/relationships/notesSlide" Target="/ppt/notesSlides/notesSlide11.xml" Id="R9a2d7b67209d47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b2d2abbe3e4a54" /><Relationship Type="http://schemas.openxmlformats.org/officeDocument/2006/relationships/notesSlide" Target="/ppt/notesSlides/notesSlide12.xml" Id="R5c5faec68c244a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34b82c8a9b486d" /><Relationship Type="http://schemas.openxmlformats.org/officeDocument/2006/relationships/chart" Target="/ppt/slides/charts/chart1.xml" Id="R5679ee356fdd4923" /><Relationship Type="http://schemas.openxmlformats.org/officeDocument/2006/relationships/notesSlide" Target="/ppt/notesSlides/notesSlide13.xml" Id="Rbad73679abb849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4b16a62bcd4b4b" /><Relationship Type="http://schemas.openxmlformats.org/officeDocument/2006/relationships/notesSlide" Target="/ppt/notesSlides/notesSlide14.xml" Id="Rd7e52faa803b4a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a670ab8a4e45e2" /><Relationship Type="http://schemas.openxmlformats.org/officeDocument/2006/relationships/notesSlide" Target="/ppt/notesSlides/notesSlide15.xml" Id="R88498ed7bd464b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2f0ea3f85046fc" /><Relationship Type="http://schemas.openxmlformats.org/officeDocument/2006/relationships/hyperlink" Target="https://composite-fab-layout-didwl.bbooggoo119.chatgpt.site/" TargetMode="External" Id="Rd6bd9bca39b24341" /><Relationship Type="http://schemas.openxmlformats.org/officeDocument/2006/relationships/notesSlide" Target="/ppt/notesSlides/notesSlide16.xml" Id="Rb9520f5b679147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검출 이슈 수</c:v>
          </c:tx>
          <c:spPr>
            <a:solidFill xmlns:a="http://schemas.openxmlformats.org/drawingml/2006/main">
              <a:srgbClr val="13755B"/>
            </a:solidFill>
          </c:spPr>
          <c:dPt>
            <c:idx val="0"/>
            <c:invertIfNegative val="0"/>
            <c:spPr>
              <a:solidFill xmlns:a="http://schemas.openxmlformats.org/drawingml/2006/main">
                <a:srgbClr val="152A37"/>
              </a:solidFill>
            </c:spPr>
          </c:dPt>
          <c:dPt>
            <c:idx val="1"/>
            <c:invertIfNegative val="0"/>
            <c:spPr>
              <a:solidFill xmlns:a="http://schemas.openxmlformats.org/drawingml/2006/main">
                <a:srgbClr val="13755B"/>
              </a:solidFill>
            </c:spPr>
          </c:dPt>
          <c:cat>
            <c:strRef>
              <c:f>'Chart Data'!$A$2:$A$3</c:f>
              <c:strCache>
                <c:ptCount val="2"/>
                <c:pt idx="0">
                  <c:v>자동배치 전</c:v>
                </c:pt>
                <c:pt idx="1">
                  <c:v>자동배치 후</c:v>
                </c:pt>
              </c:strCache>
            </c:strRef>
          </c:cat>
          <c:val>
            <c:numRef>
              <c:f>'Chart Data'!$B$2:$B$3</c:f>
              <c:numCache>
                <c:formatCode>0"건"</c:formatCode>
                <c:ptCount val="2"/>
                <c:pt idx="0">
                  <c:v>6</c:v>
                </c:pt>
                <c:pt idx="1">
                  <c:v>0</c:v>
                </c:pt>
              </c:numCache>
            </c:numRef>
          </c:val>
        </c:ser>
        <c:dLbls>
          <c:txPr>
            <a:bodyPr xmlns:a="http://schemas.openxmlformats.org/drawingml/2006/main" anchorCtr="1"/>
            <a:lstStyle xmlns:a="http://schemas.openxmlformats.org/drawingml/2006/main"/>
            <a:p xmlns:a="http://schemas.openxmlformats.org/drawingml/2006/main">
              <a:pPr>
                <a:defRPr sz="2550" b="1">
                  <a:solidFill>
                    <a:srgbClr val="152A37"/>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1DDE3"/>
            </a:solidFill>
          </a:ln>
        </c:spPr>
        <c:txPr>
          <a:bodyPr xmlns:a="http://schemas.openxmlformats.org/drawingml/2006/main" anchorCtr="1"/>
          <a:lstStyle xmlns:a="http://schemas.openxmlformats.org/drawingml/2006/main"/>
          <a:p xmlns:a="http://schemas.openxmlformats.org/drawingml/2006/main">
            <a:pPr>
              <a:defRPr sz="1800">
                <a:solidFill>
                  <a:srgbClr val="152A37"/>
                </a:solidFill>
                <a:latin typeface="Malgun Gothic"/>
                <a:ea typeface="Malgun Gothic"/>
                <a:cs typeface="Malgun Gothic"/>
              </a:defRPr>
            </a:pPr>
          </a:p>
        </c:txPr>
        <c:crossAx val="48672768"/>
      </c:catAx>
      <c:valAx>
        <c:axId val="48672768"/>
        <c:scaling>
          <c:orientation val="minMax"/>
          <c:max val="7"/>
          <c:min val="0"/>
        </c:scaling>
        <c:delete val="0"/>
        <c:axPos val="l"/>
        <c:majorGridlines>
          <c:spPr>
            <a:ln xmlns:a="http://schemas.openxmlformats.org/drawingml/2006/main" w="9525">
              <a:solidFill>
                <a:srgbClr val="D1DD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Malgun Gothic"/>
                <a:ea typeface="Malgun Gothic"/>
                <a:cs typeface="Malgun Gothic"/>
              </a:defRPr>
            </a:pPr>
          </a:p>
        </c:txPr>
        <c:crossAx val="48650112"/>
        <c:crossBetween val="between"/>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A37"/>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171F2539-D71D-4D75-9C0D-3D9C46E2346C}"/>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8CA8B8"/>
                </a:solidFill>
                <a:latin typeface="Malgun Gothic"/>
                <a:ea typeface="Malgun Gothic"/>
                <a:cs typeface="Malgun Gothic"/>
              </a:defRPr>
            </a:pPr>
            <a:r>
              <a:rPr sz="1200" b="0">
                <a:solidFill>
                  <a:srgbClr val="8CA8B8"/>
                </a:solidFill>
                <a:latin typeface="Malgun Gothic"/>
                <a:ea typeface="Malgun Gothic"/>
                <a:cs typeface="Malgun Gothic"/>
              </a:rPr>
              <a:t>01</a:t>
            </a:r>
          </a:p>
        </p:txBody>
      </p:sp>
      <p:sp>
        <p:nvSpPr>
          <p:cNvPr id="2" name="COMPOSITE">
            <a:extLst xmlns:a="http://schemas.openxmlformats.org/drawingml/2006/main">
              <a:ext uri="{FF2B5EF4-FFF2-40B4-BE49-F238E27FC236}">
                <a16:creationId xmlns:a16="http://schemas.microsoft.com/office/drawing/2014/main" id="{3457BC38-B012-4D9A-AC7C-6C9C9E84C95C}"/>
              </a:ext>
            </a:extLst>
          </p:cNvPr>
          <p:cNvSpPr>
            <a:spLocks xmlns:a="http://schemas.openxmlformats.org/drawingml/2006/main" noGrp="1"/>
          </p:cNvSpPr>
          <p:nvPr/>
        </p:nvSpPr>
        <p:spPr>
          <a:xfrm xmlns:a="http://schemas.openxmlformats.org/drawingml/2006/main">
            <a:off x="609600" y="685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7E8BA"/>
                </a:solidFill>
                <a:latin typeface="Malgun Gothic"/>
                <a:ea typeface="Malgun Gothic"/>
                <a:cs typeface="Malgun Gothic"/>
              </a:defRPr>
            </a:pPr>
            <a:r>
              <a:rPr sz="4800" b="1">
                <a:solidFill>
                  <a:srgbClr val="67E8BA"/>
                </a:solidFill>
                <a:latin typeface="Malgun Gothic"/>
                <a:ea typeface="Malgun Gothic"/>
                <a:cs typeface="Malgun Gothic"/>
              </a:rPr>
              <a:t>COMPOSITE</a:t>
            </a:r>
          </a:p>
        </p:txBody>
      </p:sp>
      <p:sp>
        <p:nvSpPr>
          <p:cNvPr id="3" name="삼성전자향 FAB 설계">
            <a:extLst xmlns:a="http://schemas.openxmlformats.org/drawingml/2006/main">
              <a:ext uri="{FF2B5EF4-FFF2-40B4-BE49-F238E27FC236}">
                <a16:creationId xmlns:a16="http://schemas.microsoft.com/office/drawing/2014/main" id="{87DC6C47-7D82-4CC5-A8DD-FC1CC7D26143}"/>
              </a:ext>
            </a:extLst>
          </p:cNvPr>
          <p:cNvSpPr>
            <a:spLocks xmlns:a="http://schemas.openxmlformats.org/drawingml/2006/main" noGrp="1"/>
          </p:cNvSpPr>
          <p:nvPr/>
        </p:nvSpPr>
        <p:spPr>
          <a:xfrm xmlns:a="http://schemas.openxmlformats.org/drawingml/2006/main">
            <a:off x="609600" y="21240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삼성전자향 FAB 설계</a:t>
            </a:r>
          </a:p>
        </p:txBody>
      </p:sp>
      <p:sp>
        <p:nvSpPr>
          <p:cNvPr id="4" name="DWG 객체 DB와 Bay 기반 통합 설계 스튜디오">
            <a:extLst xmlns:a="http://schemas.openxmlformats.org/drawingml/2006/main">
              <a:ext uri="{FF2B5EF4-FFF2-40B4-BE49-F238E27FC236}">
                <a16:creationId xmlns:a16="http://schemas.microsoft.com/office/drawing/2014/main" id="{A478CA21-C9D7-4E93-972E-4691DC0D58A0}"/>
              </a:ext>
            </a:extLst>
          </p:cNvPr>
          <p:cNvSpPr>
            <a:spLocks xmlns:a="http://schemas.openxmlformats.org/drawingml/2006/main" noGrp="1"/>
          </p:cNvSpPr>
          <p:nvPr/>
        </p:nvSpPr>
        <p:spPr>
          <a:xfrm xmlns:a="http://schemas.openxmlformats.org/drawingml/2006/main">
            <a:off x="647700" y="32099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BBD0D9"/>
                </a:solidFill>
                <a:latin typeface="Malgun Gothic"/>
                <a:ea typeface="Malgun Gothic"/>
                <a:cs typeface="Malgun Gothic"/>
              </a:defRPr>
            </a:pPr>
            <a:r>
              <a:rPr sz="2400" b="0">
                <a:solidFill>
                  <a:srgbClr val="BBD0D9"/>
                </a:solidFill>
                <a:latin typeface="Malgun Gothic"/>
                <a:ea typeface="Malgun Gothic"/>
                <a:cs typeface="Malgun Gothic"/>
              </a:rPr>
              <a:t>DWG 객체 DB와 Bay 기반 통합 설계 스튜디오</a:t>
            </a:r>
          </a:p>
        </p:txBody>
      </p:sp>
      <p:sp>
        <p:nvSpPr>
          <p:cNvPr id="5" name="">
            <a:extLst xmlns:a="http://schemas.openxmlformats.org/drawingml/2006/main">
              <a:ext uri="{FF2B5EF4-FFF2-40B4-BE49-F238E27FC236}">
                <a16:creationId xmlns:a16="http://schemas.microsoft.com/office/drawing/2014/main" id="{4ABE9F21-8301-465C-9152-580A1AAD79F4}"/>
              </a:ext>
            </a:extLst>
          </p:cNvPr>
          <p:cNvSpPr>
            <a:spLocks xmlns:a="http://schemas.openxmlformats.org/drawingml/2006/main" noGrp="1"/>
          </p:cNvSpPr>
          <p:nvPr/>
        </p:nvSpPr>
        <p:spPr>
          <a:xfrm xmlns:a="http://schemas.openxmlformats.org/drawingml/2006/main">
            <a:off x="647700" y="4524375"/>
            <a:ext cx="10934700" cy="0"/>
          </a:xfrm>
          <a:prstGeom xmlns:a="http://schemas.openxmlformats.org/drawingml/2006/main" prst="line">
            <a:avLst/>
          </a:prstGeom>
          <a:noFill xmlns:a="http://schemas.openxmlformats.org/drawingml/2006/main"/>
          <a:ln xmlns:a="http://schemas.openxmlformats.org/drawingml/2006/main" w="9525">
            <a:solidFill>
              <a:srgbClr val="3A5363"/>
            </a:solidFill>
            <a:prstDash val="solid"/>
          </a:ln>
        </p:spPr>
      </p:sp>
      <p:sp>
        <p:nvSpPr>
          <p:cNvPr id="6" name="실제 CAD 형상 검수와 객체 편집을 서버 데이터로 연결">
            <a:extLst xmlns:a="http://schemas.openxmlformats.org/drawingml/2006/main">
              <a:ext uri="{FF2B5EF4-FFF2-40B4-BE49-F238E27FC236}">
                <a16:creationId xmlns:a16="http://schemas.microsoft.com/office/drawing/2014/main" id="{9648BDD1-1D14-4018-A65E-F887C16553A3}"/>
              </a:ext>
            </a:extLst>
          </p:cNvPr>
          <p:cNvSpPr>
            <a:spLocks xmlns:a="http://schemas.openxmlformats.org/drawingml/2006/main" noGrp="1"/>
          </p:cNvSpPr>
          <p:nvPr/>
        </p:nvSpPr>
        <p:spPr>
          <a:xfrm xmlns:a="http://schemas.openxmlformats.org/drawingml/2006/main">
            <a:off x="647700" y="48196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실제 CAD 형상 검수와 객체 편집을 서버 데이터로 연결</a:t>
            </a:r>
          </a:p>
        </p:txBody>
      </p:sp>
      <p:sp>
        <p:nvSpPr>
          <p:cNvPr id="7" name="공개 자료를 참고한 플랫폼입니다. 도면·Bay·공종 기준은 실제 프로젝트에서 확정합니다">
            <a:extLst xmlns:a="http://schemas.openxmlformats.org/drawingml/2006/main">
              <a:ext uri="{FF2B5EF4-FFF2-40B4-BE49-F238E27FC236}">
                <a16:creationId xmlns:a16="http://schemas.microsoft.com/office/drawing/2014/main" id="{E36F005A-2B0C-4D02-B5B5-E1A16C417C32}"/>
              </a:ext>
            </a:extLst>
          </p:cNvPr>
          <p:cNvSpPr>
            <a:spLocks xmlns:a="http://schemas.openxmlformats.org/drawingml/2006/main" noGrp="1"/>
          </p:cNvSpPr>
          <p:nvPr/>
        </p:nvSpPr>
        <p:spPr>
          <a:xfrm xmlns:a="http://schemas.openxmlformats.org/drawingml/2006/main">
            <a:off x="647700" y="53816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BD0D9"/>
                </a:solidFill>
                <a:latin typeface="Malgun Gothic"/>
                <a:ea typeface="Malgun Gothic"/>
                <a:cs typeface="Malgun Gothic"/>
              </a:defRPr>
            </a:pPr>
            <a:r>
              <a:rPr sz="1650" b="0">
                <a:solidFill>
                  <a:srgbClr val="BBD0D9"/>
                </a:solidFill>
                <a:latin typeface="Malgun Gothic"/>
                <a:ea typeface="Malgun Gothic"/>
                <a:cs typeface="Malgun Gothic"/>
              </a:rPr>
              <a:t>공개 자료를 참고한 플랫폼입니다. 도면·Bay·공종 기준은 실제 프로젝트에서 확정합니다.</a:t>
            </a:r>
          </a:p>
        </p:txBody>
      </p:sp>
    </p:spTree>
    <p:extLst>
      <p:ext uri="{BB962C8B-B14F-4D97-AF65-F5344CB8AC3E}">
        <p14:creationId xmlns:p14="http://schemas.microsoft.com/office/powerpoint/2010/main" val="67152160"/>
      </p:ext>
    </p:extLst>
  </p:cSld>
</p:sld>
</file>

<file path=ppt/slides/slide2.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현재 구현 범위">
            <a:extLst xmlns:a="http://schemas.openxmlformats.org/drawingml/2006/main">
              <a:ext uri="{FF2B5EF4-FFF2-40B4-BE49-F238E27FC236}">
                <a16:creationId xmlns:a16="http://schemas.microsoft.com/office/drawing/2014/main" id="{F91AE14C-B7E7-4088-B4E3-02C542E7BFDC}"/>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현재 구현 범위</a:t>
            </a:r>
          </a:p>
        </p:txBody>
      </p:sp>
      <p:sp>
        <p:nvSpPr>
          <p:cNvPr id="2" name="DWG 원본과 추출 객체를 보존하고, 검수한 편집 결과를 서버에 저장">
            <a:extLst xmlns:a="http://schemas.openxmlformats.org/drawingml/2006/main">
              <a:ext uri="{FF2B5EF4-FFF2-40B4-BE49-F238E27FC236}">
                <a16:creationId xmlns:a16="http://schemas.microsoft.com/office/drawing/2014/main" id="{11AE18FF-AF86-41CB-818D-4DD3E596B562}"/>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DWG 원본과 추출 객체를 보존하고, 검수한 편집 결과를 서버에 저장</a:t>
            </a:r>
          </a:p>
        </p:txBody>
      </p:sp>
      <p:sp>
        <p:nvSpPr>
          <p:cNvPr id="3" name="">
            <a:extLst xmlns:a="http://schemas.openxmlformats.org/drawingml/2006/main">
              <a:ext uri="{FF2B5EF4-FFF2-40B4-BE49-F238E27FC236}">
                <a16:creationId xmlns:a16="http://schemas.microsoft.com/office/drawing/2014/main" id="{09349932-38CB-4101-9B75-853759A3AF44}"/>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2">
            <a:extLst xmlns:a="http://schemas.openxmlformats.org/drawingml/2006/main">
              <a:ext uri="{FF2B5EF4-FFF2-40B4-BE49-F238E27FC236}">
                <a16:creationId xmlns:a16="http://schemas.microsoft.com/office/drawing/2014/main" id="{C68AB547-168D-4200-97C1-04F4252907CC}"/>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02</a:t>
            </a:r>
          </a:p>
        </p:txBody>
      </p:sp>
      <p:graphicFrame>
        <p:nvGraphicFramePr>
          <p:cNvPr id="11" name=""/>
          <p:cNvGraphicFramePr/>
          <p:nvPr/>
        </p:nvGraphicFramePr>
        <p:xfrm>
          <a:off xmlns:a="http://schemas.openxmlformats.org/drawingml/2006/main" x="609600" y="2057400"/>
          <a:ext xmlns:a="http://schemas.openxmlformats.org/drawingml/2006/main" cx="10972800" cy="3657600"/>
        </p:xfrm>
        <a:graphic xmlns:a="http://schemas.openxmlformats.org/drawingml/2006/main">
          <a:graphicData uri="http://schemas.openxmlformats.org/drawingml/2006/table">
            <a:tbl>
              <a:tblPr firstRow="1" bandRow="0"/>
              <a:tblGrid>
                <a:gridCol w="1790700"/>
                <a:gridCol w="4810125"/>
                <a:gridCol w="4371975"/>
              </a:tblGrid>
              <a:tr h="523875">
                <a:tc>
                  <a:txBody>
                    <a:bodyPr lIns="133350" tIns="114300" rIns="133350" bIns="114300">
                      <a:noAutofit/>
                    </a:bodyPr>
                    <a:lstStyle/>
                    <a:p>
                      <a:r>
                        <a:rPr sz="1650" b="1">
                          <a:solidFill>
                            <a:srgbClr val="FFFFFF"/>
                          </a:solidFill>
                          <a:latin typeface="Malgun Gothic"/>
                          <a:ea typeface="Malgun Gothic"/>
                          <a:cs typeface="Malgun Gothic"/>
                        </a:rPr>
                        <a:t>구분</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현재 제공</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적용 범위와 경계</a:t>
                      </a:r>
                    </a:p>
                  </a:txBody>
                  <a:tcPr marL="91440" marR="91440" marT="45720" marB="45720" anchor="ctr">
                    <a:solidFill>
                      <a:srgbClr val="152A37"/>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DWG 데이터</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DWG 파싱, 업로드, 객체 DB 추출</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20 MB 이하 도면, 최대 1만 객체</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서버 저장</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원본 도면, 추출값, 수정값·변경 이력</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저장 실패를 성공으로 처리하지 않음</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통합 스튜디오</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실제 CAD 형상 표시와 객체 이동</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생산설비·인프라 레이어 분류·검수</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Bay 검토</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Bay 경계와 설계 조건 편집</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프로젝트 기준으로 생산·인프라 검토</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설계 계산</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기존 설비·컴포짓 샘플 계산 유지</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실제 DWG의 자동 설계 성능과 구분</a:t>
                      </a:r>
                    </a:p>
                  </a:txBody>
                  <a:tcPr marL="91440" marR="91440" marT="45720" marB="45720" anchor="ctr">
                    <a:solidFill>
                      <a:srgbClr val="FFFFFF"/>
                    </a:solidFill>
                  </a:tcPr>
                </a:tc>
              </a:tr>
            </a:tbl>
          </a:graphicData>
        </a:graphic>
      </p:graphicFrame>
      <p:sp>
        <p:nvSpPr>
          <p:cNvPr id="6" name="DB 편집은 원본 DWG 재기록과 별도입니다. DWG 파일에 수정값을 반영하는 기능은 ">
            <a:extLst xmlns:a="http://schemas.openxmlformats.org/drawingml/2006/main">
              <a:ext uri="{FF2B5EF4-FFF2-40B4-BE49-F238E27FC236}">
                <a16:creationId xmlns:a16="http://schemas.microsoft.com/office/drawing/2014/main" id="{8EBC67EB-E9E9-4D4B-BADC-B45118162BB5}"/>
              </a:ext>
            </a:extLst>
          </p:cNvPr>
          <p:cNvSpPr>
            <a:spLocks xmlns:a="http://schemas.openxmlformats.org/drawingml/2006/main" noGrp="1"/>
          </p:cNvSpPr>
          <p:nvPr/>
        </p:nvSpPr>
        <p:spPr>
          <a:xfrm xmlns:a="http://schemas.openxmlformats.org/drawingml/2006/main">
            <a:off x="609600" y="5934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DB 편집은 원본 DWG 재기록과 별도입니다. DWG 파일에 수정값을 반영하는 기능은 아직 제공하지 않습니다.</a:t>
            </a:r>
          </a:p>
        </p:txBody>
      </p:sp>
    </p:spTree>
    <p:extLst>
      <p:ext uri="{BB962C8B-B14F-4D97-AF65-F5344CB8AC3E}">
        <p14:creationId xmlns:p14="http://schemas.microsoft.com/office/powerpoint/2010/main" val="295427313"/>
      </p:ext>
    </p:extLst>
  </p:cSld>
</p:sld>
</file>

<file path=ppt/slides/slide3.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설계 스튜디오와 두 지원 탭">
            <a:extLst xmlns:a="http://schemas.openxmlformats.org/drawingml/2006/main">
              <a:ext uri="{FF2B5EF4-FFF2-40B4-BE49-F238E27FC236}">
                <a16:creationId xmlns:a16="http://schemas.microsoft.com/office/drawing/2014/main" id="{42B07C2A-5489-48DD-A4C2-119E3C51868E}"/>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설계 스튜디오와 두 지원 탭</a:t>
            </a:r>
          </a:p>
        </p:txBody>
      </p:sp>
      <p:sp>
        <p:nvSpPr>
          <p:cNvPr id="2" name="배치와 컴포짓을 한 스튜디오에서 검토하고 DB·업무 절차를 별도로 확인">
            <a:extLst xmlns:a="http://schemas.openxmlformats.org/drawingml/2006/main">
              <a:ext uri="{FF2B5EF4-FFF2-40B4-BE49-F238E27FC236}">
                <a16:creationId xmlns:a16="http://schemas.microsoft.com/office/drawing/2014/main" id="{CEC11B0D-8925-4FBD-B02A-7D6771A0E38B}"/>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배치와 컴포짓을 한 스튜디오에서 검토하고 DB·업무 절차를 별도로 확인</a:t>
            </a:r>
          </a:p>
        </p:txBody>
      </p:sp>
      <p:sp>
        <p:nvSpPr>
          <p:cNvPr id="3" name="">
            <a:extLst xmlns:a="http://schemas.openxmlformats.org/drawingml/2006/main">
              <a:ext uri="{FF2B5EF4-FFF2-40B4-BE49-F238E27FC236}">
                <a16:creationId xmlns:a16="http://schemas.microsoft.com/office/drawing/2014/main" id="{6BFEECD0-2E30-4C6D-8019-11EE4F59A7C4}"/>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3">
            <a:extLst xmlns:a="http://schemas.openxmlformats.org/drawingml/2006/main">
              <a:ext uri="{FF2B5EF4-FFF2-40B4-BE49-F238E27FC236}">
                <a16:creationId xmlns:a16="http://schemas.microsoft.com/office/drawing/2014/main" id="{6EF6E276-E7D6-455F-99E6-533F8227F3B0}"/>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03</a:t>
            </a:r>
          </a:p>
        </p:txBody>
      </p:sp>
      <p:graphicFrame>
        <p:nvGraphicFramePr>
          <p:cNvPr id="11" name=""/>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firstRow="1" bandRow="0"/>
              <a:tblGrid>
                <a:gridCol w="2552700"/>
                <a:gridCol w="8420100"/>
              </a:tblGrid>
              <a:tr h="523875">
                <a:tc>
                  <a:txBody>
                    <a:bodyPr lIns="133350" tIns="114300" rIns="133350" bIns="114300">
                      <a:noAutofit/>
                    </a:bodyPr>
                    <a:lstStyle/>
                    <a:p>
                      <a:r>
                        <a:rPr sz="1650" b="1">
                          <a:solidFill>
                            <a:srgbClr val="FFFFFF"/>
                          </a:solidFill>
                          <a:latin typeface="Malgun Gothic"/>
                          <a:ea typeface="Malgun Gothic"/>
                          <a:cs typeface="Malgun Gothic"/>
                        </a:rPr>
                        <a:t>작업 공간</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사용자가 확인하고 실행하는 항목</a:t>
                      </a:r>
                    </a:p>
                  </a:txBody>
                  <a:tcPr marL="91440" marR="91440" marT="45720" marB="45720" anchor="ctr">
                    <a:solidFill>
                      <a:srgbClr val="152A37"/>
                    </a:solidFill>
                  </a:tcPr>
                </a:tc>
              </a:tr>
              <a:tr h="968375">
                <a:tc>
                  <a:txBody>
                    <a:bodyPr lIns="133350" tIns="114300" rIns="133350" bIns="114300">
                      <a:noAutofit/>
                    </a:bodyPr>
                    <a:lstStyle/>
                    <a:p>
                      <a:r>
                        <a:rPr sz="1800" b="1">
                          <a:solidFill>
                            <a:srgbClr val="152A37"/>
                          </a:solidFill>
                          <a:latin typeface="Malgun Gothic"/>
                          <a:ea typeface="Malgun Gothic"/>
                          <a:cs typeface="Malgun Gothic"/>
                        </a:rPr>
                        <a:t>설계 스튜디오</a:t>
                      </a:r>
                    </a:p>
                  </a:txBody>
                  <a:tcPr marL="91440" marR="91440" marT="45720" marB="45720" anchor="ctr">
                    <a:solidFill>
                      <a:srgbClr val="FFFFFF"/>
                    </a:solidFill>
                  </a:tcPr>
                </a:tc>
                <a:tc>
                  <a:txBody>
                    <a:bodyPr lIns="133350" tIns="114300" rIns="133350" bIns="114300">
                      <a:noAutofit/>
                    </a:bodyPr>
                    <a:lstStyle/>
                    <a:p>
                      <a:r>
                        <a:rPr sz="1800" b="0">
                          <a:solidFill>
                            <a:srgbClr val="152A37"/>
                          </a:solidFill>
                          <a:latin typeface="Malgun Gothic"/>
                          <a:ea typeface="Malgun Gothic"/>
                          <a:cs typeface="Malgun Gothic"/>
                        </a:rPr>
                        <a:t>실제 CAD 형상, 생산설비 BOX와 인프라 레이어 검토</a:t>
                      </a:r>
                    </a:p>
                    <a:p>
                      <a:r>
                        <a:rPr sz="1800" b="0">
                          <a:solidFill>
                            <a:srgbClr val="152A37"/>
                          </a:solidFill>
                          <a:latin typeface="Malgun Gothic"/>
                          <a:ea typeface="Malgun Gothic"/>
                          <a:cs typeface="Malgun Gothic"/>
                        </a:rPr>
                        <a:t>Bay 경계·분류·배치 확인, 객체 이동과 DB 반영</a:t>
                      </a:r>
                    </a:p>
                  </a:txBody>
                  <a:tcPr marL="91440" marR="91440" marT="45720" marB="45720" anchor="ctr">
                    <a:solidFill>
                      <a:srgbClr val="FFFFFF"/>
                    </a:solidFill>
                  </a:tcPr>
                </a:tc>
              </a:tr>
              <a:tr h="968375">
                <a:tc>
                  <a:txBody>
                    <a:bodyPr lIns="133350" tIns="114300" rIns="133350" bIns="114300">
                      <a:noAutofit/>
                    </a:bodyPr>
                    <a:lstStyle/>
                    <a:p>
                      <a:r>
                        <a:rPr sz="1800" b="1">
                          <a:solidFill>
                            <a:srgbClr val="152A37"/>
                          </a:solidFill>
                          <a:latin typeface="Malgun Gothic"/>
                          <a:ea typeface="Malgun Gothic"/>
                          <a:cs typeface="Malgun Gothic"/>
                        </a:rPr>
                        <a:t>DWG 데이터베이스</a:t>
                      </a:r>
                    </a:p>
                  </a:txBody>
                  <a:tcPr marL="91440" marR="91440" marT="45720" marB="45720" anchor="ctr">
                    <a:solidFill>
                      <a:srgbClr val="EAF0F3"/>
                    </a:solidFill>
                  </a:tcPr>
                </a:tc>
                <a:tc>
                  <a:txBody>
                    <a:bodyPr lIns="133350" tIns="114300" rIns="133350" bIns="114300">
                      <a:noAutofit/>
                    </a:bodyPr>
                    <a:lstStyle/>
                    <a:p>
                      <a:r>
                        <a:rPr sz="1800" b="0">
                          <a:solidFill>
                            <a:srgbClr val="152A37"/>
                          </a:solidFill>
                          <a:latin typeface="Malgun Gothic"/>
                          <a:ea typeface="Malgun Gothic"/>
                          <a:cs typeface="Malgun Gothic"/>
                        </a:rPr>
                        <a:t>도면 업로드, 파싱 상태와 추출 객체 확인</a:t>
                      </a:r>
                    </a:p>
                    <a:p>
                      <a:r>
                        <a:rPr sz="1800" b="0">
                          <a:solidFill>
                            <a:srgbClr val="152A37"/>
                          </a:solidFill>
                          <a:latin typeface="Malgun Gothic"/>
                          <a:ea typeface="Malgun Gothic"/>
                          <a:cs typeface="Malgun Gothic"/>
                        </a:rPr>
                        <a:t>원본 추출값과 현재 수정값 비교, DB 편집과 이력 확인</a:t>
                      </a:r>
                    </a:p>
                  </a:txBody>
                  <a:tcPr marL="91440" marR="91440" marT="45720" marB="45720" anchor="ctr">
                    <a:solidFill>
                      <a:srgbClr val="EAF0F3"/>
                    </a:solidFill>
                  </a:tcPr>
                </a:tc>
              </a:tr>
              <a:tr h="968375">
                <a:tc>
                  <a:txBody>
                    <a:bodyPr lIns="133350" tIns="114300" rIns="133350" bIns="114300">
                      <a:noAutofit/>
                    </a:bodyPr>
                    <a:lstStyle/>
                    <a:p>
                      <a:r>
                        <a:rPr sz="1800" b="1">
                          <a:solidFill>
                            <a:srgbClr val="152A37"/>
                          </a:solidFill>
                          <a:latin typeface="Malgun Gothic"/>
                          <a:ea typeface="Malgun Gothic"/>
                          <a:cs typeface="Malgun Gothic"/>
                        </a:rPr>
                        <a:t>업무 프로세스</a:t>
                      </a:r>
                    </a:p>
                  </a:txBody>
                  <a:tcPr marL="91440" marR="91440" marT="45720" marB="45720" anchor="ctr">
                    <a:solidFill>
                      <a:srgbClr val="FFFFFF"/>
                    </a:solidFill>
                  </a:tcPr>
                </a:tc>
                <a:tc>
                  <a:txBody>
                    <a:bodyPr lIns="133350" tIns="114300" rIns="133350" bIns="114300">
                      <a:noAutofit/>
                    </a:bodyPr>
                    <a:lstStyle/>
                    <a:p>
                      <a:r>
                        <a:rPr sz="1800" b="0">
                          <a:solidFill>
                            <a:srgbClr val="152A37"/>
                          </a:solidFill>
                          <a:latin typeface="Malgun Gothic"/>
                          <a:ea typeface="Malgun Gothic"/>
                          <a:cs typeface="Malgun Gothic"/>
                        </a:rPr>
                        <a:t>DWG 등록부터 설계 검토까지 단계별 담당과 산출물</a:t>
                      </a:r>
                    </a:p>
                    <a:p>
                      <a:r>
                        <a:rPr sz="1800" b="0">
                          <a:solidFill>
                            <a:srgbClr val="152A37"/>
                          </a:solidFill>
                          <a:latin typeface="Malgun Gothic"/>
                          <a:ea typeface="Malgun Gothic"/>
                          <a:cs typeface="Malgun Gothic"/>
                        </a:rPr>
                        <a:t>현재 제공 기능, 설계자 업무, DWG 재기록 예정 범위 구분</a:t>
                      </a:r>
                    </a:p>
                  </a:txBody>
                  <a:tcPr marL="91440" marR="91440" marT="45720" marB="45720" anchor="ctr">
                    <a:solidFill>
                      <a:srgbClr val="FFFFFF"/>
                    </a:solidFill>
                  </a:tcPr>
                </a:tc>
              </a:tr>
            </a:tbl>
          </a:graphicData>
        </a:graphic>
      </p:graphicFrame>
      <p:sp>
        <p:nvSpPr>
          <p:cNvPr id="6" name="서버에 저장한 DWG·객체 데이터와 내장 예시의 임시 배치 상태를 구분합니다.">
            <a:extLst xmlns:a="http://schemas.openxmlformats.org/drawingml/2006/main">
              <a:ext uri="{FF2B5EF4-FFF2-40B4-BE49-F238E27FC236}">
                <a16:creationId xmlns:a16="http://schemas.microsoft.com/office/drawing/2014/main" id="{A4DB5C5E-EFAE-43B0-BC75-E056DFEC2E1B}"/>
              </a:ext>
            </a:extLst>
          </p:cNvPr>
          <p:cNvSpPr>
            <a:spLocks xmlns:a="http://schemas.openxmlformats.org/drawingml/2006/main" noGrp="1"/>
          </p:cNvSpPr>
          <p:nvPr/>
        </p:nvSpPr>
        <p:spPr>
          <a:xfrm xmlns:a="http://schemas.openxmlformats.org/drawingml/2006/main">
            <a:off x="609600" y="58864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서버에 저장한 DWG·객체 데이터와 내장 예시의 임시 배치 상태를 구분합니다.</a:t>
            </a:r>
          </a:p>
        </p:txBody>
      </p:sp>
    </p:spTree>
    <p:extLst>
      <p:ext uri="{BB962C8B-B14F-4D97-AF65-F5344CB8AC3E}">
        <p14:creationId xmlns:p14="http://schemas.microsoft.com/office/powerpoint/2010/main" val="2051586782"/>
      </p:ext>
    </p:extLst>
  </p:cSld>
</p:sld>
</file>

<file path=ppt/slides/slide4.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22" name="DWG 업로드와 객체 DB 편집">
            <a:extLst xmlns:a="http://schemas.openxmlformats.org/drawingml/2006/main">
              <a:ext uri="{FF2B5EF4-FFF2-40B4-BE49-F238E27FC236}">
                <a16:creationId xmlns:a16="http://schemas.microsoft.com/office/drawing/2014/main" id="{16CC7A51-9769-4A2C-A6D4-A8D1FFFE588E}"/>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DWG 업로드와 객체 DB 편집</a:t>
            </a:r>
          </a:p>
        </p:txBody>
      </p:sp>
      <p:sp>
        <p:nvSpPr>
          <p:cNvPr id="2" name="원본을 보존하고 추출·검수·저장 단계를 거쳐 수정 결과를 재조회">
            <a:extLst xmlns:a="http://schemas.openxmlformats.org/drawingml/2006/main">
              <a:ext uri="{FF2B5EF4-FFF2-40B4-BE49-F238E27FC236}">
                <a16:creationId xmlns:a16="http://schemas.microsoft.com/office/drawing/2014/main" id="{0E68B2DF-AD6C-4F99-92A9-826C932D177E}"/>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원본을 보존하고 추출·검수·저장 단계를 거쳐 수정 결과를 재조회</a:t>
            </a:r>
          </a:p>
        </p:txBody>
      </p:sp>
      <p:sp>
        <p:nvSpPr>
          <p:cNvPr id="3" name="">
            <a:extLst xmlns:a="http://schemas.openxmlformats.org/drawingml/2006/main">
              <a:ext uri="{FF2B5EF4-FFF2-40B4-BE49-F238E27FC236}">
                <a16:creationId xmlns:a16="http://schemas.microsoft.com/office/drawing/2014/main" id="{E69242FA-0E2A-43AF-8E5C-FE1ADEA9372D}"/>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4">
            <a:extLst xmlns:a="http://schemas.openxmlformats.org/drawingml/2006/main">
              <a:ext uri="{FF2B5EF4-FFF2-40B4-BE49-F238E27FC236}">
                <a16:creationId xmlns:a16="http://schemas.microsoft.com/office/drawing/2014/main" id="{7C91219B-BE37-452F-9171-55C5FF69AD53}"/>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04</a:t>
            </a:r>
          </a:p>
        </p:txBody>
      </p:sp>
      <p:sp>
        <p:nvSpPr>
          <p:cNvPr id="5" name="DWG 파일 선택">
            <a:extLst xmlns:a="http://schemas.openxmlformats.org/drawingml/2006/main">
              <a:ext uri="{FF2B5EF4-FFF2-40B4-BE49-F238E27FC236}">
                <a16:creationId xmlns:a16="http://schemas.microsoft.com/office/drawing/2014/main" id="{C6519CC5-4536-4A29-ADC2-B6A6DF610128}"/>
              </a:ext>
            </a:extLst>
          </p:cNvPr>
          <p:cNvSpPr>
            <a:spLocks xmlns:a="http://schemas.openxmlformats.org/drawingml/2006/main" noGrp="1"/>
          </p:cNvSpPr>
          <p:nvPr/>
        </p:nvSpPr>
        <p:spPr>
          <a:xfrm xmlns:a="http://schemas.openxmlformats.org/drawingml/2006/main">
            <a:off x="609600" y="23812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DWG 파일 선택</a:t>
            </a:r>
          </a:p>
        </p:txBody>
      </p:sp>
      <p:sp>
        <p:nvSpPr>
          <p:cNvPr id="6" name="브라우저 파싱">
            <a:extLst xmlns:a="http://schemas.openxmlformats.org/drawingml/2006/main">
              <a:ext uri="{FF2B5EF4-FFF2-40B4-BE49-F238E27FC236}">
                <a16:creationId xmlns:a16="http://schemas.microsoft.com/office/drawing/2014/main" id="{EFDAA5DE-65D8-4CEF-A553-76B701D8480D}"/>
              </a:ext>
            </a:extLst>
          </p:cNvPr>
          <p:cNvSpPr>
            <a:spLocks xmlns:a="http://schemas.openxmlformats.org/drawingml/2006/main" noGrp="1"/>
          </p:cNvSpPr>
          <p:nvPr/>
        </p:nvSpPr>
        <p:spPr>
          <a:xfrm xmlns:a="http://schemas.openxmlformats.org/drawingml/2006/main">
            <a:off x="3467100" y="23812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브라우저 파싱</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객체·레이어 추출</a:t>
            </a:r>
          </a:p>
        </p:txBody>
      </p:sp>
      <p:sp>
        <p:nvSpPr>
          <p:cNvPr id="7" name="원본 보관">
            <a:extLst xmlns:a="http://schemas.openxmlformats.org/drawingml/2006/main">
              <a:ext uri="{FF2B5EF4-FFF2-40B4-BE49-F238E27FC236}">
                <a16:creationId xmlns:a16="http://schemas.microsoft.com/office/drawing/2014/main" id="{FD58AA89-929D-4AFC-BA0F-863497499A1B}"/>
              </a:ext>
            </a:extLst>
          </p:cNvPr>
          <p:cNvSpPr>
            <a:spLocks xmlns:a="http://schemas.openxmlformats.org/drawingml/2006/main" noGrp="1"/>
          </p:cNvSpPr>
          <p:nvPr/>
        </p:nvSpPr>
        <p:spPr>
          <a:xfrm xmlns:a="http://schemas.openxmlformats.org/drawingml/2006/main">
            <a:off x="6324600" y="23812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원본 보관</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서버 파일 저장</a:t>
            </a:r>
          </a:p>
        </p:txBody>
      </p:sp>
      <p:sp>
        <p:nvSpPr>
          <p:cNvPr id="8" name="DB 등록">
            <a:extLst xmlns:a="http://schemas.openxmlformats.org/drawingml/2006/main">
              <a:ext uri="{FF2B5EF4-FFF2-40B4-BE49-F238E27FC236}">
                <a16:creationId xmlns:a16="http://schemas.microsoft.com/office/drawing/2014/main" id="{CC3874EF-C2CE-4B13-A0D2-084FB39AFAD7}"/>
              </a:ext>
            </a:extLst>
          </p:cNvPr>
          <p:cNvSpPr>
            <a:spLocks xmlns:a="http://schemas.openxmlformats.org/drawingml/2006/main" noGrp="1"/>
          </p:cNvSpPr>
          <p:nvPr/>
        </p:nvSpPr>
        <p:spPr>
          <a:xfrm xmlns:a="http://schemas.openxmlformats.org/drawingml/2006/main">
            <a:off x="9258300" y="23812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DB 등록</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추출값 보존</a:t>
            </a:r>
          </a:p>
        </p:txBody>
      </p:sp>
      <p:sp>
        <p:nvSpPr>
          <p:cNvPr id="9" name="객체 확인">
            <a:extLst xmlns:a="http://schemas.openxmlformats.org/drawingml/2006/main">
              <a:ext uri="{FF2B5EF4-FFF2-40B4-BE49-F238E27FC236}">
                <a16:creationId xmlns:a16="http://schemas.microsoft.com/office/drawing/2014/main" id="{5960E7F8-E2C2-4346-AD47-AC38514886FF}"/>
              </a:ext>
            </a:extLst>
          </p:cNvPr>
          <p:cNvSpPr>
            <a:spLocks xmlns:a="http://schemas.openxmlformats.org/drawingml/2006/main" noGrp="1"/>
          </p:cNvSpPr>
          <p:nvPr/>
        </p:nvSpPr>
        <p:spPr>
          <a:xfrm xmlns:a="http://schemas.openxmlformats.org/drawingml/2006/main">
            <a:off x="9258300" y="4362450"/>
            <a:ext cx="2324100" cy="838200"/>
          </a:xfrm>
          <a:prstGeom xmlns:a="http://schemas.openxmlformats.org/drawingml/2006/main" prst="rect">
            <a:avLst/>
          </a:prstGeom>
          <a:solidFill xmlns:a="http://schemas.openxmlformats.org/drawingml/2006/main">
            <a:srgbClr val="FFF5E7"/>
          </a:solidFill>
          <a:ln xmlns:a="http://schemas.openxmlformats.org/drawingml/2006/main" w="14288">
            <a:solidFill>
              <a:srgbClr val="B96724"/>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객체 확인</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분류·단위·Bay</a:t>
            </a:r>
          </a:p>
        </p:txBody>
      </p:sp>
      <p:sp>
        <p:nvSpPr>
          <p:cNvPr id="10" name="도면 객체 이동">
            <a:extLst xmlns:a="http://schemas.openxmlformats.org/drawingml/2006/main">
              <a:ext uri="{FF2B5EF4-FFF2-40B4-BE49-F238E27FC236}">
                <a16:creationId xmlns:a16="http://schemas.microsoft.com/office/drawing/2014/main" id="{D2612E9E-7A0A-41D3-B404-A8C4C6E826C5}"/>
              </a:ext>
            </a:extLst>
          </p:cNvPr>
          <p:cNvSpPr>
            <a:spLocks xmlns:a="http://schemas.openxmlformats.org/drawingml/2006/main" noGrp="1"/>
          </p:cNvSpPr>
          <p:nvPr/>
        </p:nvSpPr>
        <p:spPr>
          <a:xfrm xmlns:a="http://schemas.openxmlformats.org/drawingml/2006/main">
            <a:off x="6324600" y="43624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도면 객체 이동</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또는 DB 편집</a:t>
            </a:r>
          </a:p>
        </p:txBody>
      </p:sp>
      <p:sp>
        <p:nvSpPr>
          <p:cNvPr id="11" name="DB 저장">
            <a:extLst xmlns:a="http://schemas.openxmlformats.org/drawingml/2006/main">
              <a:ext uri="{FF2B5EF4-FFF2-40B4-BE49-F238E27FC236}">
                <a16:creationId xmlns:a16="http://schemas.microsoft.com/office/drawing/2014/main" id="{08EEABB1-5A23-4F2E-8161-DFEADAB96EB5}"/>
              </a:ext>
            </a:extLst>
          </p:cNvPr>
          <p:cNvSpPr>
            <a:spLocks xmlns:a="http://schemas.openxmlformats.org/drawingml/2006/main" noGrp="1"/>
          </p:cNvSpPr>
          <p:nvPr/>
        </p:nvSpPr>
        <p:spPr>
          <a:xfrm xmlns:a="http://schemas.openxmlformats.org/drawingml/2006/main">
            <a:off x="3467100" y="43624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DB 저장</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수정값·이력</a:t>
            </a:r>
          </a:p>
        </p:txBody>
      </p:sp>
      <p:sp>
        <p:nvSpPr>
          <p:cNvPr id="12" name="재조회">
            <a:extLst xmlns:a="http://schemas.openxmlformats.org/drawingml/2006/main">
              <a:ext uri="{FF2B5EF4-FFF2-40B4-BE49-F238E27FC236}">
                <a16:creationId xmlns:a16="http://schemas.microsoft.com/office/drawing/2014/main" id="{98731B06-E027-459F-B867-2686445B9936}"/>
              </a:ext>
            </a:extLst>
          </p:cNvPr>
          <p:cNvSpPr>
            <a:spLocks xmlns:a="http://schemas.openxmlformats.org/drawingml/2006/main" noGrp="1"/>
          </p:cNvSpPr>
          <p:nvPr/>
        </p:nvSpPr>
        <p:spPr>
          <a:xfrm xmlns:a="http://schemas.openxmlformats.org/drawingml/2006/main">
            <a:off x="609600" y="4362450"/>
            <a:ext cx="2324100" cy="8382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재조회</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저장 결과 확인</a:t>
            </a:r>
          </a:p>
        </p:txBody>
      </p:sp>
      <p:cxnSp>
        <p:nvCxnSpPr>
          <p:cNvPr id="34" name=""/>
          <p:cNvCxnSpPr>
            <a:stCxn xmlns:a="http://schemas.openxmlformats.org/drawingml/2006/main" id="5" idx="3"/>
            <a:endCxn xmlns:a="http://schemas.openxmlformats.org/drawingml/2006/main" id="6" idx="1"/>
          </p:cNvCxnSpPr>
          <p:nvPr/>
        </p:nvCxnSpPr>
        <p:spPr>
          <a:xfrm xmlns:a="http://schemas.openxmlformats.org/drawingml/2006/main">
            <a:off x="2933700" y="2800350"/>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a:off x="5791200" y="2800350"/>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8648700" y="2800350"/>
            <a:ext cx="6096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7" name=""/>
          <p:cNvCxnSpPr>
            <a:stCxn xmlns:a="http://schemas.openxmlformats.org/drawingml/2006/main" id="8" idx="2"/>
            <a:endCxn xmlns:a="http://schemas.openxmlformats.org/drawingml/2006/main" id="9" idx="0"/>
          </p:cNvCxnSpPr>
          <p:nvPr/>
        </p:nvCxnSpPr>
        <p:spPr>
          <a:xfrm xmlns:a="http://schemas.openxmlformats.org/drawingml/2006/main">
            <a:off x="10420350" y="3219450"/>
            <a:ext cx="0" cy="114300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8" name=""/>
          <p:cNvCxnSpPr>
            <a:stCxn xmlns:a="http://schemas.openxmlformats.org/drawingml/2006/main" id="9" idx="1"/>
            <a:endCxn xmlns:a="http://schemas.openxmlformats.org/drawingml/2006/main" id="10" idx="3"/>
          </p:cNvCxnSpPr>
          <p:nvPr/>
        </p:nvCxnSpPr>
        <p:spPr>
          <a:xfrm xmlns:a="http://schemas.openxmlformats.org/drawingml/2006/main" flipH="1">
            <a:off x="8648700" y="4781550"/>
            <a:ext cx="6096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9" name=""/>
          <p:cNvCxnSpPr>
            <a:stCxn xmlns:a="http://schemas.openxmlformats.org/drawingml/2006/main" id="10" idx="1"/>
            <a:endCxn xmlns:a="http://schemas.openxmlformats.org/drawingml/2006/main" id="11" idx="3"/>
          </p:cNvCxnSpPr>
          <p:nvPr/>
        </p:nvCxnSpPr>
        <p:spPr>
          <a:xfrm xmlns:a="http://schemas.openxmlformats.org/drawingml/2006/main" flipH="1">
            <a:off x="5791200" y="4781550"/>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0" name=""/>
          <p:cNvCxnSpPr>
            <a:stCxn xmlns:a="http://schemas.openxmlformats.org/drawingml/2006/main" id="11" idx="1"/>
            <a:endCxn xmlns:a="http://schemas.openxmlformats.org/drawingml/2006/main" id="12" idx="3"/>
          </p:cNvCxnSpPr>
          <p:nvPr/>
        </p:nvCxnSpPr>
        <p:spPr>
          <a:xfrm xmlns:a="http://schemas.openxmlformats.org/drawingml/2006/main" flipH="1">
            <a:off x="2933700" y="4781550"/>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sp>
        <p:nvSpPr>
          <p:cNvPr id="20" name="지원하지 않는 객체는 별도 표시">
            <a:extLst xmlns:a="http://schemas.openxmlformats.org/drawingml/2006/main">
              <a:ext uri="{FF2B5EF4-FFF2-40B4-BE49-F238E27FC236}">
                <a16:creationId xmlns:a16="http://schemas.microsoft.com/office/drawing/2014/main" id="{9C1980DD-C582-436E-8AF8-54FAA3C5CD7B}"/>
              </a:ext>
            </a:extLst>
          </p:cNvPr>
          <p:cNvSpPr>
            <a:spLocks xmlns:a="http://schemas.openxmlformats.org/drawingml/2006/main" noGrp="1"/>
          </p:cNvSpPr>
          <p:nvPr/>
        </p:nvSpPr>
        <p:spPr>
          <a:xfrm xmlns:a="http://schemas.openxmlformats.org/drawingml/2006/main">
            <a:off x="6324600" y="3533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B96724"/>
                </a:solidFill>
                <a:latin typeface="Malgun Gothic"/>
                <a:ea typeface="Malgun Gothic"/>
                <a:cs typeface="Malgun Gothic"/>
              </a:defRPr>
            </a:pPr>
            <a:r>
              <a:rPr sz="1650" b="1">
                <a:solidFill>
                  <a:srgbClr val="B96724"/>
                </a:solidFill>
                <a:latin typeface="Malgun Gothic"/>
                <a:ea typeface="Malgun Gothic"/>
                <a:cs typeface="Malgun Gothic"/>
              </a:rPr>
              <a:t>지원하지 않는 객체는 별도 표시</a:t>
            </a:r>
          </a:p>
        </p:txBody>
      </p:sp>
      <p:sp>
        <p:nvSpPr>
          <p:cNvPr id="21" name="파싱 실패와 저장 실패는 실패 상태로 안내합니다. 부분 추출은 전체 도면 검수 완료를 ">
            <a:extLst xmlns:a="http://schemas.openxmlformats.org/drawingml/2006/main">
              <a:ext uri="{FF2B5EF4-FFF2-40B4-BE49-F238E27FC236}">
                <a16:creationId xmlns:a16="http://schemas.microsoft.com/office/drawing/2014/main" id="{EA3C6945-53F7-4391-B6DC-33C6DFDCA5B2}"/>
              </a:ext>
            </a:extLst>
          </p:cNvPr>
          <p:cNvSpPr>
            <a:spLocks xmlns:a="http://schemas.openxmlformats.org/drawingml/2006/main" noGrp="1"/>
          </p:cNvSpPr>
          <p:nvPr/>
        </p:nvSpPr>
        <p:spPr>
          <a:xfrm xmlns:a="http://schemas.openxmlformats.org/drawingml/2006/main">
            <a:off x="609600" y="5800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파싱 실패와 저장 실패는 실패 상태로 안내합니다. 부분 추출은 전체 도면 검수 완료를 의미하지 않습니다.</a:t>
            </a:r>
          </a:p>
        </p:txBody>
      </p:sp>
    </p:spTree>
    <p:extLst>
      <p:ext uri="{BB962C8B-B14F-4D97-AF65-F5344CB8AC3E}">
        <p14:creationId xmlns:p14="http://schemas.microsoft.com/office/powerpoint/2010/main" val="1441629051"/>
      </p:ext>
    </p:extLst>
  </p:cSld>
</p:sld>
</file>

<file path=ppt/slides/slide5.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생산설비 BOX와 인프라 레이어 검수">
            <a:extLst xmlns:a="http://schemas.openxmlformats.org/drawingml/2006/main">
              <a:ext uri="{FF2B5EF4-FFF2-40B4-BE49-F238E27FC236}">
                <a16:creationId xmlns:a16="http://schemas.microsoft.com/office/drawing/2014/main" id="{E2E6E541-E9C2-4E83-8542-E73E72BB4ED9}"/>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생산설비 BOX와 인프라 레이어 검수</a:t>
            </a:r>
          </a:p>
        </p:txBody>
      </p:sp>
      <p:sp>
        <p:nvSpPr>
          <p:cNvPr id="2" name="도면의 객체 형상과 레이어를 프로젝트 분류 기준에 맞춰 확인">
            <a:extLst xmlns:a="http://schemas.openxmlformats.org/drawingml/2006/main">
              <a:ext uri="{FF2B5EF4-FFF2-40B4-BE49-F238E27FC236}">
                <a16:creationId xmlns:a16="http://schemas.microsoft.com/office/drawing/2014/main" id="{66A66188-211B-4794-9CA3-059D2B4F6DC0}"/>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도면의 객체 형상과 레이어를 프로젝트 분류 기준에 맞춰 확인</a:t>
            </a:r>
          </a:p>
        </p:txBody>
      </p:sp>
      <p:sp>
        <p:nvSpPr>
          <p:cNvPr id="3" name="">
            <a:extLst xmlns:a="http://schemas.openxmlformats.org/drawingml/2006/main">
              <a:ext uri="{FF2B5EF4-FFF2-40B4-BE49-F238E27FC236}">
                <a16:creationId xmlns:a16="http://schemas.microsoft.com/office/drawing/2014/main" id="{DD4E0E40-907E-475D-8337-A3FCCC898850}"/>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5">
            <a:extLst xmlns:a="http://schemas.openxmlformats.org/drawingml/2006/main">
              <a:ext uri="{FF2B5EF4-FFF2-40B4-BE49-F238E27FC236}">
                <a16:creationId xmlns:a16="http://schemas.microsoft.com/office/drawing/2014/main" id="{B79FBD86-6EAB-48E4-8723-8F7632BBC704}"/>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05</a:t>
            </a:r>
          </a:p>
        </p:txBody>
      </p:sp>
      <p:graphicFrame>
        <p:nvGraphicFramePr>
          <p:cNvPr id="11" name=""/>
          <p:cNvGraphicFramePr/>
          <p:nvPr/>
        </p:nvGraphicFramePr>
        <p:xfrm>
          <a:off xmlns:a="http://schemas.openxmlformats.org/drawingml/2006/main" x="609600" y="2057400"/>
          <a:ext xmlns:a="http://schemas.openxmlformats.org/drawingml/2006/main" cx="10972800" cy="3657600"/>
        </p:xfrm>
        <a:graphic xmlns:a="http://schemas.openxmlformats.org/drawingml/2006/main">
          <a:graphicData uri="http://schemas.openxmlformats.org/drawingml/2006/table">
            <a:tbl>
              <a:tblPr firstRow="1" bandRow="0"/>
              <a:tblGrid>
                <a:gridCol w="2552700"/>
                <a:gridCol w="4114800"/>
                <a:gridCol w="4305300"/>
              </a:tblGrid>
              <a:tr h="523875">
                <a:tc>
                  <a:txBody>
                    <a:bodyPr lIns="133350" tIns="114300" rIns="133350" bIns="114300">
                      <a:noAutofit/>
                    </a:bodyPr>
                    <a:lstStyle/>
                    <a:p>
                      <a:r>
                        <a:rPr sz="1650" b="1">
                          <a:solidFill>
                            <a:srgbClr val="FFFFFF"/>
                          </a:solidFill>
                          <a:latin typeface="Malgun Gothic"/>
                          <a:ea typeface="Malgun Gothic"/>
                          <a:cs typeface="Malgun Gothic"/>
                        </a:rPr>
                        <a:t>분류</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설계 스튜디오의 검토 대상</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확인할 항목</a:t>
                      </a:r>
                    </a:p>
                  </a:txBody>
                  <a:tcPr marL="91440" marR="91440" marT="45720" marB="45720" anchor="ctr">
                    <a:solidFill>
                      <a:srgbClr val="152A37"/>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생산설비 BOX</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닫힌 형상·블록·검수한 BOX 그룹</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예상 BOX 수, 크기·위치, Bay 배정</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전기분전반·VMB</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전기·가스 공급 및 분배 설비</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도면 레이어와 객체 분류 일치</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배관·덕트</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유체·공조 인프라 형상</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지원 형상 여부와 실제 표시 결과</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전기 모듈랙·인동선</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전기 지원 공간과 사람의 이동 영역</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Bay와 생산설비의 공간 관계</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검수 상태</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미지원 객체, 단위, 분류·수량</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검수 미완료 항목을 명시적으로 표시</a:t>
                      </a:r>
                    </a:p>
                  </a:txBody>
                  <a:tcPr marL="91440" marR="91440" marT="45720" marB="45720" anchor="ctr">
                    <a:solidFill>
                      <a:srgbClr val="FFFFFF"/>
                    </a:solidFill>
                  </a:tcPr>
                </a:tc>
              </a:tr>
            </a:tbl>
          </a:graphicData>
        </a:graphic>
      </p:graphicFrame>
      <p:sp>
        <p:nvSpPr>
          <p:cNvPr id="6" name="분류와 검수는 실제 도면 기준으로 확정합니다. 공개되지 않은 삼성전자 레이어 규칙을 가">
            <a:extLst xmlns:a="http://schemas.openxmlformats.org/drawingml/2006/main">
              <a:ext uri="{FF2B5EF4-FFF2-40B4-BE49-F238E27FC236}">
                <a16:creationId xmlns:a16="http://schemas.microsoft.com/office/drawing/2014/main" id="{4A5BCE67-9335-4A2A-A8E3-C71B4EECB297}"/>
              </a:ext>
            </a:extLst>
          </p:cNvPr>
          <p:cNvSpPr>
            <a:spLocks xmlns:a="http://schemas.openxmlformats.org/drawingml/2006/main" noGrp="1"/>
          </p:cNvSpPr>
          <p:nvPr/>
        </p:nvSpPr>
        <p:spPr>
          <a:xfrm xmlns:a="http://schemas.openxmlformats.org/drawingml/2006/main">
            <a:off x="609600" y="5934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분류와 검수는 실제 도면 기준으로 확정합니다. 공개되지 않은 삼성전자 레이어 규칙을 가정하지 않습니다.</a:t>
            </a:r>
          </a:p>
        </p:txBody>
      </p:sp>
    </p:spTree>
    <p:extLst>
      <p:ext uri="{BB962C8B-B14F-4D97-AF65-F5344CB8AC3E}">
        <p14:creationId xmlns:p14="http://schemas.microsoft.com/office/powerpoint/2010/main" val="498496099"/>
      </p:ext>
    </p:extLst>
  </p:cSld>
</p:sld>
</file>

<file path=ppt/slides/slide6.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Bay 기반 생산설비와 인프라 검토">
            <a:extLst xmlns:a="http://schemas.openxmlformats.org/drawingml/2006/main">
              <a:ext uri="{FF2B5EF4-FFF2-40B4-BE49-F238E27FC236}">
                <a16:creationId xmlns:a16="http://schemas.microsoft.com/office/drawing/2014/main" id="{5AF8BDD0-0316-40AD-9EAD-F1EE890697E3}"/>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Bay 기반 생산설비와 인프라 검토</a:t>
            </a:r>
          </a:p>
        </p:txBody>
      </p:sp>
      <p:sp>
        <p:nvSpPr>
          <p:cNvPr id="2" name="Bay를 기본 검토 단위로 사용하고 경계·조건을 프로젝트에 맞게 편집">
            <a:extLst xmlns:a="http://schemas.openxmlformats.org/drawingml/2006/main">
              <a:ext uri="{FF2B5EF4-FFF2-40B4-BE49-F238E27FC236}">
                <a16:creationId xmlns:a16="http://schemas.microsoft.com/office/drawing/2014/main" id="{6F0FCF3B-E7B4-47A4-8926-C1D9D421357D}"/>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Bay를 기본 검토 단위로 사용하고 경계·조건을 프로젝트에 맞게 편집</a:t>
            </a:r>
          </a:p>
        </p:txBody>
      </p:sp>
      <p:sp>
        <p:nvSpPr>
          <p:cNvPr id="3" name="">
            <a:extLst xmlns:a="http://schemas.openxmlformats.org/drawingml/2006/main">
              <a:ext uri="{FF2B5EF4-FFF2-40B4-BE49-F238E27FC236}">
                <a16:creationId xmlns:a16="http://schemas.microsoft.com/office/drawing/2014/main" id="{00CBFEC2-71EB-42D9-B919-2147DC7CAC9B}"/>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6">
            <a:extLst xmlns:a="http://schemas.openxmlformats.org/drawingml/2006/main">
              <a:ext uri="{FF2B5EF4-FFF2-40B4-BE49-F238E27FC236}">
                <a16:creationId xmlns:a16="http://schemas.microsoft.com/office/drawing/2014/main" id="{11E29AA3-659D-48D5-B84A-869D5514D3FD}"/>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06</a:t>
            </a:r>
          </a:p>
        </p:txBody>
      </p:sp>
      <p:graphicFrame>
        <p:nvGraphicFramePr>
          <p:cNvPr id="11" name=""/>
          <p:cNvGraphicFramePr/>
          <p:nvPr/>
        </p:nvGraphicFramePr>
        <p:xfrm>
          <a:off xmlns:a="http://schemas.openxmlformats.org/drawingml/2006/main" x="609600" y="2057400"/>
          <a:ext xmlns:a="http://schemas.openxmlformats.org/drawingml/2006/main" cx="10972800" cy="3581400"/>
        </p:xfrm>
        <a:graphic xmlns:a="http://schemas.openxmlformats.org/drawingml/2006/main">
          <a:graphicData uri="http://schemas.openxmlformats.org/drawingml/2006/table">
            <a:tbl>
              <a:tblPr firstRow="1" bandRow="0"/>
              <a:tblGrid>
                <a:gridCol w="2343150"/>
                <a:gridCol w="4457700"/>
                <a:gridCol w="4171950"/>
              </a:tblGrid>
              <a:tr h="523875">
                <a:tc>
                  <a:txBody>
                    <a:bodyPr lIns="133350" tIns="114300" rIns="133350" bIns="114300">
                      <a:noAutofit/>
                    </a:bodyPr>
                    <a:lstStyle/>
                    <a:p>
                      <a:r>
                        <a:rPr sz="1650" b="1">
                          <a:solidFill>
                            <a:srgbClr val="FFFFFF"/>
                          </a:solidFill>
                          <a:latin typeface="Malgun Gothic"/>
                          <a:ea typeface="Malgun Gothic"/>
                          <a:cs typeface="Malgun Gothic"/>
                        </a:rPr>
                        <a:t>Bay 검토 항목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사용자가 정하는 입력</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검토·반영 결과</a:t>
                      </a:r>
                    </a:p>
                  </a:txBody>
                  <a:tcPr marL="91440" marR="91440" marT="45720" marB="45720" anchor="ctr">
                    <a:solidFill>
                      <a:srgbClr val="152A37"/>
                    </a:solidFill>
                  </a:tcPr>
                </a:tc>
              </a:tr>
              <a:tr h="764381">
                <a:tc>
                  <a:txBody>
                    <a:bodyPr lIns="133350" tIns="114300" rIns="133350" bIns="114300">
                      <a:noAutofit/>
                    </a:bodyPr>
                    <a:lstStyle/>
                    <a:p>
                      <a:r>
                        <a:rPr sz="1650" b="1">
                          <a:solidFill>
                            <a:srgbClr val="152A37"/>
                          </a:solidFill>
                          <a:latin typeface="Malgun Gothic"/>
                          <a:ea typeface="Malgun Gothic"/>
                          <a:cs typeface="Malgun Gothic"/>
                        </a:rPr>
                        <a:t>경계와 기준</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Bay 이름, 경계, 설계 조건</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도면과 대조한 검토 영역</a:t>
                      </a:r>
                    </a:p>
                  </a:txBody>
                  <a:tcPr marL="91440" marR="91440" marT="45720" marB="45720" anchor="ctr">
                    <a:solidFill>
                      <a:srgbClr val="FFFFFF"/>
                    </a:solidFill>
                  </a:tcPr>
                </a:tc>
              </a:tr>
              <a:tr h="764381">
                <a:tc>
                  <a:txBody>
                    <a:bodyPr lIns="133350" tIns="114300" rIns="133350" bIns="114300">
                      <a:noAutofit/>
                    </a:bodyPr>
                    <a:lstStyle/>
                    <a:p>
                      <a:r>
                        <a:rPr sz="1650" b="1">
                          <a:solidFill>
                            <a:srgbClr val="152A37"/>
                          </a:solidFill>
                          <a:latin typeface="Malgun Gothic"/>
                          <a:ea typeface="Malgun Gothic"/>
                          <a:cs typeface="Malgun Gothic"/>
                        </a:rPr>
                        <a:t>생산설비 배치</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BOX 위치·분류, 예상 수량, 최소 이격</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Bay 대안 생성, BOX·인동선 재검사</a:t>
                      </a:r>
                    </a:p>
                  </a:txBody>
                  <a:tcPr marL="91440" marR="91440" marT="45720" marB="45720" anchor="ctr">
                    <a:solidFill>
                      <a:srgbClr val="EAF0F3"/>
                    </a:solidFill>
                  </a:tcPr>
                </a:tc>
              </a:tr>
              <a:tr h="764381">
                <a:tc>
                  <a:txBody>
                    <a:bodyPr lIns="133350" tIns="114300" rIns="133350" bIns="114300">
                      <a:noAutofit/>
                    </a:bodyPr>
                    <a:lstStyle/>
                    <a:p>
                      <a:r>
                        <a:rPr sz="1650" b="1">
                          <a:solidFill>
                            <a:srgbClr val="152A37"/>
                          </a:solidFill>
                          <a:latin typeface="Malgun Gothic"/>
                          <a:ea typeface="Malgun Gothic"/>
                          <a:cs typeface="Malgun Gothic"/>
                        </a:rPr>
                        <a:t>인프라 배치</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선택형 인프라 구역의 방향·폭</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구역 안에 인프라, 생산설비 BOX는 밖에 배치</a:t>
                      </a:r>
                    </a:p>
                  </a:txBody>
                  <a:tcPr marL="91440" marR="91440" marT="45720" marB="45720" anchor="ctr">
                    <a:solidFill>
                      <a:srgbClr val="FFFFFF"/>
                    </a:solidFill>
                  </a:tcPr>
                </a:tc>
              </a:tr>
              <a:tr h="764381">
                <a:tc>
                  <a:txBody>
                    <a:bodyPr lIns="133350" tIns="114300" rIns="133350" bIns="114300">
                      <a:noAutofit/>
                    </a:bodyPr>
                    <a:lstStyle/>
                    <a:p>
                      <a:r>
                        <a:rPr sz="1650" b="1">
                          <a:solidFill>
                            <a:srgbClr val="152A37"/>
                          </a:solidFill>
                          <a:latin typeface="Malgun Gothic"/>
                          <a:ea typeface="Malgun Gothic"/>
                          <a:cs typeface="Malgun Gothic"/>
                        </a:rPr>
                        <a:t>편집 결과</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Bay 대안 적용·도면 이동·DB 수정</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저장 후 재조회하는 객체 좌표·이력</a:t>
                      </a:r>
                    </a:p>
                  </a:txBody>
                  <a:tcPr marL="91440" marR="91440" marT="45720" marB="45720" anchor="ctr">
                    <a:solidFill>
                      <a:srgbClr val="EAF0F3"/>
                    </a:solidFill>
                  </a:tcPr>
                </a:tc>
              </a:tr>
            </a:tbl>
          </a:graphicData>
        </a:graphic>
      </p:graphicFrame>
      <p:sp>
        <p:nvSpPr>
          <p:cNvPr id="6" name="실제 CAD 검사는 2D 경계·BOX 이격·인동선 기준입니다. 공종 간 3D 간섭과 실">
            <a:extLst xmlns:a="http://schemas.openxmlformats.org/drawingml/2006/main">
              <a:ext uri="{FF2B5EF4-FFF2-40B4-BE49-F238E27FC236}">
                <a16:creationId xmlns:a16="http://schemas.microsoft.com/office/drawing/2014/main" id="{7A139A50-C0FC-4766-BA3C-791F20022F1E}"/>
              </a:ext>
            </a:extLst>
          </p:cNvPr>
          <p:cNvSpPr>
            <a:spLocks xmlns:a="http://schemas.openxmlformats.org/drawingml/2006/main" noGrp="1"/>
          </p:cNvSpPr>
          <p:nvPr/>
        </p:nvSpPr>
        <p:spPr>
          <a:xfrm xmlns:a="http://schemas.openxmlformats.org/drawingml/2006/main">
            <a:off x="609600" y="58959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실제 CAD 검사는 2D 경계·BOX 이격·인동선 기준입니다. 공종 간 3D 간섭과 실제 유틸리티 경로 해석은 미구현입니다.</a:t>
            </a:r>
          </a:p>
        </p:txBody>
      </p:sp>
    </p:spTree>
    <p:extLst>
      <p:ext uri="{BB962C8B-B14F-4D97-AF65-F5344CB8AC3E}">
        <p14:creationId xmlns:p14="http://schemas.microsoft.com/office/powerpoint/2010/main" val="2139781998"/>
      </p:ext>
    </p:extLst>
  </p:cSld>
</p:sld>
</file>

<file path=ppt/slides/slide7.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원본 추출값과 현재 수정값">
            <a:extLst xmlns:a="http://schemas.openxmlformats.org/drawingml/2006/main">
              <a:ext uri="{FF2B5EF4-FFF2-40B4-BE49-F238E27FC236}">
                <a16:creationId xmlns:a16="http://schemas.microsoft.com/office/drawing/2014/main" id="{D66D02D8-97E2-4CCF-87B3-CC63B9B2D1F8}"/>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원본 추출값과 현재 수정값</a:t>
            </a:r>
          </a:p>
        </p:txBody>
      </p:sp>
      <p:sp>
        <p:nvSpPr>
          <p:cNvPr id="2" name="원본 도면과 추출 결과를 남겨 편집·검수 이력을 추적">
            <a:extLst xmlns:a="http://schemas.openxmlformats.org/drawingml/2006/main">
              <a:ext uri="{FF2B5EF4-FFF2-40B4-BE49-F238E27FC236}">
                <a16:creationId xmlns:a16="http://schemas.microsoft.com/office/drawing/2014/main" id="{541289C0-4F4D-42B2-9D17-2F779DA0EB11}"/>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원본 도면과 추출 결과를 남겨 편집·검수 이력을 추적</a:t>
            </a:r>
          </a:p>
        </p:txBody>
      </p:sp>
      <p:sp>
        <p:nvSpPr>
          <p:cNvPr id="3" name="">
            <a:extLst xmlns:a="http://schemas.openxmlformats.org/drawingml/2006/main">
              <a:ext uri="{FF2B5EF4-FFF2-40B4-BE49-F238E27FC236}">
                <a16:creationId xmlns:a16="http://schemas.microsoft.com/office/drawing/2014/main" id="{BBF6A468-6933-4113-8F1E-FCD46591CAB1}"/>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7">
            <a:extLst xmlns:a="http://schemas.openxmlformats.org/drawingml/2006/main">
              <a:ext uri="{FF2B5EF4-FFF2-40B4-BE49-F238E27FC236}">
                <a16:creationId xmlns:a16="http://schemas.microsoft.com/office/drawing/2014/main" id="{9F76E86E-D49E-4681-9DD4-9555A5D191DC}"/>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07</a:t>
            </a:r>
          </a:p>
        </p:txBody>
      </p:sp>
      <p:graphicFrame>
        <p:nvGraphicFramePr>
          <p:cNvPr id="11" name=""/>
          <p:cNvGraphicFramePr/>
          <p:nvPr/>
        </p:nvGraphicFramePr>
        <p:xfrm>
          <a:off xmlns:a="http://schemas.openxmlformats.org/drawingml/2006/main" x="609600" y="2057400"/>
          <a:ext xmlns:a="http://schemas.openxmlformats.org/drawingml/2006/main" cx="10972800" cy="3657600"/>
        </p:xfrm>
        <a:graphic xmlns:a="http://schemas.openxmlformats.org/drawingml/2006/main">
          <a:graphicData uri="http://schemas.openxmlformats.org/drawingml/2006/table">
            <a:tbl>
              <a:tblPr firstRow="1" bandRow="0"/>
              <a:tblGrid>
                <a:gridCol w="2152650"/>
                <a:gridCol w="4419600"/>
                <a:gridCol w="4400550"/>
              </a:tblGrid>
              <a:tr h="523875">
                <a:tc>
                  <a:txBody>
                    <a:bodyPr lIns="133350" tIns="114300" rIns="133350" bIns="114300">
                      <a:noAutofit/>
                    </a:bodyPr>
                    <a:lstStyle/>
                    <a:p>
                      <a:r>
                        <a:rPr sz="1650" b="1">
                          <a:solidFill>
                            <a:srgbClr val="FFFFFF"/>
                          </a:solidFill>
                          <a:latin typeface="Malgun Gothic"/>
                          <a:ea typeface="Malgun Gothic"/>
                          <a:cs typeface="Malgun Gothic"/>
                        </a:rPr>
                        <a:t>데이터 구분</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보존·표시하는 내용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사용자가 확인하는 기준</a:t>
                      </a:r>
                    </a:p>
                  </a:txBody>
                  <a:tcPr marL="91440" marR="91440" marT="45720" marB="45720" anchor="ctr">
                    <a:solidFill>
                      <a:srgbClr val="152A37"/>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원본 DWG</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서버에 보관한 업로드 도면</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DB 편집으로 원본 파일을 덮어쓰지 않음</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원본 추출값</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객체 식별자, 타입·레이어와 추출 형상</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파서가 읽은 값과 지원 여부</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현재 수정값</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분류·Bay와 사용자가 편집한 객체 값</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저장 후 서버에서 다시 읽은 값</a:t>
                      </a:r>
                    </a:p>
                  </a:txBody>
                  <a:tcPr marL="91440" marR="91440" marT="45720" marB="45720" anchor="ctr">
                    <a:solidFill>
                      <a:srgbClr val="FFFFFF"/>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변경 이력</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변경 사유·이전값·수정값·시간</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개정 충돌 시 재조회 후 수정</a:t>
                      </a:r>
                    </a:p>
                  </a:txBody>
                  <a:tcPr marL="91440" marR="91440" marT="45720" marB="45720" anchor="ctr">
                    <a:solidFill>
                      <a:srgbClr val="EAF0F3"/>
                    </a:solidFill>
                  </a:tcPr>
                </a:tc>
              </a:tr>
              <a:tr h="626745">
                <a:tc>
                  <a:txBody>
                    <a:bodyPr lIns="133350" tIns="114300" rIns="133350" bIns="114300">
                      <a:noAutofit/>
                    </a:bodyPr>
                    <a:lstStyle/>
                    <a:p>
                      <a:r>
                        <a:rPr sz="1650" b="1">
                          <a:solidFill>
                            <a:srgbClr val="152A37"/>
                          </a:solidFill>
                          <a:latin typeface="Malgun Gothic"/>
                          <a:ea typeface="Malgun Gothic"/>
                          <a:cs typeface="Malgun Gothic"/>
                        </a:rPr>
                        <a:t>상태 표시</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부분 지원, 검수 대기, 파싱·저장 실패</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실패·미완료 상태를 확인한 후 재작업</a:t>
                      </a:r>
                    </a:p>
                  </a:txBody>
                  <a:tcPr marL="91440" marR="91440" marT="45720" marB="45720" anchor="ctr">
                    <a:solidFill>
                      <a:srgbClr val="FFFFFF"/>
                    </a:solidFill>
                  </a:tcPr>
                </a:tc>
              </a:tr>
            </a:tbl>
          </a:graphicData>
        </a:graphic>
      </p:graphicFrame>
      <p:sp>
        <p:nvSpPr>
          <p:cNvPr id="6" name="조직별 승인·권한 관리와 원본 DWG 재기록은 별도 기능입니다.">
            <a:extLst xmlns:a="http://schemas.openxmlformats.org/drawingml/2006/main">
              <a:ext uri="{FF2B5EF4-FFF2-40B4-BE49-F238E27FC236}">
                <a16:creationId xmlns:a16="http://schemas.microsoft.com/office/drawing/2014/main" id="{A1C7CCE2-0851-4CED-BB6F-4074BD161EAB}"/>
              </a:ext>
            </a:extLst>
          </p:cNvPr>
          <p:cNvSpPr>
            <a:spLocks xmlns:a="http://schemas.openxmlformats.org/drawingml/2006/main" noGrp="1"/>
          </p:cNvSpPr>
          <p:nvPr/>
        </p:nvSpPr>
        <p:spPr>
          <a:xfrm xmlns:a="http://schemas.openxmlformats.org/drawingml/2006/main">
            <a:off x="609600" y="5934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조직별 승인·권한 관리와 원본 DWG 재기록은 별도 기능입니다.</a:t>
            </a:r>
          </a:p>
        </p:txBody>
      </p:sp>
    </p:spTree>
    <p:extLst>
      <p:ext uri="{BB962C8B-B14F-4D97-AF65-F5344CB8AC3E}">
        <p14:creationId xmlns:p14="http://schemas.microsoft.com/office/powerpoint/2010/main" val="807634851"/>
      </p:ext>
    </p:extLst>
  </p:cSld>
</p:sld>
</file>

<file path=ppt/slides/slide8.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BOX 자동 보정: 세 가지 오류 정리">
            <a:extLst xmlns:a="http://schemas.openxmlformats.org/drawingml/2006/main">
              <a:ext uri="{FF2B5EF4-FFF2-40B4-BE49-F238E27FC236}">
                <a16:creationId xmlns:a16="http://schemas.microsoft.com/office/drawing/2014/main" id="{2C0F79AE-E15C-42D2-B887-0552DBDAFB9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BOX 자동 보정: 세 가지 오류 정리</a:t>
            </a:r>
          </a:p>
        </p:txBody>
      </p:sp>
      <p:sp>
        <p:nvSpPr>
          <p:cNvPr id="2" name="수정 후보를 먼저 확인하고, 원본을 보존한 채 현재 객체 DB에 반영">
            <a:extLst xmlns:a="http://schemas.openxmlformats.org/drawingml/2006/main">
              <a:ext uri="{FF2B5EF4-FFF2-40B4-BE49-F238E27FC236}">
                <a16:creationId xmlns:a16="http://schemas.microsoft.com/office/drawing/2014/main" id="{7EEA98BD-62F7-463A-B52F-A98025CEEAF5}"/>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수정 후보를 먼저 확인하고, 원본을 보존한 채 현재 객체 DB에 반영</a:t>
            </a:r>
          </a:p>
        </p:txBody>
      </p:sp>
      <p:sp>
        <p:nvSpPr>
          <p:cNvPr id="3" name="">
            <a:extLst xmlns:a="http://schemas.openxmlformats.org/drawingml/2006/main">
              <a:ext uri="{FF2B5EF4-FFF2-40B4-BE49-F238E27FC236}">
                <a16:creationId xmlns:a16="http://schemas.microsoft.com/office/drawing/2014/main" id="{3CB33C46-00E8-4443-9377-7F8810813219}"/>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8">
            <a:extLst xmlns:a="http://schemas.openxmlformats.org/drawingml/2006/main">
              <a:ext uri="{FF2B5EF4-FFF2-40B4-BE49-F238E27FC236}">
                <a16:creationId xmlns:a16="http://schemas.microsoft.com/office/drawing/2014/main" id="{B0AEC645-A022-4B31-8790-E1F0168BB397}"/>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08</a:t>
            </a:r>
          </a:p>
        </p:txBody>
      </p:sp>
      <p:graphicFrame>
        <p:nvGraphicFramePr>
          <p:cNvPr id="11" name=""/>
          <p:cNvGraphicFramePr/>
          <p:nvPr/>
        </p:nvGraphicFramePr>
        <p:xfrm>
          <a:off xmlns:a="http://schemas.openxmlformats.org/drawingml/2006/main" x="609600" y="2057400"/>
          <a:ext xmlns:a="http://schemas.openxmlformats.org/drawingml/2006/main" cx="10972800" cy="3476625"/>
        </p:xfrm>
        <a:graphic xmlns:a="http://schemas.openxmlformats.org/drawingml/2006/main">
          <a:graphicData uri="http://schemas.openxmlformats.org/drawingml/2006/table">
            <a:tbl>
              <a:tblPr firstRow="1" bandRow="0"/>
              <a:tblGrid>
                <a:gridCol w="2143125"/>
                <a:gridCol w="4429125"/>
                <a:gridCol w="4400550"/>
              </a:tblGrid>
              <a:tr h="523875">
                <a:tc>
                  <a:txBody>
                    <a:bodyPr lIns="133350" tIns="114300" rIns="133350" bIns="114300">
                      <a:noAutofit/>
                    </a:bodyPr>
                    <a:lstStyle/>
                    <a:p>
                      <a:r>
                        <a:rPr sz="1650" b="1">
                          <a:solidFill>
                            <a:srgbClr val="FFFFFF"/>
                          </a:solidFill>
                          <a:latin typeface="Malgun Gothic"/>
                          <a:ea typeface="Malgun Gothic"/>
                          <a:cs typeface="Malgun Gothic"/>
                        </a:rPr>
                        <a:t>오류 유형</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자동 보정하는 조건과 결과</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자동 처리에서 남기는 항목</a:t>
                      </a:r>
                    </a:p>
                  </a:txBody>
                  <a:tcPr marL="91440" marR="91440" marT="45720" marB="45720" anchor="ctr">
                    <a:solidFill>
                      <a:srgbClr val="152A37"/>
                    </a:solidFill>
                  </a:tcPr>
                </a:tc>
              </a:tr>
              <a:tr h="984250">
                <a:tc>
                  <a:txBody>
                    <a:bodyPr lIns="133350" tIns="114300" rIns="133350" bIns="114300">
                      <a:noAutofit/>
                    </a:bodyPr>
                    <a:lstStyle/>
                    <a:p>
                      <a:r>
                        <a:rPr sz="1650" b="1">
                          <a:solidFill>
                            <a:srgbClr val="152A37"/>
                          </a:solidFill>
                          <a:latin typeface="Malgun Gothic"/>
                          <a:ea typeface="Malgun Gothic"/>
                          <a:cs typeface="Malgun Gothic"/>
                        </a:rPr>
                        <a:t>끊어진 BOX 선</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허용오차 안의 유일한 끝점 연결</a:t>
                      </a:r>
                    </a:p>
                    <a:p>
                      <a:r>
                        <a:rPr sz="1650" b="0">
                          <a:solidFill>
                            <a:srgbClr val="152A37"/>
                          </a:solidFill>
                          <a:latin typeface="Malgun Gothic"/>
                          <a:ea typeface="Malgun Gothic"/>
                          <a:cs typeface="Malgun Gothic"/>
                        </a:rPr>
                        <a:t>LINE 그룹·열린 폴리라인의 단순 폐합</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분기·교차·중복·고정·곡선 폐합</a:t>
                      </a:r>
                    </a:p>
                    <a:p>
                      <a:r>
                        <a:rPr sz="1650" b="0">
                          <a:solidFill>
                            <a:srgbClr val="152A37"/>
                          </a:solidFill>
                          <a:latin typeface="Malgun Gothic"/>
                          <a:ea typeface="Malgun Gothic"/>
                          <a:cs typeface="Malgun Gothic"/>
                        </a:rPr>
                        <a:t>모호한 연결은 확인 대상으로 유지</a:t>
                      </a:r>
                    </a:p>
                  </a:txBody>
                  <a:tcPr marL="91440" marR="91440" marT="45720" marB="45720" anchor="ctr">
                    <a:solidFill>
                      <a:srgbClr val="FFFFFF"/>
                    </a:solidFill>
                  </a:tcPr>
                </a:tc>
              </a:tr>
              <a:tr h="984250">
                <a:tc>
                  <a:txBody>
                    <a:bodyPr lIns="133350" tIns="114300" rIns="133350" bIns="114300">
                      <a:noAutofit/>
                    </a:bodyPr>
                    <a:lstStyle/>
                    <a:p>
                      <a:r>
                        <a:rPr sz="1650" b="1">
                          <a:solidFill>
                            <a:srgbClr val="152A37"/>
                          </a:solidFill>
                          <a:latin typeface="Malgun Gothic"/>
                          <a:ea typeface="Malgun Gothic"/>
                          <a:cs typeface="Malgun Gothic"/>
                        </a:rPr>
                        <a:t>서로 다른 코드 속성란</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객체·INSERT 속성의 별칭 검색</a:t>
                      </a:r>
                    </a:p>
                    <a:p>
                      <a:r>
                        <a:rPr sz="1650" b="0">
                          <a:solidFill>
                            <a:srgbClr val="152A37"/>
                          </a:solidFill>
                          <a:latin typeface="Malgun Gothic"/>
                          <a:ea typeface="Malgun Gothic"/>
                          <a:cs typeface="Malgun Gothic"/>
                        </a:rPr>
                        <a:t>공통 _constructionCode에 값 복사</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원래 속성은 보존</a:t>
                      </a:r>
                    </a:p>
                    <a:p>
                      <a:r>
                        <a:rPr sz="1650" b="0">
                          <a:solidFill>
                            <a:srgbClr val="152A37"/>
                          </a:solidFill>
                          <a:latin typeface="Malgun Gothic"/>
                          <a:ea typeface="Malgun Gothic"/>
                          <a:cs typeface="Malgun Gothic"/>
                        </a:rPr>
                        <a:t>서로 다른 코드 값은 충돌로 표시</a:t>
                      </a:r>
                    </a:p>
                  </a:txBody>
                  <a:tcPr marL="91440" marR="91440" marT="45720" marB="45720" anchor="ctr">
                    <a:solidFill>
                      <a:srgbClr val="EAF0F3"/>
                    </a:solidFill>
                  </a:tcPr>
                </a:tc>
              </a:tr>
              <a:tr h="984250">
                <a:tc>
                  <a:txBody>
                    <a:bodyPr lIns="133350" tIns="114300" rIns="133350" bIns="114300">
                      <a:noAutofit/>
                    </a:bodyPr>
                    <a:lstStyle/>
                    <a:p>
                      <a:r>
                        <a:rPr sz="1650" b="1">
                          <a:solidFill>
                            <a:srgbClr val="152A37"/>
                          </a:solidFill>
                          <a:latin typeface="Malgun Gothic"/>
                          <a:ea typeface="Malgun Gothic"/>
                          <a:cs typeface="Malgun Gothic"/>
                        </a:rPr>
                        <a:t>BOX 밖의 건설코드</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유일하게 연결되는 문자만 귀속</a:t>
                      </a:r>
                    </a:p>
                    <a:p>
                      <a:r>
                        <a:rPr sz="1650" b="0">
                          <a:solidFill>
                            <a:srgbClr val="152A37"/>
                          </a:solidFill>
                          <a:latin typeface="Malgun Gothic"/>
                          <a:ea typeface="Malgun Gothic"/>
                          <a:cs typeface="Malgun Gothic"/>
                        </a:rPr>
                        <a:t>들어갈 크기의 문자를 BOX 안으로 이동</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근접 BOX가 여럿이거나 코드 누락</a:t>
                      </a:r>
                    </a:p>
                    <a:p>
                      <a:r>
                        <a:rPr sz="1650" b="0">
                          <a:solidFill>
                            <a:srgbClr val="152A37"/>
                          </a:solidFill>
                          <a:latin typeface="Malgun Gothic"/>
                          <a:ea typeface="Malgun Gothic"/>
                          <a:cs typeface="Malgun Gothic"/>
                        </a:rPr>
                        <a:t>회전 문자·크기 부적합은 수동 확인</a:t>
                      </a:r>
                    </a:p>
                  </a:txBody>
                  <a:tcPr marL="91440" marR="91440" marT="45720" marB="45720" anchor="ctr">
                    <a:solidFill>
                      <a:srgbClr val="FFFFFF"/>
                    </a:solidFill>
                  </a:tcPr>
                </a:tc>
              </a:tr>
            </a:tbl>
          </a:graphicData>
        </a:graphic>
      </p:graphicFrame>
      <p:sp>
        <p:nvSpPr>
          <p:cNvPr id="6" name="없는 코드는 만들지 않습니다. 공유 코드의 중복 허용은 프로젝트에서 선택하며, 문자 폭">
            <a:extLst xmlns:a="http://schemas.openxmlformats.org/drawingml/2006/main">
              <a:ext uri="{FF2B5EF4-FFF2-40B4-BE49-F238E27FC236}">
                <a16:creationId xmlns:a16="http://schemas.microsoft.com/office/drawing/2014/main" id="{0A6AC675-ABDB-4807-A6FD-F7BBD2394DFA}"/>
              </a:ext>
            </a:extLst>
          </p:cNvPr>
          <p:cNvSpPr>
            <a:spLocks xmlns:a="http://schemas.openxmlformats.org/drawingml/2006/main" noGrp="1"/>
          </p:cNvSpPr>
          <p:nvPr/>
        </p:nvSpPr>
        <p:spPr>
          <a:xfrm xmlns:a="http://schemas.openxmlformats.org/drawingml/2006/main">
            <a:off x="609600" y="58102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없는 코드는 만들지 않습니다. 공유 코드의 중복 허용은 프로젝트에서 선택하며, 문자 폭은 근사값이므로 대조가 필요합니다.</a:t>
            </a:r>
          </a:p>
        </p:txBody>
      </p:sp>
    </p:spTree>
    <p:extLst>
      <p:ext uri="{BB962C8B-B14F-4D97-AF65-F5344CB8AC3E}">
        <p14:creationId xmlns:p14="http://schemas.microsoft.com/office/powerpoint/2010/main" val="719478474"/>
      </p:ext>
    </p:extLst>
  </p:cSld>
</p:sld>
</file>

<file path=ppt/slides/slide9.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20" name="BOX 보정의 적용·재검수 흐름">
            <a:extLst xmlns:a="http://schemas.openxmlformats.org/drawingml/2006/main">
              <a:ext uri="{FF2B5EF4-FFF2-40B4-BE49-F238E27FC236}">
                <a16:creationId xmlns:a16="http://schemas.microsoft.com/office/drawing/2014/main" id="{780AAC43-BB7A-46AF-A66B-B0C4718769B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BOX 보정의 적용·재검수 흐름</a:t>
            </a:r>
          </a:p>
        </p:txBody>
      </p:sp>
      <p:sp>
        <p:nvSpPr>
          <p:cNvPr id="2" name="분석 이후 도면이 바뀌면 제안을 다시 만들고, 미해결 경고를 확인">
            <a:extLst xmlns:a="http://schemas.openxmlformats.org/drawingml/2006/main">
              <a:ext uri="{FF2B5EF4-FFF2-40B4-BE49-F238E27FC236}">
                <a16:creationId xmlns:a16="http://schemas.microsoft.com/office/drawing/2014/main" id="{78F1B560-3237-4F11-A847-3CDE63C17473}"/>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분석 이후 도면이 바뀌면 제안을 다시 만들고, 미해결 경고를 확인</a:t>
            </a:r>
          </a:p>
        </p:txBody>
      </p:sp>
      <p:sp>
        <p:nvSpPr>
          <p:cNvPr id="3" name="">
            <a:extLst xmlns:a="http://schemas.openxmlformats.org/drawingml/2006/main">
              <a:ext uri="{FF2B5EF4-FFF2-40B4-BE49-F238E27FC236}">
                <a16:creationId xmlns:a16="http://schemas.microsoft.com/office/drawing/2014/main" id="{0CBC8963-2835-4A4C-B699-070E38892C9D}"/>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09">
            <a:extLst xmlns:a="http://schemas.openxmlformats.org/drawingml/2006/main">
              <a:ext uri="{FF2B5EF4-FFF2-40B4-BE49-F238E27FC236}">
                <a16:creationId xmlns:a16="http://schemas.microsoft.com/office/drawing/2014/main" id="{4C4EB7B0-389E-4C6F-A059-B189C48934DF}"/>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09</a:t>
            </a:r>
          </a:p>
        </p:txBody>
      </p:sp>
      <p:sp>
        <p:nvSpPr>
          <p:cNvPr id="5" name="1. 단위·허용오차">
            <a:extLst xmlns:a="http://schemas.openxmlformats.org/drawingml/2006/main">
              <a:ext uri="{FF2B5EF4-FFF2-40B4-BE49-F238E27FC236}">
                <a16:creationId xmlns:a16="http://schemas.microsoft.com/office/drawing/2014/main" id="{830FE84E-2873-42DF-9E28-F7B7025BBC21}"/>
              </a:ext>
            </a:extLst>
          </p:cNvPr>
          <p:cNvSpPr>
            <a:spLocks xmlns:a="http://schemas.openxmlformats.org/drawingml/2006/main" noGrp="1"/>
          </p:cNvSpPr>
          <p:nvPr/>
        </p:nvSpPr>
        <p:spPr>
          <a:xfrm xmlns:a="http://schemas.openxmlformats.org/drawingml/2006/main">
            <a:off x="609600" y="2333625"/>
            <a:ext cx="2952750" cy="876300"/>
          </a:xfrm>
          <a:prstGeom xmlns:a="http://schemas.openxmlformats.org/drawingml/2006/main" prst="rect">
            <a:avLst/>
          </a:prstGeom>
          <a:solidFill xmlns:a="http://schemas.openxmlformats.org/drawingml/2006/main">
            <a:srgbClr val="FFF5E7"/>
          </a:solidFill>
          <a:ln xmlns:a="http://schemas.openxmlformats.org/drawingml/2006/main" w="14288">
            <a:solidFill>
              <a:srgbClr val="B96724"/>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800" b="1">
                <a:solidFill>
                  <a:srgbClr val="152A37"/>
                </a:solidFill>
                <a:latin typeface="Malgun Gothic"/>
                <a:ea typeface="Malgun Gothic"/>
                <a:cs typeface="Malgun Gothic"/>
              </a:defRPr>
            </a:pPr>
            <a:r>
              <a:rPr sz="1800" b="1">
                <a:solidFill>
                  <a:srgbClr val="152A37"/>
                </a:solidFill>
                <a:latin typeface="Malgun Gothic"/>
                <a:ea typeface="Malgun Gothic"/>
                <a:cs typeface="Malgun Gothic"/>
              </a:rPr>
              <a:t>1. 단위·허용오차</a:t>
            </a:r>
          </a:p>
          <a:p xmlns:a="http://schemas.openxmlformats.org/drawingml/2006/main">
            <a:pPr algn="ctr">
              <a:defRPr sz="1800" b="1">
                <a:solidFill>
                  <a:srgbClr val="152A37"/>
                </a:solidFill>
                <a:latin typeface="Malgun Gothic"/>
                <a:ea typeface="Malgun Gothic"/>
                <a:cs typeface="Malgun Gothic"/>
              </a:defRPr>
            </a:pPr>
            <a:r>
              <a:rPr sz="1800" b="1">
                <a:solidFill>
                  <a:srgbClr val="152A37"/>
                </a:solidFill>
                <a:latin typeface="Malgun Gothic"/>
                <a:ea typeface="Malgun Gothic"/>
                <a:cs typeface="Malgun Gothic"/>
              </a:rPr>
              <a:t>프로젝트 조건 확인</a:t>
            </a:r>
          </a:p>
        </p:txBody>
      </p:sp>
      <p:sp>
        <p:nvSpPr>
          <p:cNvPr id="6" name="2. BOX 선 연결">
            <a:extLst xmlns:a="http://schemas.openxmlformats.org/drawingml/2006/main">
              <a:ext uri="{FF2B5EF4-FFF2-40B4-BE49-F238E27FC236}">
                <a16:creationId xmlns:a16="http://schemas.microsoft.com/office/drawing/2014/main" id="{10FEAE0B-84BB-4429-8CAE-BD0E361EABC0}"/>
              </a:ext>
            </a:extLst>
          </p:cNvPr>
          <p:cNvSpPr>
            <a:spLocks xmlns:a="http://schemas.openxmlformats.org/drawingml/2006/main" noGrp="1"/>
          </p:cNvSpPr>
          <p:nvPr/>
        </p:nvSpPr>
        <p:spPr>
          <a:xfrm xmlns:a="http://schemas.openxmlformats.org/drawingml/2006/main">
            <a:off x="4619625" y="2333625"/>
            <a:ext cx="2952750" cy="8763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2. BOX 선 연결</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유일한 단순 폐합</a:t>
            </a:r>
          </a:p>
        </p:txBody>
      </p:sp>
      <p:sp>
        <p:nvSpPr>
          <p:cNvPr id="7" name="3. 코드 속성란 통합">
            <a:extLst xmlns:a="http://schemas.openxmlformats.org/drawingml/2006/main">
              <a:ext uri="{FF2B5EF4-FFF2-40B4-BE49-F238E27FC236}">
                <a16:creationId xmlns:a16="http://schemas.microsoft.com/office/drawing/2014/main" id="{F575D597-A9E4-4B13-A0DD-924BCBFE8F65}"/>
              </a:ext>
            </a:extLst>
          </p:cNvPr>
          <p:cNvSpPr>
            <a:spLocks xmlns:a="http://schemas.openxmlformats.org/drawingml/2006/main" noGrp="1"/>
          </p:cNvSpPr>
          <p:nvPr/>
        </p:nvSpPr>
        <p:spPr>
          <a:xfrm xmlns:a="http://schemas.openxmlformats.org/drawingml/2006/main">
            <a:off x="8629650" y="2333625"/>
            <a:ext cx="2952750" cy="8763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3. 코드 속성란 통합</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원래 값 보존</a:t>
            </a:r>
          </a:p>
        </p:txBody>
      </p:sp>
      <p:sp>
        <p:nvSpPr>
          <p:cNvPr id="8" name="4. 외부 문자 귀속·이동">
            <a:extLst xmlns:a="http://schemas.openxmlformats.org/drawingml/2006/main">
              <a:ext uri="{FF2B5EF4-FFF2-40B4-BE49-F238E27FC236}">
                <a16:creationId xmlns:a16="http://schemas.microsoft.com/office/drawing/2014/main" id="{2AC07A6D-352D-4792-ABF5-875FCDA2F7FA}"/>
              </a:ext>
            </a:extLst>
          </p:cNvPr>
          <p:cNvSpPr>
            <a:spLocks xmlns:a="http://schemas.openxmlformats.org/drawingml/2006/main" noGrp="1"/>
          </p:cNvSpPr>
          <p:nvPr/>
        </p:nvSpPr>
        <p:spPr>
          <a:xfrm xmlns:a="http://schemas.openxmlformats.org/drawingml/2006/main">
            <a:off x="8629650" y="4171950"/>
            <a:ext cx="2952750" cy="8763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4. 외부 문자 귀속·이동</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유일한 BOX만 연결</a:t>
            </a:r>
          </a:p>
        </p:txBody>
      </p:sp>
      <p:sp>
        <p:nvSpPr>
          <p:cNvPr id="9" name="5. 누락·모호함 분리">
            <a:extLst xmlns:a="http://schemas.openxmlformats.org/drawingml/2006/main">
              <a:ext uri="{FF2B5EF4-FFF2-40B4-BE49-F238E27FC236}">
                <a16:creationId xmlns:a16="http://schemas.microsoft.com/office/drawing/2014/main" id="{192D4BA3-D6A6-4561-A9ED-05E634875BD5}"/>
              </a:ext>
            </a:extLst>
          </p:cNvPr>
          <p:cNvSpPr>
            <a:spLocks xmlns:a="http://schemas.openxmlformats.org/drawingml/2006/main" noGrp="1"/>
          </p:cNvSpPr>
          <p:nvPr/>
        </p:nvSpPr>
        <p:spPr>
          <a:xfrm xmlns:a="http://schemas.openxmlformats.org/drawingml/2006/main">
            <a:off x="4619625" y="4171950"/>
            <a:ext cx="2952750" cy="876300"/>
          </a:xfrm>
          <a:prstGeom xmlns:a="http://schemas.openxmlformats.org/drawingml/2006/main" prst="rect">
            <a:avLst/>
          </a:prstGeom>
          <a:solidFill xmlns:a="http://schemas.openxmlformats.org/drawingml/2006/main">
            <a:srgbClr val="FFF5E7"/>
          </a:solidFill>
          <a:ln xmlns:a="http://schemas.openxmlformats.org/drawingml/2006/main" w="14288">
            <a:solidFill>
              <a:srgbClr val="B96724"/>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5. 누락·모호함 분리</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설계자 수동 보완</a:t>
            </a:r>
          </a:p>
        </p:txBody>
      </p:sp>
      <p:sp>
        <p:nvSpPr>
          <p:cNvPr id="10" name="6. 후보 확인·적용">
            <a:extLst xmlns:a="http://schemas.openxmlformats.org/drawingml/2006/main">
              <a:ext uri="{FF2B5EF4-FFF2-40B4-BE49-F238E27FC236}">
                <a16:creationId xmlns:a16="http://schemas.microsoft.com/office/drawing/2014/main" id="{6C1BC63C-3F1C-4529-A13A-F46FDDB24ECE}"/>
              </a:ext>
            </a:extLst>
          </p:cNvPr>
          <p:cNvSpPr>
            <a:spLocks xmlns:a="http://schemas.openxmlformats.org/drawingml/2006/main" noGrp="1"/>
          </p:cNvSpPr>
          <p:nvPr/>
        </p:nvSpPr>
        <p:spPr>
          <a:xfrm xmlns:a="http://schemas.openxmlformats.org/drawingml/2006/main">
            <a:off x="609600" y="4171950"/>
            <a:ext cx="2952750" cy="87630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6. 후보 확인·적용</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DB 저장·재검수</a:t>
            </a:r>
          </a:p>
        </p:txBody>
      </p: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3562350" y="2771775"/>
            <a:ext cx="1057275"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7572375" y="2771775"/>
            <a:ext cx="1057275"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2" name=""/>
          <p:cNvCxnSpPr>
            <a:stCxn xmlns:a="http://schemas.openxmlformats.org/drawingml/2006/main" id="7" idx="2"/>
            <a:endCxn xmlns:a="http://schemas.openxmlformats.org/drawingml/2006/main" id="8" idx="0"/>
          </p:cNvCxnSpPr>
          <p:nvPr/>
        </p:nvCxnSpPr>
        <p:spPr>
          <a:xfrm xmlns:a="http://schemas.openxmlformats.org/drawingml/2006/main">
            <a:off x="10106025" y="3209925"/>
            <a:ext cx="0" cy="962025"/>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3" name=""/>
          <p:cNvCxnSpPr>
            <a:stCxn xmlns:a="http://schemas.openxmlformats.org/drawingml/2006/main" id="8" idx="1"/>
            <a:endCxn xmlns:a="http://schemas.openxmlformats.org/drawingml/2006/main" id="9" idx="3"/>
          </p:cNvCxnSpPr>
          <p:nvPr/>
        </p:nvCxnSpPr>
        <p:spPr>
          <a:xfrm xmlns:a="http://schemas.openxmlformats.org/drawingml/2006/main" flipH="1">
            <a:off x="7572375" y="4610100"/>
            <a:ext cx="1057275"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4" name=""/>
          <p:cNvCxnSpPr>
            <a:stCxn xmlns:a="http://schemas.openxmlformats.org/drawingml/2006/main" id="9" idx="1"/>
            <a:endCxn xmlns:a="http://schemas.openxmlformats.org/drawingml/2006/main" id="10" idx="3"/>
          </p:cNvCxnSpPr>
          <p:nvPr/>
        </p:nvCxnSpPr>
        <p:spPr>
          <a:xfrm xmlns:a="http://schemas.openxmlformats.org/drawingml/2006/main" flipH="1">
            <a:off x="3562350" y="4610100"/>
            <a:ext cx="1057275"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35" name=""/>
          <p:cNvCxnSpPr>
            <a:stCxn xmlns:a="http://schemas.openxmlformats.org/drawingml/2006/main" id="10" idx="0"/>
            <a:endCxn xmlns:a="http://schemas.openxmlformats.org/drawingml/2006/main" id="5" idx="2"/>
          </p:cNvCxnSpPr>
          <p:nvPr/>
        </p:nvCxnSpPr>
        <p:spPr>
          <a:xfrm xmlns:a="http://schemas.openxmlformats.org/drawingml/2006/main" flipV="1">
            <a:off x="2085975" y="3209925"/>
            <a:ext cx="0" cy="962025"/>
          </a:xfrm>
          <a:prstGeom xmlns:a="http://schemas.openxmlformats.org/drawingml/2006/main" prst="straightConnector1">
            <a:avLst/>
          </a:prstGeom>
          <a:ln xmlns:a="http://schemas.openxmlformats.org/drawingml/2006/main" w="21908">
            <a:solidFill>
              <a:srgbClr val="B96724"/>
            </a:solidFill>
            <a:prstDash val="dash"/>
            <a:tailEnd type="triangle" w="med" len="med"/>
          </a:ln>
        </p:spPr>
      </p:cxnSp>
      <p:sp>
        <p:nvSpPr>
          <p:cNvPr id="17" name="잔여 경고: 보완 후 재분석">
            <a:extLst xmlns:a="http://schemas.openxmlformats.org/drawingml/2006/main">
              <a:ext uri="{FF2B5EF4-FFF2-40B4-BE49-F238E27FC236}">
                <a16:creationId xmlns:a16="http://schemas.microsoft.com/office/drawing/2014/main" id="{C253A15B-5386-44D3-9683-4749205E343E}"/>
              </a:ext>
            </a:extLst>
          </p:cNvPr>
          <p:cNvSpPr>
            <a:spLocks xmlns:a="http://schemas.openxmlformats.org/drawingml/2006/main" noGrp="1"/>
          </p:cNvSpPr>
          <p:nvPr/>
        </p:nvSpPr>
        <p:spPr>
          <a:xfrm xmlns:a="http://schemas.openxmlformats.org/drawingml/2006/main">
            <a:off x="2400300" y="3495675"/>
            <a:ext cx="409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B96724"/>
                </a:solidFill>
                <a:latin typeface="Malgun Gothic"/>
                <a:ea typeface="Malgun Gothic"/>
                <a:cs typeface="Malgun Gothic"/>
              </a:defRPr>
            </a:pPr>
            <a:r>
              <a:rPr sz="1500" b="1">
                <a:solidFill>
                  <a:srgbClr val="B96724"/>
                </a:solidFill>
                <a:latin typeface="Malgun Gothic"/>
                <a:ea typeface="Malgun Gothic"/>
                <a:cs typeface="Malgun Gothic"/>
              </a:rPr>
              <a:t>잔여 경고: 보완 후 재분석</a:t>
            </a:r>
          </a:p>
        </p:txBody>
      </p:sp>
      <p:sp>
        <p:nvSpPr>
          <p:cNvPr id="18" name="대상 객체·수정 종류·이동량·보류 사유를 확인한 후 적용합니다.">
            <a:extLst xmlns:a="http://schemas.openxmlformats.org/drawingml/2006/main">
              <a:ext uri="{FF2B5EF4-FFF2-40B4-BE49-F238E27FC236}">
                <a16:creationId xmlns:a16="http://schemas.microsoft.com/office/drawing/2014/main" id="{9FB1C8E3-B9EF-4FE7-B8BB-B9991D6F4760}"/>
              </a:ext>
            </a:extLst>
          </p:cNvPr>
          <p:cNvSpPr>
            <a:spLocks xmlns:a="http://schemas.openxmlformats.org/drawingml/2006/main" noGrp="1"/>
          </p:cNvSpPr>
          <p:nvPr/>
        </p:nvSpPr>
        <p:spPr>
          <a:xfrm xmlns:a="http://schemas.openxmlformats.org/drawingml/2006/main">
            <a:off x="609600" y="5410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대상 객체·수정 종류·이동량·보류 사유를 확인한 후 적용합니다.</a:t>
            </a:r>
          </a:p>
        </p:txBody>
      </p:sp>
      <p:sp>
        <p:nvSpPr>
          <p:cNvPr id="19" name="변경 전후와 사유를 서버에 기록합니다. 미해결 경고가 있으면 검수 완료를 막으며, 원본">
            <a:extLst xmlns:a="http://schemas.openxmlformats.org/drawingml/2006/main">
              <a:ext uri="{FF2B5EF4-FFF2-40B4-BE49-F238E27FC236}">
                <a16:creationId xmlns:a16="http://schemas.microsoft.com/office/drawing/2014/main" id="{945DFC5C-47CF-4DEC-931E-F67FBDD00E21}"/>
              </a:ext>
            </a:extLst>
          </p:cNvPr>
          <p:cNvSpPr>
            <a:spLocks xmlns:a="http://schemas.openxmlformats.org/drawingml/2006/main" noGrp="1"/>
          </p:cNvSpPr>
          <p:nvPr/>
        </p:nvSpPr>
        <p:spPr>
          <a:xfrm xmlns:a="http://schemas.openxmlformats.org/drawingml/2006/main">
            <a:off x="609600" y="59150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변경 전후와 사유를 서버에 기록합니다. 미해결 경고가 있으면 검수 완료를 막으며, 원본 DWG에는 재기록하지 않습니다.</a:t>
            </a:r>
          </a:p>
        </p:txBody>
      </p:sp>
    </p:spTree>
    <p:extLst>
      <p:ext uri="{BB962C8B-B14F-4D97-AF65-F5344CB8AC3E}">
        <p14:creationId xmlns:p14="http://schemas.microsoft.com/office/powerpoint/2010/main" val="1352451220"/>
      </p:ext>
    </p:extLst>
  </p:cSld>
</p:sld>
</file>

<file path=ppt/slides/slide10.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삼성전자 참여 연구와 관련 공개 특허">
            <a:extLst xmlns:a="http://schemas.openxmlformats.org/drawingml/2006/main">
              <a:ext uri="{FF2B5EF4-FFF2-40B4-BE49-F238E27FC236}">
                <a16:creationId xmlns:a16="http://schemas.microsoft.com/office/drawing/2014/main" id="{D3542FEF-BB4E-495F-9EE8-55A98C45952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삼성전자 참여 연구와 관련 공개 특허</a:t>
            </a:r>
          </a:p>
        </p:txBody>
      </p:sp>
      <p:sp>
        <p:nvSpPr>
          <p:cNvPr id="2" name="연구·특허의 개념을 샘플 규칙에 연결하고 실제 적용 실적과 구분">
            <a:extLst xmlns:a="http://schemas.openxmlformats.org/drawingml/2006/main">
              <a:ext uri="{FF2B5EF4-FFF2-40B4-BE49-F238E27FC236}">
                <a16:creationId xmlns:a16="http://schemas.microsoft.com/office/drawing/2014/main" id="{185E058E-0902-46E5-8167-8AEB148D8044}"/>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연구·특허의 개념을 샘플 규칙에 연결하고 실제 적용 실적과 구분</a:t>
            </a:r>
          </a:p>
        </p:txBody>
      </p:sp>
      <p:sp>
        <p:nvSpPr>
          <p:cNvPr id="3" name="">
            <a:extLst xmlns:a="http://schemas.openxmlformats.org/drawingml/2006/main">
              <a:ext uri="{FF2B5EF4-FFF2-40B4-BE49-F238E27FC236}">
                <a16:creationId xmlns:a16="http://schemas.microsoft.com/office/drawing/2014/main" id="{1C4D7D27-C9A2-483B-BF9D-7F53F41BB88D}"/>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0">
            <a:extLst xmlns:a="http://schemas.openxmlformats.org/drawingml/2006/main">
              <a:ext uri="{FF2B5EF4-FFF2-40B4-BE49-F238E27FC236}">
                <a16:creationId xmlns:a16="http://schemas.microsoft.com/office/drawing/2014/main" id="{E6DBA6C3-CAA2-4753-99C4-3A2EAB77611A}"/>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10</a:t>
            </a:r>
          </a:p>
        </p:txBody>
      </p:sp>
      <p:graphicFrame>
        <p:nvGraphicFramePr>
          <p:cNvPr id="11" name=""/>
          <p:cNvGraphicFramePr/>
          <p:nvPr/>
        </p:nvGraphicFramePr>
        <p:xfrm>
          <a:off xmlns:a="http://schemas.openxmlformats.org/drawingml/2006/main" x="609600" y="2019300"/>
          <a:ext xmlns:a="http://schemas.openxmlformats.org/drawingml/2006/main" cx="10972800" cy="3771900"/>
        </p:xfrm>
        <a:graphic xmlns:a="http://schemas.openxmlformats.org/drawingml/2006/main">
          <a:graphicData uri="http://schemas.openxmlformats.org/drawingml/2006/table">
            <a:tbl>
              <a:tblPr firstRow="1" bandRow="0"/>
              <a:tblGrid>
                <a:gridCol w="2590800"/>
                <a:gridCol w="4362450"/>
                <a:gridCol w="4019550"/>
              </a:tblGrid>
              <a:tr h="523875">
                <a:tc>
                  <a:txBody>
                    <a:bodyPr lIns="133350" tIns="114300" rIns="133350" bIns="114300">
                      <a:noAutofit/>
                    </a:bodyPr>
                    <a:lstStyle/>
                    <a:p>
                      <a:r>
                        <a:rPr sz="1650" b="1">
                          <a:solidFill>
                            <a:srgbClr val="FFFFFF"/>
                          </a:solidFill>
                          <a:latin typeface="Malgun Gothic"/>
                          <a:ea typeface="Malgun Gothic"/>
                          <a:cs typeface="Malgun Gothic"/>
                        </a:rPr>
                        <a:t>공개 근거와 성격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자료에서 확인한 내용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플랫폼에 반영한 해석</a:t>
                      </a:r>
                    </a:p>
                  </a:txBody>
                  <a:tcPr marL="91440" marR="91440" marT="45720" marB="45720" anchor="ctr">
                    <a:solidFill>
                      <a:srgbClr val="152A37"/>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삼성전자 공저 연구</a:t>
                      </a:r>
                    </a:p>
                    <a:p>
                      <a:r>
                        <a:rPr sz="1575" b="1">
                          <a:solidFill>
                            <a:srgbClr val="152A37"/>
                          </a:solidFill>
                          <a:latin typeface="Malgun Gothic"/>
                          <a:ea typeface="Malgun Gothic"/>
                          <a:cs typeface="Malgun Gothic"/>
                        </a:rPr>
                        <a:t>2026.04</a:t>
                      </a:r>
                    </a:p>
                    <a:p>
                      <a:r>
                        <a:rPr sz="1575" b="1">
                          <a:solidFill>
                            <a:srgbClr val="152A37"/>
                          </a:solidFill>
                          <a:latin typeface="Malgun Gothic"/>
                          <a:ea typeface="Malgun Gothic"/>
                          <a:cs typeface="Malgun Gothic"/>
                        </a:rPr>
                        <a:t>개념모델 연구</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필수 제약과 선호 목표를 구분</a:t>
                      </a:r>
                    </a:p>
                    <a:p>
                      <a:r>
                        <a:rPr sz="1575" b="0">
                          <a:solidFill>
                            <a:srgbClr val="152A37"/>
                          </a:solidFill>
                          <a:latin typeface="Malgun Gothic"/>
                          <a:ea typeface="Malgun Gothic"/>
                          <a:cs typeface="Malgun Gothic"/>
                        </a:rPr>
                        <a:t>박스·이격 기반 검토</a:t>
                      </a:r>
                    </a:p>
                    <a:p>
                      <a:r>
                        <a:rPr sz="1575" b="0">
                          <a:solidFill>
                            <a:srgbClr val="152A37"/>
                          </a:solidFill>
                          <a:latin typeface="Malgun Gothic"/>
                          <a:ea typeface="Malgun Gothic"/>
                          <a:cs typeface="Malgun Gothic"/>
                        </a:rPr>
                        <a:t>유틸리티 연결 KPI 대안 제시</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필수 조건을 먼저 검사</a:t>
                      </a:r>
                    </a:p>
                    <a:p>
                      <a:r>
                        <a:rPr sz="1575" b="0">
                          <a:solidFill>
                            <a:srgbClr val="152A37"/>
                          </a:solidFill>
                          <a:latin typeface="Malgun Gothic"/>
                          <a:ea typeface="Malgun Gothic"/>
                          <a:cs typeface="Malgun Gothic"/>
                        </a:rPr>
                        <a:t>통과 후보의 이동량과</a:t>
                      </a:r>
                    </a:p>
                    <a:p>
                      <a:r>
                        <a:rPr sz="1575" b="0">
                          <a:solidFill>
                            <a:srgbClr val="152A37"/>
                          </a:solidFill>
                          <a:latin typeface="Malgun Gothic"/>
                          <a:ea typeface="Malgun Gothic"/>
                          <a:cs typeface="Malgun Gothic"/>
                        </a:rPr>
                        <a:t>연결거리 우선순위 비교</a:t>
                      </a:r>
                    </a:p>
                  </a:txBody>
                  <a:tcPr marL="91440" marR="91440" marT="45720" marB="45720" anchor="ctr">
                    <a:solidFill>
                      <a:srgbClr val="FFFFFF"/>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삼성전자·삼성물산</a:t>
                      </a:r>
                    </a:p>
                    <a:p>
                      <a:r>
                        <a:rPr sz="1575" b="1">
                          <a:solidFill>
                            <a:srgbClr val="152A37"/>
                          </a:solidFill>
                          <a:latin typeface="Malgun Gothic"/>
                          <a:ea typeface="Malgun Gothic"/>
                          <a:cs typeface="Malgun Gothic"/>
                        </a:rPr>
                        <a:t>P2 FAB 연구 2022.12</a:t>
                      </a:r>
                    </a:p>
                    <a:p>
                      <a:r>
                        <a:rPr sz="1575" b="1">
                          <a:solidFill>
                            <a:srgbClr val="152A37"/>
                          </a:solidFill>
                          <a:latin typeface="Malgun Gothic"/>
                          <a:ea typeface="Malgun Gothic"/>
                          <a:cs typeface="Malgun Gothic"/>
                        </a:rPr>
                        <a:t>업무지원 시제품</a:t>
                      </a:r>
                    </a:p>
                  </a:txBody>
                  <a:tcPr marL="91440" marR="91440" marT="45720" marB="45720" anchor="ctr">
                    <a:solidFill>
                      <a:srgbClr val="EAF0F3"/>
                    </a:solidFill>
                  </a:tcPr>
                </a:tc>
                <a:tc>
                  <a:txBody>
                    <a:bodyPr lIns="133350" tIns="114300" rIns="133350" bIns="114300">
                      <a:noAutofit/>
                    </a:bodyPr>
                    <a:lstStyle/>
                    <a:p>
                      <a:r>
                        <a:rPr sz="1575" b="0">
                          <a:solidFill>
                            <a:srgbClr val="152A37"/>
                          </a:solidFill>
                          <a:latin typeface="Malgun Gothic"/>
                          <a:ea typeface="Malgun Gothic"/>
                          <a:cs typeface="Malgun Gothic"/>
                        </a:rPr>
                        <a:t>Revision·Hold 변경 관리</a:t>
                      </a:r>
                    </a:p>
                    <a:p>
                      <a:r>
                        <a:rPr sz="1575" b="0">
                          <a:solidFill>
                            <a:srgbClr val="152A37"/>
                          </a:solidFill>
                          <a:latin typeface="Malgun Gothic"/>
                          <a:ea typeface="Malgun Gothic"/>
                          <a:cs typeface="Malgun Gothic"/>
                        </a:rPr>
                        <a:t>Shop·AFC·준공도면 정합성</a:t>
                      </a:r>
                    </a:p>
                    <a:p>
                      <a:r>
                        <a:rPr sz="1575" b="0">
                          <a:solidFill>
                            <a:srgbClr val="152A37"/>
                          </a:solidFill>
                          <a:latin typeface="Malgun Gothic"/>
                          <a:ea typeface="Malgun Gothic"/>
                          <a:cs typeface="Malgun Gothic"/>
                        </a:rPr>
                        <a:t>현장 이슈 피드백</a:t>
                      </a:r>
                    </a:p>
                  </a:txBody>
                  <a:tcPr marL="91440" marR="91440" marT="45720" marB="45720" anchor="ctr">
                    <a:solidFill>
                      <a:srgbClr val="EAF0F3"/>
                    </a:solidFill>
                  </a:tcPr>
                </a:tc>
                <a:tc>
                  <a:txBody>
                    <a:bodyPr lIns="133350" tIns="114300" rIns="133350" bIns="114300">
                      <a:noAutofit/>
                    </a:bodyPr>
                    <a:lstStyle/>
                    <a:p>
                      <a:r>
                        <a:rPr sz="1575" b="0">
                          <a:solidFill>
                            <a:srgbClr val="152A37"/>
                          </a:solidFill>
                          <a:latin typeface="Malgun Gothic"/>
                          <a:ea typeface="Malgun Gothic"/>
                          <a:cs typeface="Malgun Gothic"/>
                        </a:rPr>
                        <a:t>고정·Hold와 개정 메타데이터</a:t>
                      </a:r>
                    </a:p>
                    <a:p>
                      <a:r>
                        <a:rPr sz="1575" b="0">
                          <a:solidFill>
                            <a:srgbClr val="152A37"/>
                          </a:solidFill>
                          <a:latin typeface="Malgun Gothic"/>
                          <a:ea typeface="Malgun Gothic"/>
                          <a:cs typeface="Malgun Gothic"/>
                        </a:rPr>
                        <a:t>입력 변경 후 재검사</a:t>
                      </a:r>
                    </a:p>
                    <a:p>
                      <a:r>
                        <a:rPr sz="1575" b="0">
                          <a:solidFill>
                            <a:srgbClr val="152A37"/>
                          </a:solidFill>
                          <a:latin typeface="Malgun Gothic"/>
                          <a:ea typeface="Malgun Gothic"/>
                          <a:cs typeface="Malgun Gothic"/>
                        </a:rPr>
                        <a:t>기존 후보·검토 상태 무효화</a:t>
                      </a:r>
                    </a:p>
                  </a:txBody>
                  <a:tcPr marL="91440" marR="91440" marT="45720" marB="45720" anchor="ctr">
                    <a:solidFill>
                      <a:srgbClr val="EAF0F3"/>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삼성물산·삼우</a:t>
                      </a:r>
                    </a:p>
                    <a:p>
                      <a:r>
                        <a:rPr sz="1575" b="1">
                          <a:solidFill>
                            <a:srgbClr val="152A37"/>
                          </a:solidFill>
                          <a:latin typeface="Malgun Gothic"/>
                          <a:ea typeface="Malgun Gothic"/>
                          <a:cs typeface="Malgun Gothic"/>
                        </a:rPr>
                        <a:t>2016.03 공개 특허</a:t>
                      </a:r>
                    </a:p>
                    <a:p>
                      <a:r>
                        <a:rPr sz="1575" b="1">
                          <a:solidFill>
                            <a:srgbClr val="152A37"/>
                          </a:solidFill>
                          <a:latin typeface="Malgun Gothic"/>
                          <a:ea typeface="Malgun Gothic"/>
                          <a:cs typeface="Malgun Gothic"/>
                        </a:rPr>
                        <a:t>Bay 유틸리티 공간</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Bay별 배관·덕트·케이블</a:t>
                      </a:r>
                    </a:p>
                    <a:p>
                      <a:r>
                        <a:rPr sz="1575" b="0">
                          <a:solidFill>
                            <a:srgbClr val="152A37"/>
                          </a:solidFill>
                          <a:latin typeface="Malgun Gothic"/>
                          <a:ea typeface="Malgun Gothic"/>
                          <a:cs typeface="Malgun Gothic"/>
                        </a:rPr>
                        <a:t>설치 공간의 분할과</a:t>
                      </a:r>
                    </a:p>
                    <a:p>
                      <a:r>
                        <a:rPr sz="1575" b="0">
                          <a:solidFill>
                            <a:srgbClr val="152A37"/>
                          </a:solidFill>
                          <a:latin typeface="Malgun Gothic"/>
                          <a:ea typeface="Malgun Gothic"/>
                          <a:cs typeface="Malgun Gothic"/>
                        </a:rPr>
                        <a:t>유틸리티 모듈 구성</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공종별 높이 구간과</a:t>
                      </a:r>
                    </a:p>
                    <a:p>
                      <a:r>
                        <a:rPr sz="1575" b="0">
                          <a:solidFill>
                            <a:srgbClr val="152A37"/>
                          </a:solidFill>
                          <a:latin typeface="Malgun Gothic"/>
                          <a:ea typeface="Malgun Gothic"/>
                          <a:cs typeface="Malgun Gothic"/>
                        </a:rPr>
                        <a:t>유지보수 예약 공간을</a:t>
                      </a:r>
                    </a:p>
                    <a:p>
                      <a:r>
                        <a:rPr sz="1575" b="0">
                          <a:solidFill>
                            <a:srgbClr val="152A37"/>
                          </a:solidFill>
                          <a:latin typeface="Malgun Gothic"/>
                          <a:ea typeface="Malgun Gothic"/>
                          <a:cs typeface="Malgun Gothic"/>
                        </a:rPr>
                        <a:t>프로젝트 예시 제약으로 구성</a:t>
                      </a:r>
                    </a:p>
                  </a:txBody>
                  <a:tcPr marL="91440" marR="91440" marT="45720" marB="45720" anchor="ctr">
                    <a:solidFill>
                      <a:srgbClr val="FFFFFF"/>
                    </a:solidFill>
                  </a:tcPr>
                </a:tc>
              </a:tr>
            </a:tbl>
          </a:graphicData>
        </a:graphic>
      </p:graphicFrame>
      <p:sp>
        <p:nvSpPr>
          <p:cNvPr id="6" name="출처: 대한건축학회·한국BIM학회 연구, KR101600068B1. 특허의 삼성전자 적">
            <a:extLst xmlns:a="http://schemas.openxmlformats.org/drawingml/2006/main">
              <a:ext uri="{FF2B5EF4-FFF2-40B4-BE49-F238E27FC236}">
                <a16:creationId xmlns:a16="http://schemas.microsoft.com/office/drawing/2014/main" id="{708CC925-EAF9-4EBC-B834-9DF01C4D6F9C}"/>
              </a:ext>
            </a:extLst>
          </p:cNvPr>
          <p:cNvSpPr>
            <a:spLocks xmlns:a="http://schemas.openxmlformats.org/drawingml/2006/main" noGrp="1"/>
          </p:cNvSpPr>
          <p:nvPr/>
        </p:nvSpPr>
        <p:spPr>
          <a:xfrm xmlns:a="http://schemas.openxmlformats.org/drawingml/2006/main">
            <a:off x="609600" y="5972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776"/>
                </a:solidFill>
                <a:latin typeface="Malgun Gothic"/>
                <a:ea typeface="Malgun Gothic"/>
                <a:cs typeface="Malgun Gothic"/>
              </a:defRPr>
            </a:pPr>
            <a:r>
              <a:rPr sz="1425" b="0">
                <a:solidFill>
                  <a:srgbClr val="526776"/>
                </a:solidFill>
                <a:latin typeface="Malgun Gothic"/>
                <a:ea typeface="Malgun Gothic"/>
                <a:cs typeface="Malgun Gothic"/>
              </a:rPr>
              <a:t>출처: 대한건축학회·한국BIM학회 연구, KR101600068B1. 특허의 삼성전자 적용 실적은 확인하지 않았습니다.</a:t>
            </a:r>
          </a:p>
        </p:txBody>
      </p:sp>
    </p:spTree>
    <p:extLst>
      <p:ext uri="{BB962C8B-B14F-4D97-AF65-F5344CB8AC3E}">
        <p14:creationId xmlns:p14="http://schemas.microsoft.com/office/powerpoint/2010/main" val="108705783"/>
      </p:ext>
    </p:extLst>
  </p:cSld>
</p:sld>
</file>

<file path=ppt/slides/slide11.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SK하이닉스 공개 사례에서 참고한 방식">
            <a:extLst xmlns:a="http://schemas.openxmlformats.org/drawingml/2006/main">
              <a:ext uri="{FF2B5EF4-FFF2-40B4-BE49-F238E27FC236}">
                <a16:creationId xmlns:a16="http://schemas.microsoft.com/office/drawing/2014/main" id="{7B1BC907-9F13-44D9-9F62-ABE601D54B19}"/>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SK하이닉스 공개 사례에서 참고한 방식</a:t>
            </a:r>
          </a:p>
        </p:txBody>
      </p:sp>
      <p:sp>
        <p:nvSpPr>
          <p:cNvPr id="2" name="실제 시공 사례, 디지털 트윈 실증, 개발 계획을 구분">
            <a:extLst xmlns:a="http://schemas.openxmlformats.org/drawingml/2006/main">
              <a:ext uri="{FF2B5EF4-FFF2-40B4-BE49-F238E27FC236}">
                <a16:creationId xmlns:a16="http://schemas.microsoft.com/office/drawing/2014/main" id="{969EFF80-B75A-4C3B-94E1-844FF38B69C7}"/>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실제 시공 사례, 디지털 트윈 실증, 개발 계획을 구분</a:t>
            </a:r>
          </a:p>
        </p:txBody>
      </p:sp>
      <p:sp>
        <p:nvSpPr>
          <p:cNvPr id="3" name="">
            <a:extLst xmlns:a="http://schemas.openxmlformats.org/drawingml/2006/main">
              <a:ext uri="{FF2B5EF4-FFF2-40B4-BE49-F238E27FC236}">
                <a16:creationId xmlns:a16="http://schemas.microsoft.com/office/drawing/2014/main" id="{B6D6C82C-534D-4F4F-BC9F-B4E6445E9105}"/>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1">
            <a:extLst xmlns:a="http://schemas.openxmlformats.org/drawingml/2006/main">
              <a:ext uri="{FF2B5EF4-FFF2-40B4-BE49-F238E27FC236}">
                <a16:creationId xmlns:a16="http://schemas.microsoft.com/office/drawing/2014/main" id="{DA6BF758-22D2-4E9A-AD63-CB941F8801D6}"/>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11</a:t>
            </a:r>
          </a:p>
        </p:txBody>
      </p:sp>
      <p:graphicFrame>
        <p:nvGraphicFramePr>
          <p:cNvPr id="11" name=""/>
          <p:cNvGraphicFramePr/>
          <p:nvPr/>
        </p:nvGraphicFramePr>
        <p:xfrm>
          <a:off xmlns:a="http://schemas.openxmlformats.org/drawingml/2006/main" x="609600" y="2019300"/>
          <a:ext xmlns:a="http://schemas.openxmlformats.org/drawingml/2006/main" cx="10972800" cy="3771900"/>
        </p:xfrm>
        <a:graphic xmlns:a="http://schemas.openxmlformats.org/drawingml/2006/main">
          <a:graphicData uri="http://schemas.openxmlformats.org/drawingml/2006/table">
            <a:tbl>
              <a:tblPr firstRow="1" bandRow="0"/>
              <a:tblGrid>
                <a:gridCol w="2590800"/>
                <a:gridCol w="4362450"/>
                <a:gridCol w="4019550"/>
              </a:tblGrid>
              <a:tr h="523875">
                <a:tc>
                  <a:txBody>
                    <a:bodyPr lIns="133350" tIns="114300" rIns="133350" bIns="114300">
                      <a:noAutofit/>
                    </a:bodyPr>
                    <a:lstStyle/>
                    <a:p>
                      <a:r>
                        <a:rPr sz="1650" b="1">
                          <a:solidFill>
                            <a:srgbClr val="FFFFFF"/>
                          </a:solidFill>
                          <a:latin typeface="Malgun Gothic"/>
                          <a:ea typeface="Malgun Gothic"/>
                          <a:cs typeface="Malgun Gothic"/>
                        </a:rPr>
                        <a:t>공개 근거와 성격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자료에서 확인한 내용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플랫폼에 반영한 해석</a:t>
                      </a:r>
                    </a:p>
                  </a:txBody>
                  <a:tcPr marL="91440" marR="91440" marT="45720" marB="45720" anchor="ctr">
                    <a:solidFill>
                      <a:srgbClr val="152A37"/>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M16 건설 공식 사례</a:t>
                      </a:r>
                    </a:p>
                    <a:p>
                      <a:r>
                        <a:rPr sz="1575" b="1">
                          <a:solidFill>
                            <a:srgbClr val="152A37"/>
                          </a:solidFill>
                          <a:latin typeface="Malgun Gothic"/>
                          <a:ea typeface="Malgun Gothic"/>
                          <a:cs typeface="Malgun Gothic"/>
                        </a:rPr>
                        <a:t>2021.02</a:t>
                      </a:r>
                    </a:p>
                    <a:p>
                      <a:r>
                        <a:rPr sz="1575" b="1">
                          <a:solidFill>
                            <a:srgbClr val="152A37"/>
                          </a:solidFill>
                          <a:latin typeface="Malgun Gothic"/>
                          <a:ea typeface="Malgun Gothic"/>
                          <a:cs typeface="Malgun Gothic"/>
                        </a:rPr>
                        <a:t>실제 시공 경험</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BIM 배관·덕트·케이블 트레이</a:t>
                      </a:r>
                    </a:p>
                    <a:p>
                      <a:r>
                        <a:rPr sz="1575" b="0">
                          <a:solidFill>
                            <a:srgbClr val="152A37"/>
                          </a:solidFill>
                          <a:latin typeface="Malgun Gothic"/>
                          <a:ea typeface="Malgun Gothic"/>
                          <a:cs typeface="Malgun Gothic"/>
                        </a:rPr>
                        <a:t>층 내부·층 사이 간섭 예측</a:t>
                      </a:r>
                    </a:p>
                    <a:p>
                      <a:r>
                        <a:rPr sz="1575" b="0">
                          <a:solidFill>
                            <a:srgbClr val="152A37"/>
                          </a:solidFill>
                          <a:latin typeface="Malgun Gothic"/>
                          <a:ea typeface="Malgun Gothic"/>
                          <a:cs typeface="Malgun Gothic"/>
                        </a:rPr>
                        <a:t>전기실 배치와 거리 검토</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공종별 XY·Z 범위 검사</a:t>
                      </a:r>
                    </a:p>
                    <a:p>
                      <a:r>
                        <a:rPr sz="1575" b="0">
                          <a:solidFill>
                            <a:srgbClr val="152A37"/>
                          </a:solidFill>
                          <a:latin typeface="Malgun Gothic"/>
                          <a:ea typeface="Malgun Gothic"/>
                          <a:cs typeface="Malgun Gothic"/>
                        </a:rPr>
                        <a:t>높이 구간과 제외 영역</a:t>
                      </a:r>
                    </a:p>
                    <a:p>
                      <a:r>
                        <a:rPr sz="1575" b="0">
                          <a:solidFill>
                            <a:srgbClr val="152A37"/>
                          </a:solidFill>
                          <a:latin typeface="Malgun Gothic"/>
                          <a:ea typeface="Malgun Gothic"/>
                          <a:cs typeface="Malgun Gothic"/>
                        </a:rPr>
                        <a:t>연결거리 비교</a:t>
                      </a:r>
                    </a:p>
                  </a:txBody>
                  <a:tcPr marL="91440" marR="91440" marT="45720" marB="45720" anchor="ctr">
                    <a:solidFill>
                      <a:srgbClr val="FFFFFF"/>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FAB 건설 업무 소개</a:t>
                      </a:r>
                    </a:p>
                    <a:p>
                      <a:r>
                        <a:rPr sz="1575" b="1">
                          <a:solidFill>
                            <a:srgbClr val="152A37"/>
                          </a:solidFill>
                          <a:latin typeface="Malgun Gothic"/>
                          <a:ea typeface="Malgun Gothic"/>
                          <a:cs typeface="Malgun Gothic"/>
                        </a:rPr>
                        <a:t>2019.12</a:t>
                      </a:r>
                    </a:p>
                    <a:p>
                      <a:r>
                        <a:rPr sz="1575" b="1">
                          <a:solidFill>
                            <a:srgbClr val="152A37"/>
                          </a:solidFill>
                          <a:latin typeface="Malgun Gothic"/>
                          <a:ea typeface="Malgun Gothic"/>
                          <a:cs typeface="Malgun Gothic"/>
                        </a:rPr>
                        <a:t>공식 직무 사례</a:t>
                      </a:r>
                    </a:p>
                  </a:txBody>
                  <a:tcPr marL="91440" marR="91440" marT="45720" marB="45720" anchor="ctr">
                    <a:solidFill>
                      <a:srgbClr val="EAF0F3"/>
                    </a:solidFill>
                  </a:tcPr>
                </a:tc>
                <a:tc>
                  <a:txBody>
                    <a:bodyPr lIns="133350" tIns="114300" rIns="133350" bIns="114300">
                      <a:noAutofit/>
                    </a:bodyPr>
                    <a:lstStyle/>
                    <a:p>
                      <a:r>
                        <a:rPr sz="1575" b="0">
                          <a:solidFill>
                            <a:srgbClr val="152A37"/>
                          </a:solidFill>
                          <a:latin typeface="Malgun Gothic"/>
                          <a:ea typeface="Malgun Gothic"/>
                          <a:cs typeface="Malgun Gothic"/>
                        </a:rPr>
                        <a:t>Layout·UT Matrix 변경</a:t>
                      </a:r>
                    </a:p>
                    <a:p>
                      <a:r>
                        <a:rPr sz="1575" b="0">
                          <a:solidFill>
                            <a:srgbClr val="152A37"/>
                          </a:solidFill>
                          <a:latin typeface="Malgun Gothic"/>
                          <a:ea typeface="Malgun Gothic"/>
                          <a:cs typeface="Malgun Gothic"/>
                        </a:rPr>
                        <a:t>공종 간 조정과 반복되는</a:t>
                      </a:r>
                    </a:p>
                    <a:p>
                      <a:r>
                        <a:rPr sz="1575" b="0">
                          <a:solidFill>
                            <a:srgbClr val="152A37"/>
                          </a:solidFill>
                          <a:latin typeface="Malgun Gothic"/>
                          <a:ea typeface="Malgun Gothic"/>
                          <a:cs typeface="Malgun Gothic"/>
                        </a:rPr>
                        <a:t>설계·구매·시공 협의</a:t>
                      </a:r>
                    </a:p>
                  </a:txBody>
                  <a:tcPr marL="91440" marR="91440" marT="45720" marB="45720" anchor="ctr">
                    <a:solidFill>
                      <a:srgbClr val="EAF0F3"/>
                    </a:solidFill>
                  </a:tcPr>
                </a:tc>
                <a:tc>
                  <a:txBody>
                    <a:bodyPr lIns="133350" tIns="114300" rIns="133350" bIns="114300">
                      <a:noAutofit/>
                    </a:bodyPr>
                    <a:lstStyle/>
                    <a:p>
                      <a:r>
                        <a:rPr sz="1575" b="0">
                          <a:solidFill>
                            <a:srgbClr val="152A37"/>
                          </a:solidFill>
                          <a:latin typeface="Malgun Gothic"/>
                          <a:ea typeface="Malgun Gothic"/>
                          <a:cs typeface="Malgun Gothic"/>
                        </a:rPr>
                        <a:t>샘플 UT POC 수요·용량</a:t>
                      </a:r>
                    </a:p>
                    <a:p>
                      <a:r>
                        <a:rPr sz="1575" b="0">
                          <a:solidFill>
                            <a:srgbClr val="152A37"/>
                          </a:solidFill>
                          <a:latin typeface="Malgun Gothic"/>
                          <a:ea typeface="Malgun Gothic"/>
                          <a:cs typeface="Malgun Gothic"/>
                        </a:rPr>
                        <a:t>개정 이력과 재검사 흐름</a:t>
                      </a:r>
                    </a:p>
                  </a:txBody>
                  <a:tcPr marL="91440" marR="91440" marT="45720" marB="45720" anchor="ctr">
                    <a:solidFill>
                      <a:srgbClr val="EAF0F3"/>
                    </a:solidFill>
                  </a:tcPr>
                </a:tc>
              </a:tr>
              <a:tr h="1082675">
                <a:tc>
                  <a:txBody>
                    <a:bodyPr lIns="133350" tIns="114300" rIns="133350" bIns="114300">
                      <a:noAutofit/>
                    </a:bodyPr>
                    <a:lstStyle/>
                    <a:p>
                      <a:r>
                        <a:rPr sz="1575" b="1">
                          <a:solidFill>
                            <a:srgbClr val="152A37"/>
                          </a:solidFill>
                          <a:latin typeface="Malgun Gothic"/>
                          <a:ea typeface="Malgun Gothic"/>
                          <a:cs typeface="Malgun Gothic"/>
                        </a:rPr>
                        <a:t>디지털 트윈</a:t>
                      </a:r>
                    </a:p>
                    <a:p>
                      <a:r>
                        <a:rPr sz="1575" b="1">
                          <a:solidFill>
                            <a:srgbClr val="152A37"/>
                          </a:solidFill>
                          <a:latin typeface="Malgun Gothic"/>
                          <a:ea typeface="Malgun Gothic"/>
                          <a:cs typeface="Malgun Gothic"/>
                        </a:rPr>
                        <a:t>2026.06 공식 발표</a:t>
                      </a:r>
                    </a:p>
                    <a:p>
                      <a:r>
                        <a:rPr sz="1575" b="1">
                          <a:solidFill>
                            <a:srgbClr val="152A37"/>
                          </a:solidFill>
                          <a:latin typeface="Malgun Gothic"/>
                          <a:ea typeface="Malgun Gothic"/>
                          <a:cs typeface="Malgun Gothic"/>
                        </a:rPr>
                        <a:t>PoC 완료·개발 계획</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2025 FAB PoC 완료 발표</a:t>
                      </a:r>
                    </a:p>
                    <a:p>
                      <a:r>
                        <a:rPr sz="1575" b="0">
                          <a:solidFill>
                            <a:srgbClr val="152A37"/>
                          </a:solidFill>
                          <a:latin typeface="Malgun Gothic"/>
                          <a:ea typeface="Malgun Gothic"/>
                          <a:cs typeface="Malgun Gothic"/>
                        </a:rPr>
                        <a:t>가상 배치·변경 시나리오</a:t>
                      </a:r>
                    </a:p>
                    <a:p>
                      <a:r>
                        <a:rPr sz="1575" b="0">
                          <a:solidFill>
                            <a:srgbClr val="152A37"/>
                          </a:solidFill>
                          <a:latin typeface="Malgun Gothic"/>
                          <a:ea typeface="Malgun Gothic"/>
                          <a:cs typeface="Malgun Gothic"/>
                        </a:rPr>
                        <a:t>NVIDIA 협력 개발 진행</a:t>
                      </a:r>
                    </a:p>
                  </a:txBody>
                  <a:tcPr marL="91440" marR="91440" marT="45720" marB="45720" anchor="ctr">
                    <a:solidFill>
                      <a:srgbClr val="FFFFFF"/>
                    </a:solidFill>
                  </a:tcPr>
                </a:tc>
                <a:tc>
                  <a:txBody>
                    <a:bodyPr lIns="133350" tIns="114300" rIns="133350" bIns="114300">
                      <a:noAutofit/>
                    </a:bodyPr>
                    <a:lstStyle/>
                    <a:p>
                      <a:r>
                        <a:rPr sz="1575" b="0">
                          <a:solidFill>
                            <a:srgbClr val="152A37"/>
                          </a:solidFill>
                          <a:latin typeface="Malgun Gothic"/>
                          <a:ea typeface="Malgun Gothic"/>
                          <a:cs typeface="Malgun Gothic"/>
                        </a:rPr>
                        <a:t>복수 후보를 사전 비교</a:t>
                      </a:r>
                    </a:p>
                    <a:p>
                      <a:r>
                        <a:rPr sz="1575" b="0">
                          <a:solidFill>
                            <a:srgbClr val="152A37"/>
                          </a:solidFill>
                          <a:latin typeface="Malgun Gothic"/>
                          <a:ea typeface="Malgun Gothic"/>
                          <a:cs typeface="Malgun Gothic"/>
                        </a:rPr>
                        <a:t>실제 공정 시뮬레이션은</a:t>
                      </a:r>
                    </a:p>
                    <a:p>
                      <a:r>
                        <a:rPr sz="1575" b="0">
                          <a:solidFill>
                            <a:srgbClr val="152A37"/>
                          </a:solidFill>
                          <a:latin typeface="Malgun Gothic"/>
                          <a:ea typeface="Malgun Gothic"/>
                          <a:cs typeface="Malgun Gothic"/>
                        </a:rPr>
                        <a:t>향후 별도 개발 범위</a:t>
                      </a:r>
                    </a:p>
                  </a:txBody>
                  <a:tcPr marL="91440" marR="91440" marT="45720" marB="45720" anchor="ctr">
                    <a:solidFill>
                      <a:srgbClr val="FFFFFF"/>
                    </a:solidFill>
                  </a:tcPr>
                </a:tc>
              </a:tr>
            </a:tbl>
          </a:graphicData>
        </a:graphic>
      </p:graphicFrame>
      <p:sp>
        <p:nvSpPr>
          <p:cNvPr id="6" name="출처: SK하이닉스 뉴스룸(2019·2021·2026), SK텔레콤 뉴스룸(2026).">
            <a:extLst xmlns:a="http://schemas.openxmlformats.org/drawingml/2006/main">
              <a:ext uri="{FF2B5EF4-FFF2-40B4-BE49-F238E27FC236}">
                <a16:creationId xmlns:a16="http://schemas.microsoft.com/office/drawing/2014/main" id="{EF95DB50-AB1C-43A5-A53C-25019DFA8948}"/>
              </a:ext>
            </a:extLst>
          </p:cNvPr>
          <p:cNvSpPr>
            <a:spLocks xmlns:a="http://schemas.openxmlformats.org/drawingml/2006/main" noGrp="1"/>
          </p:cNvSpPr>
          <p:nvPr/>
        </p:nvSpPr>
        <p:spPr>
          <a:xfrm xmlns:a="http://schemas.openxmlformats.org/drawingml/2006/main">
            <a:off x="609600" y="5972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776"/>
                </a:solidFill>
                <a:latin typeface="Malgun Gothic"/>
                <a:ea typeface="Malgun Gothic"/>
                <a:cs typeface="Malgun Gothic"/>
              </a:defRPr>
            </a:pPr>
            <a:r>
              <a:rPr sz="1425" b="0">
                <a:solidFill>
                  <a:srgbClr val="526776"/>
                </a:solidFill>
                <a:latin typeface="Malgun Gothic"/>
                <a:ea typeface="Malgun Gothic"/>
                <a:cs typeface="Malgun Gothic"/>
              </a:rPr>
              <a:t>출처: SK하이닉스 뉴스룸(2019·2021·2026), SK텔레콤 뉴스룸(2026). 회사별 상세 기준은 공개 확인 범위 밖입니다.</a:t>
            </a:r>
          </a:p>
        </p:txBody>
      </p:sp>
    </p:spTree>
    <p:extLst>
      <p:ext uri="{BB962C8B-B14F-4D97-AF65-F5344CB8AC3E}">
        <p14:creationId xmlns:p14="http://schemas.microsoft.com/office/powerpoint/2010/main" val="1761241467"/>
      </p:ext>
    </p:extLst>
  </p:cSld>
</p:sld>
</file>

<file path=ppt/slides/slide12.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7" name="내장 컴포짓 샘플의 검사 규칙">
            <a:extLst xmlns:a="http://schemas.openxmlformats.org/drawingml/2006/main">
              <a:ext uri="{FF2B5EF4-FFF2-40B4-BE49-F238E27FC236}">
                <a16:creationId xmlns:a16="http://schemas.microsoft.com/office/drawing/2014/main" id="{812FD653-52BC-44CE-AEFC-4865A45BC672}"/>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내장 컴포짓 샘플의 검사 규칙</a:t>
            </a:r>
          </a:p>
        </p:txBody>
      </p:sp>
      <p:sp>
        <p:nvSpPr>
          <p:cNvPr id="2" name="실제 CAD 객체 DB와 별도로 제공하는 예시 박스·UT 계산의 범위">
            <a:extLst xmlns:a="http://schemas.openxmlformats.org/drawingml/2006/main">
              <a:ext uri="{FF2B5EF4-FFF2-40B4-BE49-F238E27FC236}">
                <a16:creationId xmlns:a16="http://schemas.microsoft.com/office/drawing/2014/main" id="{BC9492E8-49B9-4594-B274-7C74B90FDC91}"/>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실제 CAD 객체 DB와 별도로 제공하는 예시 박스·UT 계산의 범위</a:t>
            </a:r>
          </a:p>
        </p:txBody>
      </p:sp>
      <p:sp>
        <p:nvSpPr>
          <p:cNvPr id="3" name="">
            <a:extLst xmlns:a="http://schemas.openxmlformats.org/drawingml/2006/main">
              <a:ext uri="{FF2B5EF4-FFF2-40B4-BE49-F238E27FC236}">
                <a16:creationId xmlns:a16="http://schemas.microsoft.com/office/drawing/2014/main" id="{E73CFF2A-5883-413D-9D92-97BC99886D69}"/>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2">
            <a:extLst xmlns:a="http://schemas.openxmlformats.org/drawingml/2006/main">
              <a:ext uri="{FF2B5EF4-FFF2-40B4-BE49-F238E27FC236}">
                <a16:creationId xmlns:a16="http://schemas.microsoft.com/office/drawing/2014/main" id="{1210BAF9-7A4A-4207-B289-A61E3A5465C1}"/>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12</a:t>
            </a:r>
          </a:p>
        </p:txBody>
      </p:sp>
      <p:graphicFrame>
        <p:nvGraphicFramePr>
          <p:cNvPr id="11" name=""/>
          <p:cNvGraphicFramePr/>
          <p:nvPr/>
        </p:nvGraphicFramePr>
        <p:xfrm>
          <a:off xmlns:a="http://schemas.openxmlformats.org/drawingml/2006/main" x="609600" y="2019300"/>
          <a:ext xmlns:a="http://schemas.openxmlformats.org/drawingml/2006/main" cx="10972800" cy="3733800"/>
        </p:xfrm>
        <a:graphic xmlns:a="http://schemas.openxmlformats.org/drawingml/2006/main">
          <a:graphicData uri="http://schemas.openxmlformats.org/drawingml/2006/table">
            <a:tbl>
              <a:tblPr firstRow="1" bandRow="0"/>
              <a:tblGrid>
                <a:gridCol w="1962150"/>
                <a:gridCol w="5067300"/>
                <a:gridCol w="3943350"/>
              </a:tblGrid>
              <a:tr h="523875">
                <a:tc>
                  <a:txBody>
                    <a:bodyPr lIns="133350" tIns="114300" rIns="133350" bIns="114300">
                      <a:noAutofit/>
                    </a:bodyPr>
                    <a:lstStyle/>
                    <a:p>
                      <a:r>
                        <a:rPr sz="1650" b="1">
                          <a:solidFill>
                            <a:srgbClr val="FFFFFF"/>
                          </a:solidFill>
                          <a:latin typeface="Malgun Gothic"/>
                          <a:ea typeface="Malgun Gothic"/>
                          <a:cs typeface="Malgun Gothic"/>
                        </a:rPr>
                        <a:t>구분</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현재 검사·비교 항목</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해석 범위</a:t>
                      </a:r>
                    </a:p>
                  </a:txBody>
                  <a:tcPr marL="91440" marR="91440" marT="45720" marB="45720" anchor="ctr">
                    <a:solidFill>
                      <a:srgbClr val="152A37"/>
                    </a:solidFill>
                  </a:tcPr>
                </a:tc>
              </a:tr>
              <a:tr h="802481">
                <a:tc>
                  <a:txBody>
                    <a:bodyPr lIns="133350" tIns="114300" rIns="133350" bIns="114300">
                      <a:noAutofit/>
                    </a:bodyPr>
                    <a:lstStyle/>
                    <a:p>
                      <a:r>
                        <a:rPr sz="1650" b="1">
                          <a:solidFill>
                            <a:srgbClr val="152A37"/>
                          </a:solidFill>
                          <a:latin typeface="Malgun Gothic"/>
                          <a:ea typeface="Malgun Gothic"/>
                          <a:cs typeface="Malgun Gothic"/>
                        </a:rPr>
                        <a:t>필수 조건</a:t>
                      </a:r>
                    </a:p>
                    <a:p>
                      <a:r>
                        <a:rPr sz="1650" b="1">
                          <a:solidFill>
                            <a:srgbClr val="152A37"/>
                          </a:solidFill>
                          <a:latin typeface="Malgun Gothic"/>
                          <a:ea typeface="Malgun Gothic"/>
                          <a:cs typeface="Malgun Gothic"/>
                        </a:rPr>
                        <a:t>형상·구역</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XY 겹침과 Z 높이 범위</a:t>
                      </a:r>
                    </a:p>
                    <a:p>
                      <a:r>
                        <a:rPr sz="1650" b="0">
                          <a:solidFill>
                            <a:srgbClr val="152A37"/>
                          </a:solidFill>
                          <a:latin typeface="Malgun Gothic"/>
                          <a:ea typeface="Malgun Gothic"/>
                          <a:cs typeface="Malgun Gothic"/>
                        </a:rPr>
                        <a:t>공종별 높이 구간, 제외 공간</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직사각형 박스 기반 검사</a:t>
                      </a:r>
                    </a:p>
                    <a:p>
                      <a:r>
                        <a:rPr sz="1650" b="0">
                          <a:solidFill>
                            <a:srgbClr val="152A37"/>
                          </a:solidFill>
                          <a:latin typeface="Malgun Gothic"/>
                          <a:ea typeface="Malgun Gothic"/>
                          <a:cs typeface="Malgun Gothic"/>
                        </a:rPr>
                        <a:t>BIM 솔리드 형상 검사는 미구현</a:t>
                      </a:r>
                    </a:p>
                  </a:txBody>
                  <a:tcPr marL="91440" marR="91440" marT="45720" marB="45720" anchor="ctr">
                    <a:solidFill>
                      <a:srgbClr val="FFFFFF"/>
                    </a:solidFill>
                  </a:tcPr>
                </a:tc>
              </a:tr>
              <a:tr h="802481">
                <a:tc>
                  <a:txBody>
                    <a:bodyPr lIns="133350" tIns="114300" rIns="133350" bIns="114300">
                      <a:noAutofit/>
                    </a:bodyPr>
                    <a:lstStyle/>
                    <a:p>
                      <a:r>
                        <a:rPr sz="1650" b="1">
                          <a:solidFill>
                            <a:srgbClr val="152A37"/>
                          </a:solidFill>
                          <a:latin typeface="Malgun Gothic"/>
                          <a:ea typeface="Malgun Gothic"/>
                          <a:cs typeface="Malgun Gothic"/>
                        </a:rPr>
                        <a:t>필수 조건</a:t>
                      </a:r>
                    </a:p>
                    <a:p>
                      <a:r>
                        <a:rPr sz="1650" b="1">
                          <a:solidFill>
                            <a:srgbClr val="152A37"/>
                          </a:solidFill>
                          <a:latin typeface="Malgun Gothic"/>
                          <a:ea typeface="Malgun Gothic"/>
                          <a:cs typeface="Malgun Gothic"/>
                        </a:rPr>
                        <a:t>변경 제한</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고정·Hold 대상의 위치 유지</a:t>
                      </a:r>
                    </a:p>
                    <a:p>
                      <a:r>
                        <a:rPr sz="1650" b="0">
                          <a:solidFill>
                            <a:srgbClr val="152A37"/>
                          </a:solidFill>
                          <a:latin typeface="Malgun Gothic"/>
                          <a:ea typeface="Malgun Gothic"/>
                          <a:cs typeface="Malgun Gothic"/>
                        </a:rPr>
                        <a:t>경계·이격 등 지정 조건</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프로젝트 샘플 기준 사용</a:t>
                      </a:r>
                    </a:p>
                    <a:p>
                      <a:r>
                        <a:rPr sz="1650" b="0">
                          <a:solidFill>
                            <a:srgbClr val="152A37"/>
                          </a:solidFill>
                          <a:latin typeface="Malgun Gothic"/>
                          <a:ea typeface="Malgun Gothic"/>
                          <a:cs typeface="Malgun Gothic"/>
                        </a:rPr>
                        <a:t>현장 규정 검증은 별도</a:t>
                      </a:r>
                    </a:p>
                  </a:txBody>
                  <a:tcPr marL="91440" marR="91440" marT="45720" marB="45720" anchor="ctr">
                    <a:solidFill>
                      <a:srgbClr val="EAF0F3"/>
                    </a:solidFill>
                  </a:tcPr>
                </a:tc>
              </a:tr>
              <a:tr h="802481">
                <a:tc>
                  <a:txBody>
                    <a:bodyPr lIns="133350" tIns="114300" rIns="133350" bIns="114300">
                      <a:noAutofit/>
                    </a:bodyPr>
                    <a:lstStyle/>
                    <a:p>
                      <a:r>
                        <a:rPr sz="1650" b="1">
                          <a:solidFill>
                            <a:srgbClr val="152A37"/>
                          </a:solidFill>
                          <a:latin typeface="Malgun Gothic"/>
                          <a:ea typeface="Malgun Gothic"/>
                          <a:cs typeface="Malgun Gothic"/>
                        </a:rPr>
                        <a:t>UT 연결 검사</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설비 POC와 공급 지점 연결</a:t>
                      </a:r>
                    </a:p>
                    <a:p>
                      <a:r>
                        <a:rPr sz="1650" b="0">
                          <a:solidFill>
                            <a:srgbClr val="152A37"/>
                          </a:solidFill>
                          <a:latin typeface="Malgun Gothic"/>
                          <a:ea typeface="Malgun Gothic"/>
                          <a:cs typeface="Malgun Gothic"/>
                        </a:rPr>
                        <a:t>샘플 수요와 용량의 적합성</a:t>
                      </a:r>
                    </a:p>
                  </a:txBody>
                  <a:tcPr marL="91440" marR="91440" marT="45720" marB="45720" anchor="ctr">
                    <a:solidFill>
                      <a:srgbClr val="FFFFFF"/>
                    </a:solidFill>
                  </a:tcPr>
                </a:tc>
                <a:tc>
                  <a:txBody>
                    <a:bodyPr lIns="133350" tIns="114300" rIns="133350" bIns="114300">
                      <a:noAutofit/>
                    </a:bodyPr>
                    <a:lstStyle/>
                    <a:p>
                      <a:r>
                        <a:rPr sz="1650" b="0">
                          <a:solidFill>
                            <a:srgbClr val="152A37"/>
                          </a:solidFill>
                          <a:latin typeface="Malgun Gothic"/>
                          <a:ea typeface="Malgun Gothic"/>
                          <a:cs typeface="Malgun Gothic"/>
                        </a:rPr>
                        <a:t>수리·전기 계산과 실제 경로</a:t>
                      </a:r>
                    </a:p>
                    <a:p>
                      <a:r>
                        <a:rPr sz="1650" b="0">
                          <a:solidFill>
                            <a:srgbClr val="152A37"/>
                          </a:solidFill>
                          <a:latin typeface="Malgun Gothic"/>
                          <a:ea typeface="Malgun Gothic"/>
                          <a:cs typeface="Malgun Gothic"/>
                        </a:rPr>
                        <a:t>자동 생성은 미구현</a:t>
                      </a:r>
                    </a:p>
                  </a:txBody>
                  <a:tcPr marL="91440" marR="91440" marT="45720" marB="45720" anchor="ctr">
                    <a:solidFill>
                      <a:srgbClr val="FFFFFF"/>
                    </a:solidFill>
                  </a:tcPr>
                </a:tc>
              </a:tr>
              <a:tr h="802481">
                <a:tc>
                  <a:txBody>
                    <a:bodyPr lIns="133350" tIns="114300" rIns="133350" bIns="114300">
                      <a:noAutofit/>
                    </a:bodyPr>
                    <a:lstStyle/>
                    <a:p>
                      <a:r>
                        <a:rPr sz="1650" b="1">
                          <a:solidFill>
                            <a:srgbClr val="152A37"/>
                          </a:solidFill>
                          <a:latin typeface="Malgun Gothic"/>
                          <a:ea typeface="Malgun Gothic"/>
                          <a:cs typeface="Malgun Gothic"/>
                        </a:rPr>
                        <a:t>선호 목표</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이동 최소 후보와 연결거리 우선 후보</a:t>
                      </a:r>
                    </a:p>
                    <a:p>
                      <a:r>
                        <a:rPr sz="1650" b="0">
                          <a:solidFill>
                            <a:srgbClr val="152A37"/>
                          </a:solidFill>
                          <a:latin typeface="Malgun Gothic"/>
                          <a:ea typeface="Malgun Gothic"/>
                          <a:cs typeface="Malgun Gothic"/>
                        </a:rPr>
                        <a:t>필수 조건을 통과한 후보만 적용</a:t>
                      </a:r>
                    </a:p>
                  </a:txBody>
                  <a:tcPr marL="91440" marR="91440" marT="45720" marB="45720" anchor="ctr">
                    <a:solidFill>
                      <a:srgbClr val="EAF0F3"/>
                    </a:solidFill>
                  </a:tcPr>
                </a:tc>
                <a:tc>
                  <a:txBody>
                    <a:bodyPr lIns="133350" tIns="114300" rIns="133350" bIns="114300">
                      <a:noAutofit/>
                    </a:bodyPr>
                    <a:lstStyle/>
                    <a:p>
                      <a:r>
                        <a:rPr sz="1650" b="0">
                          <a:solidFill>
                            <a:srgbClr val="152A37"/>
                          </a:solidFill>
                          <a:latin typeface="Malgun Gothic"/>
                          <a:ea typeface="Malgun Gothic"/>
                          <a:cs typeface="Malgun Gothic"/>
                        </a:rPr>
                        <a:t>가중 비용으로 후보 순위 산정</a:t>
                      </a:r>
                    </a:p>
                    <a:p>
                      <a:r>
                        <a:rPr sz="1650" b="0">
                          <a:solidFill>
                            <a:srgbClr val="152A37"/>
                          </a:solidFill>
                          <a:latin typeface="Malgun Gothic"/>
                          <a:ea typeface="Malgun Gothic"/>
                          <a:cs typeface="Malgun Gothic"/>
                        </a:rPr>
                        <a:t>전역 최적해 보장 없음</a:t>
                      </a:r>
                    </a:p>
                  </a:txBody>
                  <a:tcPr marL="91440" marR="91440" marT="45720" marB="45720" anchor="ctr">
                    <a:solidFill>
                      <a:srgbClr val="EAF0F3"/>
                    </a:solidFill>
                  </a:tcPr>
                </a:tc>
              </a:tr>
            </a:tbl>
          </a:graphicData>
        </a:graphic>
      </p:graphicFrame>
      <p:sp>
        <p:nvSpPr>
          <p:cNvPr id="6" name="배관·덕트·케이블 트레이 6개 박스를 사용하는 프로젝트 예시입니다. 회사별 설계 수치는">
            <a:extLst xmlns:a="http://schemas.openxmlformats.org/drawingml/2006/main">
              <a:ext uri="{FF2B5EF4-FFF2-40B4-BE49-F238E27FC236}">
                <a16:creationId xmlns:a16="http://schemas.microsoft.com/office/drawing/2014/main" id="{11305B7F-87CB-4C86-B6AE-D9A951ACA7B3}"/>
              </a:ext>
            </a:extLst>
          </p:cNvPr>
          <p:cNvSpPr>
            <a:spLocks xmlns:a="http://schemas.openxmlformats.org/drawingml/2006/main" noGrp="1"/>
          </p:cNvSpPr>
          <p:nvPr/>
        </p:nvSpPr>
        <p:spPr>
          <a:xfrm xmlns:a="http://schemas.openxmlformats.org/drawingml/2006/main">
            <a:off x="609600" y="59626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6"/>
                </a:solidFill>
                <a:latin typeface="Malgun Gothic"/>
                <a:ea typeface="Malgun Gothic"/>
                <a:cs typeface="Malgun Gothic"/>
              </a:defRPr>
            </a:pPr>
            <a:r>
              <a:rPr sz="1500" b="0">
                <a:solidFill>
                  <a:srgbClr val="526776"/>
                </a:solidFill>
                <a:latin typeface="Malgun Gothic"/>
                <a:ea typeface="Malgun Gothic"/>
                <a:cs typeface="Malgun Gothic"/>
              </a:rPr>
              <a:t>배관·덕트·케이블 트레이 6개 박스를 사용하는 프로젝트 예시입니다. 회사별 설계 수치는 사용하지 않습니다.</a:t>
            </a:r>
          </a:p>
        </p:txBody>
      </p:sp>
    </p:spTree>
    <p:extLst>
      <p:ext uri="{BB962C8B-B14F-4D97-AF65-F5344CB8AC3E}">
        <p14:creationId xmlns:p14="http://schemas.microsoft.com/office/powerpoint/2010/main" val="780931711"/>
      </p:ext>
    </p:extLst>
  </p:cSld>
</p:sld>
</file>

<file path=ppt/slides/slide13.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13" name="내장 설비·컴포짓 샘플 결과">
            <a:extLst xmlns:a="http://schemas.openxmlformats.org/drawingml/2006/main">
              <a:ext uri="{FF2B5EF4-FFF2-40B4-BE49-F238E27FC236}">
                <a16:creationId xmlns:a16="http://schemas.microsoft.com/office/drawing/2014/main" id="{C2CFF6D0-AAFF-40FB-A326-1B498F080E0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내장 설비·컴포짓 샘플 결과</a:t>
            </a:r>
          </a:p>
        </p:txBody>
      </p:sp>
      <p:sp>
        <p:nvSpPr>
          <p:cNvPr id="2" name="60 × 36 m 설비 공간과 유틸리티 박스 6개를 각각 검사">
            <a:extLst xmlns:a="http://schemas.openxmlformats.org/drawingml/2006/main">
              <a:ext uri="{FF2B5EF4-FFF2-40B4-BE49-F238E27FC236}">
                <a16:creationId xmlns:a16="http://schemas.microsoft.com/office/drawing/2014/main" id="{0E5A8C29-A2AD-436F-BE27-2BE2B0142A23}"/>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60 × 36 m 설비 공간과 유틸리티 박스 6개를 각각 검사</a:t>
            </a:r>
          </a:p>
        </p:txBody>
      </p:sp>
      <p:sp>
        <p:nvSpPr>
          <p:cNvPr id="3" name="">
            <a:extLst xmlns:a="http://schemas.openxmlformats.org/drawingml/2006/main">
              <a:ext uri="{FF2B5EF4-FFF2-40B4-BE49-F238E27FC236}">
                <a16:creationId xmlns:a16="http://schemas.microsoft.com/office/drawing/2014/main" id="{7165620B-AEDE-464A-ADB7-EC0E3DCE1D1A}"/>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3">
            <a:extLst xmlns:a="http://schemas.openxmlformats.org/drawingml/2006/main">
              <a:ext uri="{FF2B5EF4-FFF2-40B4-BE49-F238E27FC236}">
                <a16:creationId xmlns:a16="http://schemas.microsoft.com/office/drawing/2014/main" id="{C0A57E92-FA42-492E-9CEA-BE4D37237B60}"/>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13</a:t>
            </a:r>
          </a:p>
        </p:txBody>
      </p:sp>
      <p:sp>
        <p:nvSpPr>
          <p:cNvPr id="5" name="설비 8대, 이격 1.0 m">
            <a:extLst xmlns:a="http://schemas.openxmlformats.org/drawingml/2006/main">
              <a:ext uri="{FF2B5EF4-FFF2-40B4-BE49-F238E27FC236}">
                <a16:creationId xmlns:a16="http://schemas.microsoft.com/office/drawing/2014/main" id="{7A2F8CB9-9110-4E21-B881-DC3A0C12278F}"/>
              </a:ext>
            </a:extLst>
          </p:cNvPr>
          <p:cNvSpPr>
            <a:spLocks xmlns:a="http://schemas.openxmlformats.org/drawingml/2006/main" noGrp="1"/>
          </p:cNvSpPr>
          <p:nvPr/>
        </p:nvSpPr>
        <p:spPr>
          <a:xfrm xmlns:a="http://schemas.openxmlformats.org/drawingml/2006/main">
            <a:off x="609600" y="20955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2A37"/>
                </a:solidFill>
                <a:latin typeface="Malgun Gothic"/>
                <a:ea typeface="Malgun Gothic"/>
                <a:cs typeface="Malgun Gothic"/>
              </a:defRPr>
            </a:pPr>
            <a:r>
              <a:rPr sz="2025" b="1">
                <a:solidFill>
                  <a:srgbClr val="152A37"/>
                </a:solidFill>
                <a:latin typeface="Malgun Gothic"/>
                <a:ea typeface="Malgun Gothic"/>
                <a:cs typeface="Malgun Gothic"/>
              </a:rPr>
              <a:t>설비 8대, 이격 1.0 m</a:t>
            </a:r>
          </a:p>
        </p:txBody>
      </p:sp>
      <p:sp>
        <p:nvSpPr>
          <p:cNvPr id="6" name="컴포짓 후보 비교">
            <a:extLst xmlns:a="http://schemas.openxmlformats.org/drawingml/2006/main">
              <a:ext uri="{FF2B5EF4-FFF2-40B4-BE49-F238E27FC236}">
                <a16:creationId xmlns:a16="http://schemas.microsoft.com/office/drawing/2014/main" id="{B4E126BA-19BD-490E-BD40-88D0E92CA199}"/>
              </a:ext>
            </a:extLst>
          </p:cNvPr>
          <p:cNvSpPr>
            <a:spLocks xmlns:a="http://schemas.openxmlformats.org/drawingml/2006/main" noGrp="1"/>
          </p:cNvSpPr>
          <p:nvPr/>
        </p:nvSpPr>
        <p:spPr>
          <a:xfrm xmlns:a="http://schemas.openxmlformats.org/drawingml/2006/main">
            <a:off x="7486650" y="20955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2A37"/>
                </a:solidFill>
                <a:latin typeface="Malgun Gothic"/>
                <a:ea typeface="Malgun Gothic"/>
                <a:cs typeface="Malgun Gothic"/>
              </a:defRPr>
            </a:pPr>
            <a:r>
              <a:rPr sz="2025" b="1">
                <a:solidFill>
                  <a:srgbClr val="152A37"/>
                </a:solidFill>
                <a:latin typeface="Malgun Gothic"/>
                <a:ea typeface="Malgun Gothic"/>
                <a:cs typeface="Malgun Gothic"/>
              </a:rPr>
              <a:t>컴포짓 후보 비교</a:t>
            </a:r>
          </a:p>
        </p:txBody>
      </p:sp>
      <p:graphicFrame>
        <p:nvGraphicFramePr>
          <p:cNvPr id="19" name="Chart"/>
          <p:cNvGraphicFramePr/>
          <p:nvPr/>
        </p:nvGraphicFramePr>
        <p:xfrm>
          <a:off xmlns:a="http://schemas.openxmlformats.org/drawingml/2006/main" x="590550" y="2647950"/>
          <a:ext xmlns:a="http://schemas.openxmlformats.org/drawingml/2006/main" cx="6172200" cy="2619375"/>
        </p:xfrm>
        <a:graphic xmlns:a="http://schemas.openxmlformats.org/drawingml/2006/main">
          <a:graphicData uri="http://schemas.openxmlformats.org/drawingml/2006/chart">
            <c:chart xmlns:r="http://schemas.openxmlformats.org/officeDocument/2006/relationships" xmlns:c="http://schemas.openxmlformats.org/drawingml/2006/chart" r:id="R5679ee356fdd4923"/>
          </a:graphicData>
        </a:graphic>
      </p:graphicFrame>
      <p:graphicFrame>
        <p:nvGraphicFramePr>
          <p:cNvPr id="20" name=""/>
          <p:cNvGraphicFramePr/>
          <p:nvPr/>
        </p:nvGraphicFramePr>
        <p:xfrm>
          <a:off xmlns:a="http://schemas.openxmlformats.org/drawingml/2006/main" x="7486650" y="2619375"/>
          <a:ext xmlns:a="http://schemas.openxmlformats.org/drawingml/2006/main" cx="4095750" cy="1857375"/>
        </p:xfrm>
        <a:graphic xmlns:a="http://schemas.openxmlformats.org/drawingml/2006/main">
          <a:graphicData uri="http://schemas.openxmlformats.org/drawingml/2006/table">
            <a:tbl>
              <a:tblPr firstRow="1" bandRow="0"/>
              <a:tblGrid>
                <a:gridCol w="1695450"/>
                <a:gridCol w="1200150"/>
                <a:gridCol w="1200150"/>
              </a:tblGrid>
              <a:tr h="523875">
                <a:tc>
                  <a:txBody>
                    <a:bodyPr lIns="133350" tIns="114300" rIns="133350" bIns="114300">
                      <a:noAutofit/>
                    </a:bodyPr>
                    <a:lstStyle/>
                    <a:p>
                      <a:r>
                        <a:rPr sz="1650" b="1">
                          <a:solidFill>
                            <a:srgbClr val="FFFFFF"/>
                          </a:solidFill>
                          <a:latin typeface="Malgun Gothic"/>
                          <a:ea typeface="Malgun Gothic"/>
                          <a:cs typeface="Malgun Gothic"/>
                        </a:rPr>
                        <a:t>후보</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이동량</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POC 거리</a:t>
                      </a:r>
                    </a:p>
                  </a:txBody>
                  <a:tcPr marL="91440" marR="91440" marT="45720" marB="45720" anchor="ctr">
                    <a:solidFill>
                      <a:srgbClr val="152A37"/>
                    </a:solidFill>
                  </a:tcPr>
                </a:tc>
              </a:tr>
              <a:tr h="666750">
                <a:tc>
                  <a:txBody>
                    <a:bodyPr lIns="133350" tIns="114300" rIns="133350" bIns="114300">
                      <a:noAutofit/>
                    </a:bodyPr>
                    <a:lstStyle/>
                    <a:p>
                      <a:r>
                        <a:rPr sz="1500" b="1">
                          <a:solidFill>
                            <a:srgbClr val="152A37"/>
                          </a:solidFill>
                          <a:latin typeface="Malgun Gothic"/>
                          <a:ea typeface="Malgun Gothic"/>
                          <a:cs typeface="Malgun Gothic"/>
                        </a:rPr>
                        <a:t>이동 최소</a:t>
                      </a:r>
                    </a:p>
                  </a:txBody>
                  <a:tcPr marL="91440" marR="91440" marT="45720" marB="45720" anchor="ctr">
                    <a:solidFill>
                      <a:srgbClr val="FFFFFF"/>
                    </a:solidFill>
                  </a:tcPr>
                </a:tc>
                <a:tc>
                  <a:txBody>
                    <a:bodyPr lIns="133350" tIns="114300" rIns="133350" bIns="114300">
                      <a:noAutofit/>
                    </a:bodyPr>
                    <a:lstStyle/>
                    <a:p>
                      <a:r>
                        <a:rPr sz="1500" b="0">
                          <a:solidFill>
                            <a:srgbClr val="152A37"/>
                          </a:solidFill>
                          <a:latin typeface="Malgun Gothic"/>
                          <a:ea typeface="Malgun Gothic"/>
                          <a:cs typeface="Malgun Gothic"/>
                        </a:rPr>
                        <a:t>4.7 m</a:t>
                      </a:r>
                    </a:p>
                  </a:txBody>
                  <a:tcPr marL="91440" marR="91440" marT="45720" marB="45720" anchor="ctr">
                    <a:solidFill>
                      <a:srgbClr val="FFFFFF"/>
                    </a:solidFill>
                  </a:tcPr>
                </a:tc>
                <a:tc>
                  <a:txBody>
                    <a:bodyPr lIns="133350" tIns="114300" rIns="133350" bIns="114300">
                      <a:noAutofit/>
                    </a:bodyPr>
                    <a:lstStyle/>
                    <a:p>
                      <a:r>
                        <a:rPr sz="1500" b="0">
                          <a:solidFill>
                            <a:srgbClr val="152A37"/>
                          </a:solidFill>
                          <a:latin typeface="Malgun Gothic"/>
                          <a:ea typeface="Malgun Gothic"/>
                          <a:cs typeface="Malgun Gothic"/>
                        </a:rPr>
                        <a:t>98.2 m</a:t>
                      </a:r>
                    </a:p>
                  </a:txBody>
                  <a:tcPr marL="91440" marR="91440" marT="45720" marB="45720" anchor="ctr">
                    <a:solidFill>
                      <a:srgbClr val="FFFFFF"/>
                    </a:solidFill>
                  </a:tcPr>
                </a:tc>
              </a:tr>
              <a:tr h="666750">
                <a:tc>
                  <a:txBody>
                    <a:bodyPr lIns="133350" tIns="114300" rIns="133350" bIns="114300">
                      <a:noAutofit/>
                    </a:bodyPr>
                    <a:lstStyle/>
                    <a:p>
                      <a:r>
                        <a:rPr sz="1500" b="1">
                          <a:solidFill>
                            <a:srgbClr val="152A37"/>
                          </a:solidFill>
                          <a:latin typeface="Malgun Gothic"/>
                          <a:ea typeface="Malgun Gothic"/>
                          <a:cs typeface="Malgun Gothic"/>
                        </a:rPr>
                        <a:t>연결거리 우선</a:t>
                      </a:r>
                    </a:p>
                  </a:txBody>
                  <a:tcPr marL="91440" marR="91440" marT="45720" marB="45720" anchor="ctr">
                    <a:solidFill>
                      <a:srgbClr val="EAF0F3"/>
                    </a:solidFill>
                  </a:tcPr>
                </a:tc>
                <a:tc>
                  <a:txBody>
                    <a:bodyPr lIns="133350" tIns="114300" rIns="133350" bIns="114300">
                      <a:noAutofit/>
                    </a:bodyPr>
                    <a:lstStyle/>
                    <a:p>
                      <a:r>
                        <a:rPr sz="1500" b="0">
                          <a:solidFill>
                            <a:srgbClr val="152A37"/>
                          </a:solidFill>
                          <a:latin typeface="Malgun Gothic"/>
                          <a:ea typeface="Malgun Gothic"/>
                          <a:cs typeface="Malgun Gothic"/>
                        </a:rPr>
                        <a:t>55.5 m</a:t>
                      </a:r>
                    </a:p>
                  </a:txBody>
                  <a:tcPr marL="91440" marR="91440" marT="45720" marB="45720" anchor="ctr">
                    <a:solidFill>
                      <a:srgbClr val="EAF0F3"/>
                    </a:solidFill>
                  </a:tcPr>
                </a:tc>
                <a:tc>
                  <a:txBody>
                    <a:bodyPr lIns="133350" tIns="114300" rIns="133350" bIns="114300">
                      <a:noAutofit/>
                    </a:bodyPr>
                    <a:lstStyle/>
                    <a:p>
                      <a:r>
                        <a:rPr sz="1500" b="0">
                          <a:solidFill>
                            <a:srgbClr val="152A37"/>
                          </a:solidFill>
                          <a:latin typeface="Malgun Gothic"/>
                          <a:ea typeface="Malgun Gothic"/>
                          <a:cs typeface="Malgun Gothic"/>
                        </a:rPr>
                        <a:t>29.9 m</a:t>
                      </a:r>
                    </a:p>
                  </a:txBody>
                  <a:tcPr marL="91440" marR="91440" marT="45720" marB="45720" anchor="ctr">
                    <a:solidFill>
                      <a:srgbClr val="EAF0F3"/>
                    </a:solidFill>
                  </a:tcPr>
                </a:tc>
              </a:tr>
            </a:tbl>
          </a:graphicData>
        </a:graphic>
      </p:graphicFrame>
      <p:sp>
        <p:nvSpPr>
          <p:cNvPr id="9" name="초기 위반 8건, 두 후보 모두 0건">
            <a:extLst xmlns:a="http://schemas.openxmlformats.org/drawingml/2006/main">
              <a:ext uri="{FF2B5EF4-FFF2-40B4-BE49-F238E27FC236}">
                <a16:creationId xmlns:a16="http://schemas.microsoft.com/office/drawing/2014/main" id="{0E966C41-DE1D-408E-9D96-93D672EA8F7B}"/>
              </a:ext>
            </a:extLst>
          </p:cNvPr>
          <p:cNvSpPr>
            <a:spLocks xmlns:a="http://schemas.openxmlformats.org/drawingml/2006/main" noGrp="1"/>
          </p:cNvSpPr>
          <p:nvPr/>
        </p:nvSpPr>
        <p:spPr>
          <a:xfrm xmlns:a="http://schemas.openxmlformats.org/drawingml/2006/main">
            <a:off x="7486650" y="4705350"/>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52A37"/>
                </a:solidFill>
                <a:latin typeface="Malgun Gothic"/>
                <a:ea typeface="Malgun Gothic"/>
                <a:cs typeface="Malgun Gothic"/>
              </a:defRPr>
            </a:pPr>
            <a:r>
              <a:rPr sz="1575" b="0">
                <a:solidFill>
                  <a:srgbClr val="152A37"/>
                </a:solidFill>
                <a:latin typeface="Malgun Gothic"/>
                <a:ea typeface="Malgun Gothic"/>
                <a:cs typeface="Malgun Gothic"/>
              </a:rPr>
              <a:t>초기 위반 8건, 두 후보 모두 0건</a:t>
            </a:r>
          </a:p>
          <a:p xmlns:a="http://schemas.openxmlformats.org/drawingml/2006/main">
            <a:pPr algn="l">
              <a:defRPr sz="1575" b="0">
                <a:solidFill>
                  <a:srgbClr val="152A37"/>
                </a:solidFill>
                <a:latin typeface="Malgun Gothic"/>
                <a:ea typeface="Malgun Gothic"/>
                <a:cs typeface="Malgun Gothic"/>
              </a:defRPr>
            </a:pPr>
            <a:r>
              <a:rPr sz="1575" b="0">
                <a:solidFill>
                  <a:srgbClr val="152A37"/>
                </a:solidFill>
                <a:latin typeface="Malgun Gothic"/>
                <a:ea typeface="Malgun Gothic"/>
                <a:cs typeface="Malgun Gothic"/>
              </a:rPr>
              <a:t>이동 객체 4개·5개, 고정 객체 유지</a:t>
            </a:r>
          </a:p>
        </p:txBody>
      </p:sp>
      <p:sp>
        <p:nvSpPr>
          <p:cNvPr id="10" name="설비 4대 이동, 전체 조건 재검사">
            <a:extLst xmlns:a="http://schemas.openxmlformats.org/drawingml/2006/main">
              <a:ext uri="{FF2B5EF4-FFF2-40B4-BE49-F238E27FC236}">
                <a16:creationId xmlns:a16="http://schemas.microsoft.com/office/drawing/2014/main" id="{D7F4A70E-00E5-4916-8717-76A46CB4540E}"/>
              </a:ext>
            </a:extLst>
          </p:cNvPr>
          <p:cNvSpPr>
            <a:spLocks xmlns:a="http://schemas.openxmlformats.org/drawingml/2006/main" noGrp="1"/>
          </p:cNvSpPr>
          <p:nvPr/>
        </p:nvSpPr>
        <p:spPr>
          <a:xfrm xmlns:a="http://schemas.openxmlformats.org/drawingml/2006/main">
            <a:off x="609600" y="5457825"/>
            <a:ext cx="615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설비 4대 이동, 전체 조건 재검사</a:t>
            </a:r>
          </a:p>
        </p:txBody>
      </p:sp>
      <p:sp>
        <p:nvSpPr>
          <p:cNvPr id="11" name="POC 거리: 박스까지 맨해튼 거리 합계">
            <a:extLst xmlns:a="http://schemas.openxmlformats.org/drawingml/2006/main">
              <a:ext uri="{FF2B5EF4-FFF2-40B4-BE49-F238E27FC236}">
                <a16:creationId xmlns:a16="http://schemas.microsoft.com/office/drawing/2014/main" id="{BD5EC9F1-96F7-42CF-B0E4-0F16AABE9AC4}"/>
              </a:ext>
            </a:extLst>
          </p:cNvPr>
          <p:cNvSpPr>
            <a:spLocks xmlns:a="http://schemas.openxmlformats.org/drawingml/2006/main" noGrp="1"/>
          </p:cNvSpPr>
          <p:nvPr/>
        </p:nvSpPr>
        <p:spPr>
          <a:xfrm xmlns:a="http://schemas.openxmlformats.org/drawingml/2006/main">
            <a:off x="7486650" y="54483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6"/>
                </a:solidFill>
                <a:latin typeface="Malgun Gothic"/>
                <a:ea typeface="Malgun Gothic"/>
                <a:cs typeface="Malgun Gothic"/>
              </a:defRPr>
            </a:pPr>
            <a:r>
              <a:rPr sz="1500" b="0">
                <a:solidFill>
                  <a:srgbClr val="526776"/>
                </a:solidFill>
                <a:latin typeface="Malgun Gothic"/>
                <a:ea typeface="Malgun Gothic"/>
                <a:cs typeface="Malgun Gothic"/>
              </a:rPr>
              <a:t>POC 거리: 박스까지 맨해튼 거리 합계</a:t>
            </a:r>
          </a:p>
          <a:p xmlns:a="http://schemas.openxmlformats.org/drawingml/2006/main">
            <a:pPr algn="l">
              <a:defRPr sz="1500" b="0">
                <a:solidFill>
                  <a:srgbClr val="526776"/>
                </a:solidFill>
                <a:latin typeface="Malgun Gothic"/>
                <a:ea typeface="Malgun Gothic"/>
                <a:cs typeface="Malgun Gothic"/>
              </a:defRPr>
            </a:pPr>
            <a:r>
              <a:rPr sz="1500" b="0">
                <a:solidFill>
                  <a:srgbClr val="526776"/>
                </a:solidFill>
                <a:latin typeface="Malgun Gothic"/>
                <a:ea typeface="Malgun Gothic"/>
                <a:cs typeface="Malgun Gothic"/>
              </a:rPr>
              <a:t>실제 경로 길이 계산은 미구현</a:t>
            </a:r>
          </a:p>
        </p:txBody>
      </p:sp>
      <p:sp>
        <p:nvSpPr>
          <p:cNvPr id="12" name="프로젝트 예시의 실행 결과입니다. 실제 DWG 성능이나 회사별 설계 기준을 의미하지 않">
            <a:extLst xmlns:a="http://schemas.openxmlformats.org/drawingml/2006/main">
              <a:ext uri="{FF2B5EF4-FFF2-40B4-BE49-F238E27FC236}">
                <a16:creationId xmlns:a16="http://schemas.microsoft.com/office/drawing/2014/main" id="{A20C7F75-C9E8-42C6-A8DA-522E6447C96F}"/>
              </a:ext>
            </a:extLst>
          </p:cNvPr>
          <p:cNvSpPr>
            <a:spLocks xmlns:a="http://schemas.openxmlformats.org/drawingml/2006/main" noGrp="1"/>
          </p:cNvSpPr>
          <p:nvPr/>
        </p:nvSpPr>
        <p:spPr>
          <a:xfrm xmlns:a="http://schemas.openxmlformats.org/drawingml/2006/main">
            <a:off x="609600" y="61055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6"/>
                </a:solidFill>
                <a:latin typeface="Malgun Gothic"/>
                <a:ea typeface="Malgun Gothic"/>
                <a:cs typeface="Malgun Gothic"/>
              </a:defRPr>
            </a:pPr>
            <a:r>
              <a:rPr sz="1500" b="0">
                <a:solidFill>
                  <a:srgbClr val="526776"/>
                </a:solidFill>
                <a:latin typeface="Malgun Gothic"/>
                <a:ea typeface="Malgun Gothic"/>
                <a:cs typeface="Malgun Gothic"/>
              </a:rPr>
              <a:t>프로젝트 예시의 실행 결과입니다. 실제 DWG 성능이나 회사별 설계 기준을 의미하지 않습니다.</a:t>
            </a:r>
          </a:p>
        </p:txBody>
      </p:sp>
    </p:spTree>
    <p:extLst>
      <p:ext uri="{BB962C8B-B14F-4D97-AF65-F5344CB8AC3E}">
        <p14:creationId xmlns:p14="http://schemas.microsoft.com/office/powerpoint/2010/main" val="64217995"/>
      </p:ext>
    </p:extLst>
  </p:cSld>
</p:sld>
</file>

<file path=ppt/slides/slide14.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27" name="DWG 기반 업무 흐름">
            <a:extLst xmlns:a="http://schemas.openxmlformats.org/drawingml/2006/main">
              <a:ext uri="{FF2B5EF4-FFF2-40B4-BE49-F238E27FC236}">
                <a16:creationId xmlns:a16="http://schemas.microsoft.com/office/drawing/2014/main" id="{877DD7A1-602B-4C79-87B6-F41141BD3D09}"/>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DWG 기반 업무 흐름</a:t>
            </a:r>
          </a:p>
        </p:txBody>
      </p:sp>
      <p:sp>
        <p:nvSpPr>
          <p:cNvPr id="2" name="원본·객체 DB를 기준으로 설계 검토와 도면 발행의 책임을 구분">
            <a:extLst xmlns:a="http://schemas.openxmlformats.org/drawingml/2006/main">
              <a:ext uri="{FF2B5EF4-FFF2-40B4-BE49-F238E27FC236}">
                <a16:creationId xmlns:a16="http://schemas.microsoft.com/office/drawing/2014/main" id="{43D7FEDB-3D6B-4661-9DD3-6D9F27A5FC4E}"/>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원본·객체 DB를 기준으로 설계 검토와 도면 발행의 책임을 구분</a:t>
            </a:r>
          </a:p>
        </p:txBody>
      </p:sp>
      <p:sp>
        <p:nvSpPr>
          <p:cNvPr id="3" name="">
            <a:extLst xmlns:a="http://schemas.openxmlformats.org/drawingml/2006/main">
              <a:ext uri="{FF2B5EF4-FFF2-40B4-BE49-F238E27FC236}">
                <a16:creationId xmlns:a16="http://schemas.microsoft.com/office/drawing/2014/main" id="{393A01A1-6846-40FD-9252-4514BD5CFC55}"/>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4">
            <a:extLst xmlns:a="http://schemas.openxmlformats.org/drawingml/2006/main">
              <a:ext uri="{FF2B5EF4-FFF2-40B4-BE49-F238E27FC236}">
                <a16:creationId xmlns:a16="http://schemas.microsoft.com/office/drawing/2014/main" id="{66AAFCE4-628A-44F7-91C1-6BE54454FC3B}"/>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14</a:t>
            </a:r>
          </a:p>
        </p:txBody>
      </p:sp>
      <p:sp>
        <p:nvSpPr>
          <p:cNvPr id="5" name="DWG 원본 등록">
            <a:extLst xmlns:a="http://schemas.openxmlformats.org/drawingml/2006/main">
              <a:ext uri="{FF2B5EF4-FFF2-40B4-BE49-F238E27FC236}">
                <a16:creationId xmlns:a16="http://schemas.microsoft.com/office/drawing/2014/main" id="{4EE00ACC-9A65-47DA-B9F3-BF0C7CCCCAE5}"/>
              </a:ext>
            </a:extLst>
          </p:cNvPr>
          <p:cNvSpPr>
            <a:spLocks xmlns:a="http://schemas.openxmlformats.org/drawingml/2006/main" noGrp="1"/>
          </p:cNvSpPr>
          <p:nvPr/>
        </p:nvSpPr>
        <p:spPr>
          <a:xfrm xmlns:a="http://schemas.openxmlformats.org/drawingml/2006/main">
            <a:off x="609600" y="2400300"/>
            <a:ext cx="2324100" cy="89535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DWG 원본 등록</a:t>
            </a:r>
          </a:p>
        </p:txBody>
      </p:sp>
      <p:sp>
        <p:nvSpPr>
          <p:cNvPr id="6" name="객체 추출·BOX 정리">
            <a:extLst xmlns:a="http://schemas.openxmlformats.org/drawingml/2006/main">
              <a:ext uri="{FF2B5EF4-FFF2-40B4-BE49-F238E27FC236}">
                <a16:creationId xmlns:a16="http://schemas.microsoft.com/office/drawing/2014/main" id="{6848554C-08F9-4DE1-A38E-A3CEBBDDC726}"/>
              </a:ext>
            </a:extLst>
          </p:cNvPr>
          <p:cNvSpPr>
            <a:spLocks xmlns:a="http://schemas.openxmlformats.org/drawingml/2006/main" noGrp="1"/>
          </p:cNvSpPr>
          <p:nvPr/>
        </p:nvSpPr>
        <p:spPr>
          <a:xfrm xmlns:a="http://schemas.openxmlformats.org/drawingml/2006/main">
            <a:off x="3467100" y="2400300"/>
            <a:ext cx="2324100" cy="89535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객체 추출·BOX 정리</a:t>
            </a:r>
          </a:p>
        </p:txBody>
      </p:sp>
      <p:sp>
        <p:nvSpPr>
          <p:cNvPr id="7" name="Bay·레이어">
            <a:extLst xmlns:a="http://schemas.openxmlformats.org/drawingml/2006/main">
              <a:ext uri="{FF2B5EF4-FFF2-40B4-BE49-F238E27FC236}">
                <a16:creationId xmlns:a16="http://schemas.microsoft.com/office/drawing/2014/main" id="{258F68D7-CEF0-4871-8481-6B0D6A4A1E11}"/>
              </a:ext>
            </a:extLst>
          </p:cNvPr>
          <p:cNvSpPr>
            <a:spLocks xmlns:a="http://schemas.openxmlformats.org/drawingml/2006/main" noGrp="1"/>
          </p:cNvSpPr>
          <p:nvPr/>
        </p:nvSpPr>
        <p:spPr>
          <a:xfrm xmlns:a="http://schemas.openxmlformats.org/drawingml/2006/main">
            <a:off x="6324600" y="2400300"/>
            <a:ext cx="2324100" cy="89535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Bay·레이어</a:t>
            </a:r>
          </a:p>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배치 조건 설정</a:t>
            </a:r>
          </a:p>
        </p:txBody>
      </p:sp>
      <p:sp>
        <p:nvSpPr>
          <p:cNvPr id="8" name="통합 스튜디오 검토">
            <a:extLst xmlns:a="http://schemas.openxmlformats.org/drawingml/2006/main">
              <a:ext uri="{FF2B5EF4-FFF2-40B4-BE49-F238E27FC236}">
                <a16:creationId xmlns:a16="http://schemas.microsoft.com/office/drawing/2014/main" id="{5730B839-0A66-4F80-9726-20DAF50FD8AB}"/>
              </a:ext>
            </a:extLst>
          </p:cNvPr>
          <p:cNvSpPr>
            <a:spLocks xmlns:a="http://schemas.openxmlformats.org/drawingml/2006/main" noGrp="1"/>
          </p:cNvSpPr>
          <p:nvPr/>
        </p:nvSpPr>
        <p:spPr>
          <a:xfrm xmlns:a="http://schemas.openxmlformats.org/drawingml/2006/main">
            <a:off x="9258300" y="2400300"/>
            <a:ext cx="2324100" cy="89535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통합 스튜디오 검토</a:t>
            </a:r>
          </a:p>
        </p:txBody>
      </p:sp>
      <p:sp>
        <p:nvSpPr>
          <p:cNvPr id="9" name="객체 이동·DB 편집">
            <a:extLst xmlns:a="http://schemas.openxmlformats.org/drawingml/2006/main">
              <a:ext uri="{FF2B5EF4-FFF2-40B4-BE49-F238E27FC236}">
                <a16:creationId xmlns:a16="http://schemas.microsoft.com/office/drawing/2014/main" id="{857568D7-501A-47C4-83B6-A3B1221ACD39}"/>
              </a:ext>
            </a:extLst>
          </p:cNvPr>
          <p:cNvSpPr>
            <a:spLocks xmlns:a="http://schemas.openxmlformats.org/drawingml/2006/main" noGrp="1"/>
          </p:cNvSpPr>
          <p:nvPr/>
        </p:nvSpPr>
        <p:spPr>
          <a:xfrm xmlns:a="http://schemas.openxmlformats.org/drawingml/2006/main">
            <a:off x="9258300" y="4324350"/>
            <a:ext cx="2324100" cy="895350"/>
          </a:xfrm>
          <a:prstGeom xmlns:a="http://schemas.openxmlformats.org/drawingml/2006/main" prst="rect">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객체 이동·DB 편집</a:t>
            </a:r>
          </a:p>
        </p:txBody>
      </p:sp>
      <p:sp>
        <p:nvSpPr>
          <p:cNvPr id="10" name="재검사">
            <a:extLst xmlns:a="http://schemas.openxmlformats.org/drawingml/2006/main">
              <a:ext uri="{FF2B5EF4-FFF2-40B4-BE49-F238E27FC236}">
                <a16:creationId xmlns:a16="http://schemas.microsoft.com/office/drawing/2014/main" id="{B4757210-B6EE-436D-BA1E-32F7DF444696}"/>
              </a:ext>
            </a:extLst>
          </p:cNvPr>
          <p:cNvSpPr>
            <a:spLocks xmlns:a="http://schemas.openxmlformats.org/drawingml/2006/main" noGrp="1"/>
          </p:cNvSpPr>
          <p:nvPr/>
        </p:nvSpPr>
        <p:spPr>
          <a:xfrm xmlns:a="http://schemas.openxmlformats.org/drawingml/2006/main">
            <a:off x="6591300" y="4114800"/>
            <a:ext cx="1790700" cy="1314450"/>
          </a:xfrm>
          <a:prstGeom xmlns:a="http://schemas.openxmlformats.org/drawingml/2006/main" prst="diamond">
            <a:avLst/>
          </a:prstGeom>
          <a:solidFill xmlns:a="http://schemas.openxmlformats.org/drawingml/2006/main">
            <a:srgbClr val="DEF8ED"/>
          </a:solidFill>
          <a:ln xmlns:a="http://schemas.openxmlformats.org/drawingml/2006/main" w="14288">
            <a:solidFill>
              <a:srgbClr val="13755B"/>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재검사</a:t>
            </a:r>
          </a:p>
        </p:txBody>
      </p:sp>
      <p:sp>
        <p:nvSpPr>
          <p:cNvPr id="11" name="설계자 검토·승인">
            <a:extLst xmlns:a="http://schemas.openxmlformats.org/drawingml/2006/main">
              <a:ext uri="{FF2B5EF4-FFF2-40B4-BE49-F238E27FC236}">
                <a16:creationId xmlns:a16="http://schemas.microsoft.com/office/drawing/2014/main" id="{8994BE62-9EB1-40EA-8E18-9518007C3E4E}"/>
              </a:ext>
            </a:extLst>
          </p:cNvPr>
          <p:cNvSpPr>
            <a:spLocks xmlns:a="http://schemas.openxmlformats.org/drawingml/2006/main" noGrp="1"/>
          </p:cNvSpPr>
          <p:nvPr/>
        </p:nvSpPr>
        <p:spPr>
          <a:xfrm xmlns:a="http://schemas.openxmlformats.org/drawingml/2006/main">
            <a:off x="3467100" y="4324350"/>
            <a:ext cx="2324100" cy="895350"/>
          </a:xfrm>
          <a:prstGeom xmlns:a="http://schemas.openxmlformats.org/drawingml/2006/main" prst="rect">
            <a:avLst/>
          </a:prstGeom>
          <a:solidFill xmlns:a="http://schemas.openxmlformats.org/drawingml/2006/main">
            <a:srgbClr val="FFF5E7"/>
          </a:solidFill>
          <a:ln xmlns:a="http://schemas.openxmlformats.org/drawingml/2006/main" w="14288">
            <a:solidFill>
              <a:srgbClr val="B96724"/>
            </a:solidFill>
            <a:prstDash val="solid"/>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725" b="1">
                <a:solidFill>
                  <a:srgbClr val="152A37"/>
                </a:solidFill>
                <a:latin typeface="Malgun Gothic"/>
                <a:ea typeface="Malgun Gothic"/>
                <a:cs typeface="Malgun Gothic"/>
              </a:defRPr>
            </a:pPr>
            <a:r>
              <a:rPr sz="1725" b="1">
                <a:solidFill>
                  <a:srgbClr val="152A37"/>
                </a:solidFill>
                <a:latin typeface="Malgun Gothic"/>
                <a:ea typeface="Malgun Gothic"/>
                <a:cs typeface="Malgun Gothic"/>
              </a:rPr>
              <a:t>설계자 검토·승인</a:t>
            </a:r>
          </a:p>
        </p:txBody>
      </p:sp>
      <p:sp>
        <p:nvSpPr>
          <p:cNvPr id="12" name="DWG 재기록·발행">
            <a:extLst xmlns:a="http://schemas.openxmlformats.org/drawingml/2006/main">
              <a:ext uri="{FF2B5EF4-FFF2-40B4-BE49-F238E27FC236}">
                <a16:creationId xmlns:a16="http://schemas.microsoft.com/office/drawing/2014/main" id="{027589F7-7EDB-4587-ADF5-D6B0C96EADA5}"/>
              </a:ext>
            </a:extLst>
          </p:cNvPr>
          <p:cNvSpPr>
            <a:spLocks xmlns:a="http://schemas.openxmlformats.org/drawingml/2006/main" noGrp="1"/>
          </p:cNvSpPr>
          <p:nvPr/>
        </p:nvSpPr>
        <p:spPr>
          <a:xfrm xmlns:a="http://schemas.openxmlformats.org/drawingml/2006/main">
            <a:off x="609600" y="4324350"/>
            <a:ext cx="232410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526776"/>
            </a:solidFill>
            <a:prstDash val="dash"/>
          </a:ln>
        </p:spPr>
        <p:txBody>
          <a:bodyPr xmlns:a="http://schemas.openxmlformats.org/drawingml/2006/main" wrap="square" lIns="114300" tIns="95250" rIns="114300" bIns="95250" anchor="ctr">
            <a:noAutofit/>
          </a:bodyPr>
          <a:lstStyle xmlns:a="http://schemas.openxmlformats.org/drawingml/2006/main"/>
          <a:p xmlns:a="http://schemas.openxmlformats.org/drawingml/2006/main">
            <a:pPr algn="ctr">
              <a:defRPr sz="1650" b="1">
                <a:solidFill>
                  <a:srgbClr val="526776"/>
                </a:solidFill>
                <a:latin typeface="Malgun Gothic"/>
                <a:ea typeface="Malgun Gothic"/>
                <a:cs typeface="Malgun Gothic"/>
              </a:defRPr>
            </a:pPr>
            <a:r>
              <a:rPr sz="1650" b="1">
                <a:solidFill>
                  <a:srgbClr val="526776"/>
                </a:solidFill>
                <a:latin typeface="Malgun Gothic"/>
                <a:ea typeface="Malgun Gothic"/>
                <a:cs typeface="Malgun Gothic"/>
              </a:rPr>
              <a:t>DWG 재기록·발행</a:t>
            </a:r>
          </a:p>
          <a:p xmlns:a="http://schemas.openxmlformats.org/drawingml/2006/main">
            <a:pPr algn="ctr">
              <a:defRPr sz="1650" b="1">
                <a:solidFill>
                  <a:srgbClr val="526776"/>
                </a:solidFill>
                <a:latin typeface="Malgun Gothic"/>
                <a:ea typeface="Malgun Gothic"/>
                <a:cs typeface="Malgun Gothic"/>
              </a:defRPr>
            </a:pPr>
            <a:r>
              <a:rPr sz="1650" b="1">
                <a:solidFill>
                  <a:srgbClr val="526776"/>
                </a:solidFill>
                <a:latin typeface="Malgun Gothic"/>
                <a:ea typeface="Malgun Gothic"/>
                <a:cs typeface="Malgun Gothic"/>
              </a:rPr>
              <a:t>(연동 예정)</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33700" y="2847975"/>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5791200" y="2847975"/>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8648700" y="2847975"/>
            <a:ext cx="6096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10420350" y="3295650"/>
            <a:ext cx="0" cy="102870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3" name=""/>
          <p:cNvCxnSpPr>
            <a:stCxn xmlns:a="http://schemas.openxmlformats.org/drawingml/2006/main" id="9" idx="1"/>
            <a:endCxn xmlns:a="http://schemas.openxmlformats.org/drawingml/2006/main" id="10" idx="3"/>
          </p:cNvCxnSpPr>
          <p:nvPr/>
        </p:nvCxnSpPr>
        <p:spPr>
          <a:xfrm xmlns:a="http://schemas.openxmlformats.org/drawingml/2006/main" flipH="1">
            <a:off x="8382000" y="4772025"/>
            <a:ext cx="8763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4" name=""/>
          <p:cNvCxnSpPr>
            <a:stCxn xmlns:a="http://schemas.openxmlformats.org/drawingml/2006/main" id="10" idx="1"/>
            <a:endCxn xmlns:a="http://schemas.openxmlformats.org/drawingml/2006/main" id="11" idx="3"/>
          </p:cNvCxnSpPr>
          <p:nvPr/>
        </p:nvCxnSpPr>
        <p:spPr>
          <a:xfrm xmlns:a="http://schemas.openxmlformats.org/drawingml/2006/main" flipH="1">
            <a:off x="5791200" y="4772025"/>
            <a:ext cx="8001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5" name=""/>
          <p:cNvCxnSpPr>
            <a:stCxn xmlns:a="http://schemas.openxmlformats.org/drawingml/2006/main" id="11" idx="1"/>
            <a:endCxn xmlns:a="http://schemas.openxmlformats.org/drawingml/2006/main" id="12" idx="3"/>
          </p:cNvCxnSpPr>
          <p:nvPr/>
        </p:nvCxnSpPr>
        <p:spPr>
          <a:xfrm xmlns:a="http://schemas.openxmlformats.org/drawingml/2006/main" flipH="1">
            <a:off x="2933700" y="4772025"/>
            <a:ext cx="533400" cy="0"/>
          </a:xfrm>
          <a:prstGeom xmlns:a="http://schemas.openxmlformats.org/drawingml/2006/main" prst="straightConnector1">
            <a:avLst/>
          </a:prstGeom>
          <a:ln xmlns:a="http://schemas.openxmlformats.org/drawingml/2006/main" w="21908">
            <a:solidFill>
              <a:srgbClr val="13755B"/>
            </a:solidFill>
            <a:prstDash val="solid"/>
            <a:tailEnd type="triangle" w="med" len="med"/>
          </a:ln>
        </p:spPr>
      </p:cxnSp>
      <p:cxnSp>
        <p:nvCxnSpPr>
          <p:cNvPr id="46" name=""/>
          <p:cNvCxnSpPr>
            <a:stCxn xmlns:a="http://schemas.openxmlformats.org/drawingml/2006/main" id="10" idx="0"/>
            <a:endCxn xmlns:a="http://schemas.openxmlformats.org/drawingml/2006/main" id="7" idx="2"/>
          </p:cNvCxnSpPr>
          <p:nvPr/>
        </p:nvCxnSpPr>
        <p:spPr>
          <a:xfrm xmlns:a="http://schemas.openxmlformats.org/drawingml/2006/main" flipV="1">
            <a:off x="7486650" y="3295650"/>
            <a:ext cx="0" cy="819150"/>
          </a:xfrm>
          <a:prstGeom xmlns:a="http://schemas.openxmlformats.org/drawingml/2006/main" prst="straightConnector1">
            <a:avLst/>
          </a:prstGeom>
          <a:ln xmlns:a="http://schemas.openxmlformats.org/drawingml/2006/main" w="21908">
            <a:solidFill>
              <a:srgbClr val="B96724"/>
            </a:solidFill>
            <a:prstDash val="dash"/>
            <a:tailEnd type="triangle" w="med" len="med"/>
          </a:ln>
        </p:spPr>
      </p:cxnSp>
      <p:sp>
        <p:nvSpPr>
          <p:cNvPr id="21" name="불합격: 조건 수정">
            <a:extLst xmlns:a="http://schemas.openxmlformats.org/drawingml/2006/main">
              <a:ext uri="{FF2B5EF4-FFF2-40B4-BE49-F238E27FC236}">
                <a16:creationId xmlns:a16="http://schemas.microsoft.com/office/drawing/2014/main" id="{C63819E4-F01D-453C-85F5-8876C198560B}"/>
              </a:ext>
            </a:extLst>
          </p:cNvPr>
          <p:cNvSpPr>
            <a:spLocks xmlns:a="http://schemas.openxmlformats.org/drawingml/2006/main" noGrp="1"/>
          </p:cNvSpPr>
          <p:nvPr/>
        </p:nvSpPr>
        <p:spPr>
          <a:xfrm xmlns:a="http://schemas.openxmlformats.org/drawingml/2006/main">
            <a:off x="7515225" y="3590925"/>
            <a:ext cx="1704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B96724"/>
                </a:solidFill>
                <a:latin typeface="Malgun Gothic"/>
                <a:ea typeface="Malgun Gothic"/>
                <a:cs typeface="Malgun Gothic"/>
              </a:defRPr>
            </a:pPr>
            <a:r>
              <a:rPr sz="1350" b="1">
                <a:solidFill>
                  <a:srgbClr val="B96724"/>
                </a:solidFill>
                <a:latin typeface="Malgun Gothic"/>
                <a:ea typeface="Malgun Gothic"/>
                <a:cs typeface="Malgun Gothic"/>
              </a:rPr>
              <a:t>불합격: 조건 수정</a:t>
            </a:r>
          </a:p>
        </p:txBody>
      </p:sp>
      <p:sp>
        <p:nvSpPr>
          <p:cNvPr id="22" name="합격">
            <a:extLst xmlns:a="http://schemas.openxmlformats.org/drawingml/2006/main">
              <a:ext uri="{FF2B5EF4-FFF2-40B4-BE49-F238E27FC236}">
                <a16:creationId xmlns:a16="http://schemas.microsoft.com/office/drawing/2014/main" id="{E696BB68-A2E8-4C8B-ABFD-4DB8744670BD}"/>
              </a:ext>
            </a:extLst>
          </p:cNvPr>
          <p:cNvSpPr>
            <a:spLocks xmlns:a="http://schemas.openxmlformats.org/drawingml/2006/main" noGrp="1"/>
          </p:cNvSpPr>
          <p:nvPr/>
        </p:nvSpPr>
        <p:spPr>
          <a:xfrm xmlns:a="http://schemas.openxmlformats.org/drawingml/2006/main">
            <a:off x="5848350" y="44672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3755B"/>
                </a:solidFill>
                <a:latin typeface="Malgun Gothic"/>
                <a:ea typeface="Malgun Gothic"/>
                <a:cs typeface="Malgun Gothic"/>
              </a:defRPr>
            </a:pPr>
            <a:r>
              <a:rPr sz="1425" b="1">
                <a:solidFill>
                  <a:srgbClr val="13755B"/>
                </a:solidFill>
                <a:latin typeface="Malgun Gothic"/>
                <a:ea typeface="Malgun Gothic"/>
                <a:cs typeface="Malgun Gothic"/>
              </a:rPr>
              <a:t>합격</a:t>
            </a:r>
          </a:p>
        </p:txBody>
      </p:sp>
      <p:sp>
        <p:nvSpPr>
          <p:cNvPr id="23" name="녹색: 현재 제공 기능">
            <a:extLst xmlns:a="http://schemas.openxmlformats.org/drawingml/2006/main">
              <a:ext uri="{FF2B5EF4-FFF2-40B4-BE49-F238E27FC236}">
                <a16:creationId xmlns:a16="http://schemas.microsoft.com/office/drawing/2014/main" id="{9A7A9CA3-B266-4A43-9977-138FE0ABF530}"/>
              </a:ext>
            </a:extLst>
          </p:cNvPr>
          <p:cNvSpPr>
            <a:spLocks xmlns:a="http://schemas.openxmlformats.org/drawingml/2006/main" noGrp="1"/>
          </p:cNvSpPr>
          <p:nvPr/>
        </p:nvSpPr>
        <p:spPr>
          <a:xfrm xmlns:a="http://schemas.openxmlformats.org/drawingml/2006/main">
            <a:off x="609600" y="1990725"/>
            <a:ext cx="261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3755B"/>
                </a:solidFill>
                <a:latin typeface="Malgun Gothic"/>
                <a:ea typeface="Malgun Gothic"/>
                <a:cs typeface="Malgun Gothic"/>
              </a:defRPr>
            </a:pPr>
            <a:r>
              <a:rPr sz="1425" b="1">
                <a:solidFill>
                  <a:srgbClr val="13755B"/>
                </a:solidFill>
                <a:latin typeface="Malgun Gothic"/>
                <a:ea typeface="Malgun Gothic"/>
                <a:cs typeface="Malgun Gothic"/>
              </a:rPr>
              <a:t>녹색: 현재 제공 기능</a:t>
            </a:r>
          </a:p>
        </p:txBody>
      </p:sp>
      <p:sp>
        <p:nvSpPr>
          <p:cNvPr id="24" name="주황색: 사람이 수행하는 업무">
            <a:extLst xmlns:a="http://schemas.openxmlformats.org/drawingml/2006/main">
              <a:ext uri="{FF2B5EF4-FFF2-40B4-BE49-F238E27FC236}">
                <a16:creationId xmlns:a16="http://schemas.microsoft.com/office/drawing/2014/main" id="{9367AA91-4F7C-4E3C-A337-CB6EE3A08836}"/>
              </a:ext>
            </a:extLst>
          </p:cNvPr>
          <p:cNvSpPr>
            <a:spLocks xmlns:a="http://schemas.openxmlformats.org/drawingml/2006/main" noGrp="1"/>
          </p:cNvSpPr>
          <p:nvPr/>
        </p:nvSpPr>
        <p:spPr>
          <a:xfrm xmlns:a="http://schemas.openxmlformats.org/drawingml/2006/main">
            <a:off x="3467100" y="1990725"/>
            <a:ext cx="3724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B96724"/>
                </a:solidFill>
                <a:latin typeface="Malgun Gothic"/>
                <a:ea typeface="Malgun Gothic"/>
                <a:cs typeface="Malgun Gothic"/>
              </a:defRPr>
            </a:pPr>
            <a:r>
              <a:rPr sz="1425" b="1">
                <a:solidFill>
                  <a:srgbClr val="B96724"/>
                </a:solidFill>
                <a:latin typeface="Malgun Gothic"/>
                <a:ea typeface="Malgun Gothic"/>
                <a:cs typeface="Malgun Gothic"/>
              </a:rPr>
              <a:t>주황색: 사람이 수행하는 업무</a:t>
            </a:r>
          </a:p>
        </p:txBody>
      </p:sp>
      <p:sp>
        <p:nvSpPr>
          <p:cNvPr id="25" name="점선: 연동 예정">
            <a:extLst xmlns:a="http://schemas.openxmlformats.org/drawingml/2006/main">
              <a:ext uri="{FF2B5EF4-FFF2-40B4-BE49-F238E27FC236}">
                <a16:creationId xmlns:a16="http://schemas.microsoft.com/office/drawing/2014/main" id="{B4881EA7-3420-4B71-859E-A7E512C609A8}"/>
              </a:ext>
            </a:extLst>
          </p:cNvPr>
          <p:cNvSpPr>
            <a:spLocks xmlns:a="http://schemas.openxmlformats.org/drawingml/2006/main" noGrp="1"/>
          </p:cNvSpPr>
          <p:nvPr/>
        </p:nvSpPr>
        <p:spPr>
          <a:xfrm xmlns:a="http://schemas.openxmlformats.org/drawingml/2006/main">
            <a:off x="9258300" y="19907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526776"/>
                </a:solidFill>
                <a:latin typeface="Malgun Gothic"/>
                <a:ea typeface="Malgun Gothic"/>
                <a:cs typeface="Malgun Gothic"/>
              </a:defRPr>
            </a:pPr>
            <a:r>
              <a:rPr sz="1425" b="1">
                <a:solidFill>
                  <a:srgbClr val="526776"/>
                </a:solidFill>
                <a:latin typeface="Malgun Gothic"/>
                <a:ea typeface="Malgun Gothic"/>
                <a:cs typeface="Malgun Gothic"/>
              </a:rPr>
              <a:t>점선: 연동 예정</a:t>
            </a:r>
          </a:p>
        </p:txBody>
      </p:sp>
      <p:sp>
        <p:nvSpPr>
          <p:cNvPr id="26" name="실제 CAD 검수와 내장 샘플 계산의 범위를 구분합니다. DWG 재기록·발행과 조직 승">
            <a:extLst xmlns:a="http://schemas.openxmlformats.org/drawingml/2006/main">
              <a:ext uri="{FF2B5EF4-FFF2-40B4-BE49-F238E27FC236}">
                <a16:creationId xmlns:a16="http://schemas.microsoft.com/office/drawing/2014/main" id="{A32A4CCD-FF70-4A8D-80D9-34A8E82CBD55}"/>
              </a:ext>
            </a:extLst>
          </p:cNvPr>
          <p:cNvSpPr>
            <a:spLocks xmlns:a="http://schemas.openxmlformats.org/drawingml/2006/main" noGrp="1"/>
          </p:cNvSpPr>
          <p:nvPr/>
        </p:nvSpPr>
        <p:spPr>
          <a:xfrm xmlns:a="http://schemas.openxmlformats.org/drawingml/2006/main">
            <a:off x="609600" y="58388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6"/>
                </a:solidFill>
                <a:latin typeface="Malgun Gothic"/>
                <a:ea typeface="Malgun Gothic"/>
                <a:cs typeface="Malgun Gothic"/>
              </a:defRPr>
            </a:pPr>
            <a:r>
              <a:rPr sz="1575" b="0">
                <a:solidFill>
                  <a:srgbClr val="526776"/>
                </a:solidFill>
                <a:latin typeface="Malgun Gothic"/>
                <a:ea typeface="Malgun Gothic"/>
                <a:cs typeface="Malgun Gothic"/>
              </a:rPr>
              <a:t>실제 CAD 검수와 내장 샘플 계산의 범위를 구분합니다. DWG 재기록·발행과 조직 승인 연동은 미구현입니다.</a:t>
            </a:r>
          </a:p>
        </p:txBody>
      </p:sp>
    </p:spTree>
    <p:extLst>
      <p:ext uri="{BB962C8B-B14F-4D97-AF65-F5344CB8AC3E}">
        <p14:creationId xmlns:p14="http://schemas.microsoft.com/office/powerpoint/2010/main" val="1102574297"/>
      </p:ext>
    </p:extLst>
  </p:cSld>
</p:sld>
</file>

<file path=ppt/slides/slide15.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6" name="단계별 담당자와 산출물">
            <a:extLst xmlns:a="http://schemas.openxmlformats.org/drawingml/2006/main">
              <a:ext uri="{FF2B5EF4-FFF2-40B4-BE49-F238E27FC236}">
                <a16:creationId xmlns:a16="http://schemas.microsoft.com/office/drawing/2014/main" id="{D3369ED8-A3DD-4EDB-9B58-AE2A7FF2504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단계별 담당자와 산출물</a:t>
            </a:r>
          </a:p>
        </p:txBody>
      </p:sp>
      <p:sp>
        <p:nvSpPr>
          <p:cNvPr id="2" name="담당 역할은 제안 기준이며 프로젝트 착수 시 책임자와 승인 기준을 확정">
            <a:extLst xmlns:a="http://schemas.openxmlformats.org/drawingml/2006/main">
              <a:ext uri="{FF2B5EF4-FFF2-40B4-BE49-F238E27FC236}">
                <a16:creationId xmlns:a16="http://schemas.microsoft.com/office/drawing/2014/main" id="{0A3A4373-8C8B-48E9-AD36-0BECD412673A}"/>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담당 역할은 제안 기준이며 프로젝트 착수 시 책임자와 승인 기준을 확정</a:t>
            </a:r>
          </a:p>
        </p:txBody>
      </p:sp>
      <p:sp>
        <p:nvSpPr>
          <p:cNvPr id="3" name="">
            <a:extLst xmlns:a="http://schemas.openxmlformats.org/drawingml/2006/main">
              <a:ext uri="{FF2B5EF4-FFF2-40B4-BE49-F238E27FC236}">
                <a16:creationId xmlns:a16="http://schemas.microsoft.com/office/drawing/2014/main" id="{93C0CFAB-2B5A-4550-86C4-67F498295610}"/>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5">
            <a:extLst xmlns:a="http://schemas.openxmlformats.org/drawingml/2006/main">
              <a:ext uri="{FF2B5EF4-FFF2-40B4-BE49-F238E27FC236}">
                <a16:creationId xmlns:a16="http://schemas.microsoft.com/office/drawing/2014/main" id="{8001AB89-5697-421F-B5BC-49A47167CDE6}"/>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15</a:t>
            </a:r>
          </a:p>
        </p:txBody>
      </p:sp>
      <p:graphicFrame>
        <p:nvGraphicFramePr>
          <p:cNvPr id="10" name=""/>
          <p:cNvGraphicFramePr/>
          <p:nvPr/>
        </p:nvGraphicFramePr>
        <p:xfrm>
          <a:off xmlns:a="http://schemas.openxmlformats.org/drawingml/2006/main" x="609600" y="1885950"/>
          <a:ext xmlns:a="http://schemas.openxmlformats.org/drawingml/2006/main" cx="10972800" cy="4400550"/>
        </p:xfrm>
        <a:graphic xmlns:a="http://schemas.openxmlformats.org/drawingml/2006/main">
          <a:graphicData uri="http://schemas.openxmlformats.org/drawingml/2006/table">
            <a:tbl>
              <a:tblPr firstRow="1" bandRow="0"/>
              <a:tblGrid>
                <a:gridCol w="2190750"/>
                <a:gridCol w="1695450"/>
                <a:gridCol w="2362200"/>
                <a:gridCol w="2628900"/>
                <a:gridCol w="2095500"/>
              </a:tblGrid>
              <a:tr h="523875">
                <a:tc>
                  <a:txBody>
                    <a:bodyPr lIns="133350" tIns="114300" rIns="133350" bIns="114300">
                      <a:noAutofit/>
                    </a:bodyPr>
                    <a:lstStyle/>
                    <a:p>
                      <a:r>
                        <a:rPr sz="1650" b="1">
                          <a:solidFill>
                            <a:srgbClr val="FFFFFF"/>
                          </a:solidFill>
                          <a:latin typeface="Malgun Gothic"/>
                          <a:ea typeface="Malgun Gothic"/>
                          <a:cs typeface="Malgun Gothic"/>
                        </a:rPr>
                        <a:t>업무 단계</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담당 역할</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입력</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산출물</a:t>
                      </a:r>
                    </a:p>
                  </a:txBody>
                  <a:tcPr marL="91440" marR="91440" marT="45720" marB="45720" anchor="ctr">
                    <a:solidFill>
                      <a:srgbClr val="152A37"/>
                    </a:solidFill>
                  </a:tcPr>
                </a:tc>
                <a:tc>
                  <a:txBody>
                    <a:bodyPr lIns="133350" tIns="114300" rIns="133350" bIns="114300">
                      <a:noAutofit/>
                    </a:bodyPr>
                    <a:lstStyle/>
                    <a:p>
                      <a:r>
                        <a:rPr sz="1650" b="1">
                          <a:solidFill>
                            <a:srgbClr val="FFFFFF"/>
                          </a:solidFill>
                          <a:latin typeface="Malgun Gothic"/>
                          <a:ea typeface="Malgun Gothic"/>
                          <a:cs typeface="Malgun Gothic"/>
                        </a:rPr>
                        <a:t>구현 상태</a:t>
                      </a:r>
                    </a:p>
                  </a:txBody>
                  <a:tcPr marL="91440" marR="91440" marT="45720" marB="45720" anchor="ctr">
                    <a:solidFill>
                      <a:srgbClr val="152A37"/>
                    </a:solidFill>
                  </a:tcPr>
                </a:tc>
              </a:tr>
              <a:tr h="553811">
                <a:tc>
                  <a:txBody>
                    <a:bodyPr lIns="114300" tIns="38100" rIns="114300" bIns="38100">
                      <a:noAutofit/>
                    </a:bodyPr>
                    <a:lstStyle/>
                    <a:p>
                      <a:r>
                        <a:rPr sz="1350" b="1">
                          <a:solidFill>
                            <a:srgbClr val="152A37"/>
                          </a:solidFill>
                          <a:latin typeface="Malgun Gothic"/>
                          <a:ea typeface="Malgun Gothic"/>
                          <a:cs typeface="Malgun Gothic"/>
                        </a:rPr>
                        <a:t>DWG 수령·추출</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설계 담당</a:t>
                      </a:r>
                    </a:p>
                    <a:p>
                      <a:r>
                        <a:rPr sz="1350" b="0">
                          <a:solidFill>
                            <a:srgbClr val="152A37"/>
                          </a:solidFill>
                          <a:latin typeface="Malgun Gothic"/>
                          <a:ea typeface="Malgun Gothic"/>
                          <a:cs typeface="Malgun Gothic"/>
                        </a:rPr>
                        <a:t>DWG 엔진</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실제 DWG 원본</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원본 파일·객체 DB·누락 경고</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구현</a:t>
                      </a:r>
                    </a:p>
                  </a:txBody>
                  <a:tcPr marL="91440" marR="91440" marT="45720" marB="45720" anchor="ctr">
                    <a:solidFill>
                      <a:srgbClr val="FFFFFF"/>
                    </a:solidFill>
                  </a:tcPr>
                </a:tc>
              </a:tr>
              <a:tr h="553811">
                <a:tc>
                  <a:txBody>
                    <a:bodyPr lIns="114300" tIns="38100" rIns="114300" bIns="38100">
                      <a:noAutofit/>
                    </a:bodyPr>
                    <a:lstStyle/>
                    <a:p>
                      <a:r>
                        <a:rPr sz="1350" b="1">
                          <a:solidFill>
                            <a:srgbClr val="152A37"/>
                          </a:solidFill>
                          <a:latin typeface="Malgun Gothic"/>
                          <a:ea typeface="Malgun Gothic"/>
                          <a:cs typeface="Malgun Gothic"/>
                        </a:rPr>
                        <a:t>레이어·BOX·코드 정리</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설계 담당</a:t>
                      </a:r>
                    </a:p>
                    <a:p>
                      <a:r>
                        <a:rPr sz="1350" b="0">
                          <a:solidFill>
                            <a:srgbClr val="152A37"/>
                          </a:solidFill>
                          <a:latin typeface="Malgun Gothic"/>
                          <a:ea typeface="Malgun Gothic"/>
                          <a:cs typeface="Malgun Gothic"/>
                        </a:rPr>
                        <a:t>정리 엔진</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BOX·인프라 레이어, 건설코드</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닫힌 BOX·공통 코드·확인 항목</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구현 · 후보 검토</a:t>
                      </a:r>
                    </a:p>
                  </a:txBody>
                  <a:tcPr marL="91440" marR="91440" marT="45720" marB="45720" anchor="ctr">
                    <a:solidFill>
                      <a:srgbClr val="EAF0F3"/>
                    </a:solidFill>
                  </a:tcPr>
                </a:tc>
              </a:tr>
              <a:tr h="553811">
                <a:tc>
                  <a:txBody>
                    <a:bodyPr lIns="114300" tIns="38100" rIns="114300" bIns="38100">
                      <a:noAutofit/>
                    </a:bodyPr>
                    <a:lstStyle/>
                    <a:p>
                      <a:r>
                        <a:rPr sz="1350" b="1">
                          <a:solidFill>
                            <a:srgbClr val="152A37"/>
                          </a:solidFill>
                          <a:latin typeface="Malgun Gothic"/>
                          <a:ea typeface="Malgun Gothic"/>
                          <a:cs typeface="Malgun Gothic"/>
                        </a:rPr>
                        <a:t>Bay·검수 기준 설정</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설계 담당</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도면 단위·예상 BOX 수·Bay 기준</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Bay 경계·인프라 구역·이격 조건</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구현</a:t>
                      </a:r>
                    </a:p>
                  </a:txBody>
                  <a:tcPr marL="91440" marR="91440" marT="45720" marB="45720" anchor="ctr">
                    <a:solidFill>
                      <a:srgbClr val="FFFFFF"/>
                    </a:solidFill>
                  </a:tcPr>
                </a:tc>
              </a:tr>
              <a:tr h="553811">
                <a:tc>
                  <a:txBody>
                    <a:bodyPr lIns="114300" tIns="38100" rIns="114300" bIns="38100">
                      <a:noAutofit/>
                    </a:bodyPr>
                    <a:lstStyle/>
                    <a:p>
                      <a:r>
                        <a:rPr sz="1350" b="1">
                          <a:solidFill>
                            <a:srgbClr val="152A37"/>
                          </a:solidFill>
                          <a:latin typeface="Malgun Gothic"/>
                          <a:ea typeface="Malgun Gothic"/>
                          <a:cs typeface="Malgun Gothic"/>
                        </a:rPr>
                        <a:t>평면 검수·간섭 확인</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검사 엔진</a:t>
                      </a:r>
                    </a:p>
                    <a:p>
                      <a:r>
                        <a:rPr sz="1350" b="0">
                          <a:solidFill>
                            <a:srgbClr val="152A37"/>
                          </a:solidFill>
                          <a:latin typeface="Malgun Gothic"/>
                          <a:ea typeface="Malgun Gothic"/>
                          <a:cs typeface="Malgun Gothic"/>
                        </a:rPr>
                        <a:t>설계 담당</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실제 CAD 형상과 현재 기준</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단위·누락·BOX·코드·Bay 위반</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구현 · 2D 범위</a:t>
                      </a:r>
                    </a:p>
                  </a:txBody>
                  <a:tcPr marL="91440" marR="91440" marT="45720" marB="45720" anchor="ctr">
                    <a:solidFill>
                      <a:srgbClr val="EAF0F3"/>
                    </a:solidFill>
                  </a:tcPr>
                </a:tc>
              </a:tr>
              <a:tr h="553811">
                <a:tc>
                  <a:txBody>
                    <a:bodyPr lIns="114300" tIns="38100" rIns="114300" bIns="38100">
                      <a:noAutofit/>
                    </a:bodyPr>
                    <a:lstStyle/>
                    <a:p>
                      <a:r>
                        <a:rPr sz="1350" b="1">
                          <a:solidFill>
                            <a:srgbClr val="152A37"/>
                          </a:solidFill>
                          <a:latin typeface="Malgun Gothic"/>
                          <a:ea typeface="Malgun Gothic"/>
                          <a:cs typeface="Malgun Gothic"/>
                        </a:rPr>
                        <a:t>이동·Bay 배치 제안</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설계 담당</a:t>
                      </a:r>
                    </a:p>
                    <a:p>
                      <a:r>
                        <a:rPr sz="1350" b="0">
                          <a:solidFill>
                            <a:srgbClr val="152A37"/>
                          </a:solidFill>
                          <a:latin typeface="Malgun Gothic"/>
                          <a:ea typeface="Malgun Gothic"/>
                          <a:cs typeface="Malgun Gothic"/>
                        </a:rPr>
                        <a:t>배치 엔진</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현재 배치와 고정 조건</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변경 위치·재검사한 배치 후보</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구현</a:t>
                      </a:r>
                    </a:p>
                  </a:txBody>
                  <a:tcPr marL="91440" marR="91440" marT="45720" marB="45720" anchor="ctr">
                    <a:solidFill>
                      <a:srgbClr val="FFFFFF"/>
                    </a:solidFill>
                  </a:tcPr>
                </a:tc>
              </a:tr>
              <a:tr h="553811">
                <a:tc>
                  <a:txBody>
                    <a:bodyPr lIns="114300" tIns="38100" rIns="114300" bIns="38100">
                      <a:noAutofit/>
                    </a:bodyPr>
                    <a:lstStyle/>
                    <a:p>
                      <a:r>
                        <a:rPr sz="1350" b="1">
                          <a:solidFill>
                            <a:srgbClr val="152A37"/>
                          </a:solidFill>
                          <a:latin typeface="Malgun Gothic"/>
                          <a:ea typeface="Malgun Gothic"/>
                          <a:cs typeface="Malgun Gothic"/>
                        </a:rPr>
                        <a:t>DB 저장·재검수</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서버</a:t>
                      </a:r>
                    </a:p>
                    <a:p>
                      <a:r>
                        <a:rPr sz="1350" b="0">
                          <a:solidFill>
                            <a:srgbClr val="152A37"/>
                          </a:solidFill>
                          <a:latin typeface="Malgun Gothic"/>
                          <a:ea typeface="Malgun Gothic"/>
                          <a:cs typeface="Malgun Gothic"/>
                        </a:rPr>
                        <a:t>설계 담당</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변경안·사유·현재 개정</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원본/수정본·변경 이력·검수 기록</a:t>
                      </a:r>
                    </a:p>
                  </a:txBody>
                  <a:tcPr marL="91440" marR="91440" marT="45720" marB="45720" anchor="ctr">
                    <a:solidFill>
                      <a:srgbClr val="EAF0F3"/>
                    </a:solidFill>
                  </a:tcPr>
                </a:tc>
                <a:tc>
                  <a:txBody>
                    <a:bodyPr lIns="114300" tIns="38100" rIns="114300" bIns="38100">
                      <a:noAutofit/>
                    </a:bodyPr>
                    <a:lstStyle/>
                    <a:p>
                      <a:r>
                        <a:rPr sz="1350" b="0">
                          <a:solidFill>
                            <a:srgbClr val="152A37"/>
                          </a:solidFill>
                          <a:latin typeface="Malgun Gothic"/>
                          <a:ea typeface="Malgun Gothic"/>
                          <a:cs typeface="Malgun Gothic"/>
                        </a:rPr>
                        <a:t>구현 · 수동 대조</a:t>
                      </a:r>
                    </a:p>
                  </a:txBody>
                  <a:tcPr marL="91440" marR="91440" marT="45720" marB="45720" anchor="ctr">
                    <a:solidFill>
                      <a:srgbClr val="EAF0F3"/>
                    </a:solidFill>
                  </a:tcPr>
                </a:tc>
              </a:tr>
              <a:tr h="553811">
                <a:tc>
                  <a:txBody>
                    <a:bodyPr lIns="114300" tIns="38100" rIns="114300" bIns="38100">
                      <a:noAutofit/>
                    </a:bodyPr>
                    <a:lstStyle/>
                    <a:p>
                      <a:r>
                        <a:rPr sz="1350" b="1">
                          <a:solidFill>
                            <a:srgbClr val="152A37"/>
                          </a:solidFill>
                          <a:latin typeface="Malgun Gothic"/>
                          <a:ea typeface="Malgun Gothic"/>
                          <a:cs typeface="Malgun Gothic"/>
                        </a:rPr>
                        <a:t>CAD 반영·도면 발행</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CAD 담당</a:t>
                      </a:r>
                    </a:p>
                    <a:p>
                      <a:r>
                        <a:rPr sz="1350" b="0">
                          <a:solidFill>
                            <a:srgbClr val="152A37"/>
                          </a:solidFill>
                          <a:latin typeface="Malgun Gothic"/>
                          <a:ea typeface="Malgun Gothic"/>
                          <a:cs typeface="Malgun Gothic"/>
                        </a:rPr>
                        <a:t>승인자</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검토한 변경 DB</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개정 DWG·실제 설계 승인</a:t>
                      </a:r>
                    </a:p>
                  </a:txBody>
                  <a:tcPr marL="91440" marR="91440" marT="45720" marB="45720" anchor="ctr">
                    <a:solidFill>
                      <a:srgbClr val="FFFFFF"/>
                    </a:solidFill>
                  </a:tcPr>
                </a:tc>
                <a:tc>
                  <a:txBody>
                    <a:bodyPr lIns="114300" tIns="38100" rIns="114300" bIns="38100">
                      <a:noAutofit/>
                    </a:bodyPr>
                    <a:lstStyle/>
                    <a:p>
                      <a:r>
                        <a:rPr sz="1350" b="0">
                          <a:solidFill>
                            <a:srgbClr val="152A37"/>
                          </a:solidFill>
                          <a:latin typeface="Malgun Gothic"/>
                          <a:ea typeface="Malgun Gothic"/>
                          <a:cs typeface="Malgun Gothic"/>
                        </a:rPr>
                        <a:t>연동 예정</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66793001"/>
      </p:ext>
    </p:extLst>
  </p:cSld>
</p:sld>
</file>

<file path=ppt/slides/slide16.xml><?xml version="1.0" encoding="utf-8"?>
<p:sld xmlns:p="http://schemas.openxmlformats.org/presentationml/2006/main">
  <p:cSld>
    <p:bg>
      <p:bgPr>
        <a:solidFill xmlns:a="http://schemas.openxmlformats.org/drawingml/2006/main">
          <a:srgbClr val="F2F6F8"/>
        </a:solidFill>
      </p:bgPr>
    </p:bg>
    <p:spTree>
      <p:nvGrpSpPr>
        <p:cNvPr id="1" name=""/>
        <p:cNvGrpSpPr/>
        <p:nvPr/>
      </p:nvGrpSpPr>
      <p:grpSpPr>
        <a:xfrm xmlns:a="http://schemas.openxmlformats.org/drawingml/2006/main"/>
      </p:grpSpPr>
      <p:sp>
        <p:nvSpPr>
          <p:cNvPr id="21" name="실제 프로젝트 검증과 다음 개발 범위">
            <a:extLst xmlns:a="http://schemas.openxmlformats.org/drawingml/2006/main">
              <a:ext uri="{FF2B5EF4-FFF2-40B4-BE49-F238E27FC236}">
                <a16:creationId xmlns:a16="http://schemas.microsoft.com/office/drawing/2014/main" id="{0252128F-F11B-42B7-BA86-29AFBEFBF0F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2A37"/>
                </a:solidFill>
                <a:latin typeface="Malgun Gothic"/>
                <a:ea typeface="Malgun Gothic"/>
                <a:cs typeface="Malgun Gothic"/>
              </a:defRPr>
            </a:pPr>
            <a:r>
              <a:rPr sz="3300" b="1">
                <a:solidFill>
                  <a:srgbClr val="152A37"/>
                </a:solidFill>
                <a:latin typeface="Malgun Gothic"/>
                <a:ea typeface="Malgun Gothic"/>
                <a:cs typeface="Malgun Gothic"/>
              </a:rPr>
              <a:t>실제 프로젝트 검증과 다음 개발 범위</a:t>
            </a:r>
          </a:p>
        </p:txBody>
      </p:sp>
      <p:sp>
        <p:nvSpPr>
          <p:cNvPr id="2" name="DB 편집 결과의 설계 적합성과 원본 DWG 반영을 검증">
            <a:extLst xmlns:a="http://schemas.openxmlformats.org/drawingml/2006/main">
              <a:ext uri="{FF2B5EF4-FFF2-40B4-BE49-F238E27FC236}">
                <a16:creationId xmlns:a16="http://schemas.microsoft.com/office/drawing/2014/main" id="{CCD6EE59-F53B-4CCA-B635-721513F72238}"/>
              </a:ext>
            </a:extLst>
          </p:cNvPr>
          <p:cNvSpPr>
            <a:spLocks xmlns:a="http://schemas.openxmlformats.org/drawingml/2006/main" noGrp="1"/>
          </p:cNvSpPr>
          <p:nvPr/>
        </p:nvSpPr>
        <p:spPr>
          <a:xfrm xmlns:a="http://schemas.openxmlformats.org/drawingml/2006/main">
            <a:off x="609600" y="1152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DB 편집 결과의 설계 적합성과 원본 DWG 반영을 검증</a:t>
            </a:r>
          </a:p>
        </p:txBody>
      </p:sp>
      <p:sp>
        <p:nvSpPr>
          <p:cNvPr id="3" name="">
            <a:extLst xmlns:a="http://schemas.openxmlformats.org/drawingml/2006/main">
              <a:ext uri="{FF2B5EF4-FFF2-40B4-BE49-F238E27FC236}">
                <a16:creationId xmlns:a16="http://schemas.microsoft.com/office/drawing/2014/main" id="{968DE3A4-2101-4777-BCDA-E8CA516F1662}"/>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4" name="16">
            <a:extLst xmlns:a="http://schemas.openxmlformats.org/drawingml/2006/main">
              <a:ext uri="{FF2B5EF4-FFF2-40B4-BE49-F238E27FC236}">
                <a16:creationId xmlns:a16="http://schemas.microsoft.com/office/drawing/2014/main" id="{B2F74843-18CE-4E13-BE39-15FF5170F451}"/>
              </a:ext>
            </a:extLst>
          </p:cNvPr>
          <p:cNvSpPr>
            <a:spLocks xmlns:a="http://schemas.openxmlformats.org/drawingml/2006/main" noGrp="1"/>
          </p:cNvSpPr>
          <p:nvPr/>
        </p:nvSpPr>
        <p:spPr>
          <a:xfrm xmlns:a="http://schemas.openxmlformats.org/drawingml/2006/main">
            <a:off x="11010900" y="63912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6"/>
                </a:solidFill>
                <a:latin typeface="Malgun Gothic"/>
                <a:ea typeface="Malgun Gothic"/>
                <a:cs typeface="Malgun Gothic"/>
              </a:defRPr>
            </a:pPr>
            <a:r>
              <a:rPr sz="1200" b="0">
                <a:solidFill>
                  <a:srgbClr val="526776"/>
                </a:solidFill>
                <a:latin typeface="Malgun Gothic"/>
                <a:ea typeface="Malgun Gothic"/>
                <a:cs typeface="Malgun Gothic"/>
              </a:rPr>
              <a:t>16</a:t>
            </a:r>
          </a:p>
        </p:txBody>
      </p:sp>
      <p:sp>
        <p:nvSpPr>
          <p:cNvPr id="5" name="01">
            <a:extLst xmlns:a="http://schemas.openxmlformats.org/drawingml/2006/main">
              <a:ext uri="{FF2B5EF4-FFF2-40B4-BE49-F238E27FC236}">
                <a16:creationId xmlns:a16="http://schemas.microsoft.com/office/drawing/2014/main" id="{FC891E50-385A-4846-AAF8-00C16145A331}"/>
              </a:ext>
            </a:extLst>
          </p:cNvPr>
          <p:cNvSpPr>
            <a:spLocks xmlns:a="http://schemas.openxmlformats.org/drawingml/2006/main" noGrp="1"/>
          </p:cNvSpPr>
          <p:nvPr/>
        </p:nvSpPr>
        <p:spPr>
          <a:xfrm xmlns:a="http://schemas.openxmlformats.org/drawingml/2006/main">
            <a:off x="609600" y="2181225"/>
            <a:ext cx="72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3755B"/>
                </a:solidFill>
                <a:latin typeface="Malgun Gothic"/>
                <a:ea typeface="Malgun Gothic"/>
                <a:cs typeface="Malgun Gothic"/>
              </a:defRPr>
            </a:pPr>
            <a:r>
              <a:rPr sz="2775" b="1">
                <a:solidFill>
                  <a:srgbClr val="13755B"/>
                </a:solidFill>
                <a:latin typeface="Malgun Gothic"/>
                <a:ea typeface="Malgun Gothic"/>
                <a:cs typeface="Malgun Gothic"/>
              </a:rPr>
              <a:t>01</a:t>
            </a:r>
          </a:p>
        </p:txBody>
      </p:sp>
      <p:sp>
        <p:nvSpPr>
          <p:cNvPr id="6" name="프로젝트 검수">
            <a:extLst xmlns:a="http://schemas.openxmlformats.org/drawingml/2006/main">
              <a:ext uri="{FF2B5EF4-FFF2-40B4-BE49-F238E27FC236}">
                <a16:creationId xmlns:a16="http://schemas.microsoft.com/office/drawing/2014/main" id="{0D7EB9E8-9183-476A-A94B-944ED97FD303}"/>
              </a:ext>
            </a:extLst>
          </p:cNvPr>
          <p:cNvSpPr>
            <a:spLocks xmlns:a="http://schemas.openxmlformats.org/drawingml/2006/main" noGrp="1"/>
          </p:cNvSpPr>
          <p:nvPr/>
        </p:nvSpPr>
        <p:spPr>
          <a:xfrm xmlns:a="http://schemas.openxmlformats.org/drawingml/2006/main">
            <a:off x="1666875" y="22002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2A37"/>
                </a:solidFill>
                <a:latin typeface="Malgun Gothic"/>
                <a:ea typeface="Malgun Gothic"/>
                <a:cs typeface="Malgun Gothic"/>
              </a:defRPr>
            </a:pPr>
            <a:r>
              <a:rPr sz="2100" b="1">
                <a:solidFill>
                  <a:srgbClr val="152A37"/>
                </a:solidFill>
                <a:latin typeface="Malgun Gothic"/>
                <a:ea typeface="Malgun Gothic"/>
                <a:cs typeface="Malgun Gothic"/>
              </a:rPr>
              <a:t>프로젝트 검수</a:t>
            </a:r>
          </a:p>
        </p:txBody>
      </p:sp>
      <p:sp>
        <p:nvSpPr>
          <p:cNvPr id="7" name="실제 도면 버전·단위·BOX 수·레이어·Bay 기준으로 대조">
            <a:extLst xmlns:a="http://schemas.openxmlformats.org/drawingml/2006/main">
              <a:ext uri="{FF2B5EF4-FFF2-40B4-BE49-F238E27FC236}">
                <a16:creationId xmlns:a16="http://schemas.microsoft.com/office/drawing/2014/main" id="{2CAA4FE0-AD13-4C8D-994E-530BF5CBF587}"/>
              </a:ext>
            </a:extLst>
          </p:cNvPr>
          <p:cNvSpPr>
            <a:spLocks xmlns:a="http://schemas.openxmlformats.org/drawingml/2006/main" noGrp="1"/>
          </p:cNvSpPr>
          <p:nvPr/>
        </p:nvSpPr>
        <p:spPr>
          <a:xfrm xmlns:a="http://schemas.openxmlformats.org/drawingml/2006/main">
            <a:off x="4448175" y="2209800"/>
            <a:ext cx="7134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실제 도면 버전·단위·BOX 수·레이어·Bay 기준으로 대조</a:t>
            </a:r>
          </a:p>
        </p:txBody>
      </p:sp>
      <p:sp>
        <p:nvSpPr>
          <p:cNvPr id="8" name="">
            <a:extLst xmlns:a="http://schemas.openxmlformats.org/drawingml/2006/main">
              <a:ext uri="{FF2B5EF4-FFF2-40B4-BE49-F238E27FC236}">
                <a16:creationId xmlns:a16="http://schemas.microsoft.com/office/drawing/2014/main" id="{7B9D427B-C5B5-46DB-A84B-124A7507D372}"/>
              </a:ext>
            </a:extLst>
          </p:cNvPr>
          <p:cNvSpPr>
            <a:spLocks xmlns:a="http://schemas.openxmlformats.org/drawingml/2006/main" noGrp="1"/>
          </p:cNvSpPr>
          <p:nvPr/>
        </p:nvSpPr>
        <p:spPr>
          <a:xfrm xmlns:a="http://schemas.openxmlformats.org/drawingml/2006/main">
            <a:off x="1666875" y="2809875"/>
            <a:ext cx="9915525"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9" name="02">
            <a:extLst xmlns:a="http://schemas.openxmlformats.org/drawingml/2006/main">
              <a:ext uri="{FF2B5EF4-FFF2-40B4-BE49-F238E27FC236}">
                <a16:creationId xmlns:a16="http://schemas.microsoft.com/office/drawing/2014/main" id="{6CF1D248-1E32-4DE5-B893-A8DBEAA52EF2}"/>
              </a:ext>
            </a:extLst>
          </p:cNvPr>
          <p:cNvSpPr>
            <a:spLocks xmlns:a="http://schemas.openxmlformats.org/drawingml/2006/main" noGrp="1"/>
          </p:cNvSpPr>
          <p:nvPr/>
        </p:nvSpPr>
        <p:spPr>
          <a:xfrm xmlns:a="http://schemas.openxmlformats.org/drawingml/2006/main">
            <a:off x="609600" y="3019425"/>
            <a:ext cx="72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3755B"/>
                </a:solidFill>
                <a:latin typeface="Malgun Gothic"/>
                <a:ea typeface="Malgun Gothic"/>
                <a:cs typeface="Malgun Gothic"/>
              </a:defRPr>
            </a:pPr>
            <a:r>
              <a:rPr sz="2775" b="1">
                <a:solidFill>
                  <a:srgbClr val="13755B"/>
                </a:solidFill>
                <a:latin typeface="Malgun Gothic"/>
                <a:ea typeface="Malgun Gothic"/>
                <a:cs typeface="Malgun Gothic"/>
              </a:rPr>
              <a:t>02</a:t>
            </a:r>
          </a:p>
        </p:txBody>
      </p:sp>
      <p:sp>
        <p:nvSpPr>
          <p:cNvPr id="10" name="CAD 지원 확대">
            <a:extLst xmlns:a="http://schemas.openxmlformats.org/drawingml/2006/main">
              <a:ext uri="{FF2B5EF4-FFF2-40B4-BE49-F238E27FC236}">
                <a16:creationId xmlns:a16="http://schemas.microsoft.com/office/drawing/2014/main" id="{D80AAF63-3C07-4B9C-BA62-5719B78FD12C}"/>
              </a:ext>
            </a:extLst>
          </p:cNvPr>
          <p:cNvSpPr>
            <a:spLocks xmlns:a="http://schemas.openxmlformats.org/drawingml/2006/main" noGrp="1"/>
          </p:cNvSpPr>
          <p:nvPr/>
        </p:nvSpPr>
        <p:spPr>
          <a:xfrm xmlns:a="http://schemas.openxmlformats.org/drawingml/2006/main">
            <a:off x="1666875" y="30384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2A37"/>
                </a:solidFill>
                <a:latin typeface="Malgun Gothic"/>
                <a:ea typeface="Malgun Gothic"/>
                <a:cs typeface="Malgun Gothic"/>
              </a:defRPr>
            </a:pPr>
            <a:r>
              <a:rPr sz="2100" b="1">
                <a:solidFill>
                  <a:srgbClr val="152A37"/>
                </a:solidFill>
                <a:latin typeface="Malgun Gothic"/>
                <a:ea typeface="Malgun Gothic"/>
                <a:cs typeface="Malgun Gothic"/>
              </a:rPr>
              <a:t>CAD 지원 확대</a:t>
            </a:r>
          </a:p>
        </p:txBody>
      </p:sp>
      <p:sp>
        <p:nvSpPr>
          <p:cNvPr id="11" name="미지원 객체와 복합 형상의 읽기·표시·편집 범위 확장">
            <a:extLst xmlns:a="http://schemas.openxmlformats.org/drawingml/2006/main">
              <a:ext uri="{FF2B5EF4-FFF2-40B4-BE49-F238E27FC236}">
                <a16:creationId xmlns:a16="http://schemas.microsoft.com/office/drawing/2014/main" id="{9970C392-4770-46A8-9C05-47D6C80ADF7D}"/>
              </a:ext>
            </a:extLst>
          </p:cNvPr>
          <p:cNvSpPr>
            <a:spLocks xmlns:a="http://schemas.openxmlformats.org/drawingml/2006/main" noGrp="1"/>
          </p:cNvSpPr>
          <p:nvPr/>
        </p:nvSpPr>
        <p:spPr>
          <a:xfrm xmlns:a="http://schemas.openxmlformats.org/drawingml/2006/main">
            <a:off x="4448175" y="3048000"/>
            <a:ext cx="7134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미지원 객체와 복합 형상의 읽기·표시·편집 범위 확장</a:t>
            </a:r>
          </a:p>
        </p:txBody>
      </p:sp>
      <p:sp>
        <p:nvSpPr>
          <p:cNvPr id="12" name="">
            <a:extLst xmlns:a="http://schemas.openxmlformats.org/drawingml/2006/main">
              <a:ext uri="{FF2B5EF4-FFF2-40B4-BE49-F238E27FC236}">
                <a16:creationId xmlns:a16="http://schemas.microsoft.com/office/drawing/2014/main" id="{F2D33477-B800-4BC2-835D-44D5A012DD0C}"/>
              </a:ext>
            </a:extLst>
          </p:cNvPr>
          <p:cNvSpPr>
            <a:spLocks xmlns:a="http://schemas.openxmlformats.org/drawingml/2006/main" noGrp="1"/>
          </p:cNvSpPr>
          <p:nvPr/>
        </p:nvSpPr>
        <p:spPr>
          <a:xfrm xmlns:a="http://schemas.openxmlformats.org/drawingml/2006/main">
            <a:off x="1666875" y="3648075"/>
            <a:ext cx="9915525"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13" name="03">
            <a:extLst xmlns:a="http://schemas.openxmlformats.org/drawingml/2006/main">
              <a:ext uri="{FF2B5EF4-FFF2-40B4-BE49-F238E27FC236}">
                <a16:creationId xmlns:a16="http://schemas.microsoft.com/office/drawing/2014/main" id="{28F526ED-E5BA-4CCF-BA7A-2DB00D48687E}"/>
              </a:ext>
            </a:extLst>
          </p:cNvPr>
          <p:cNvSpPr>
            <a:spLocks xmlns:a="http://schemas.openxmlformats.org/drawingml/2006/main" noGrp="1"/>
          </p:cNvSpPr>
          <p:nvPr/>
        </p:nvSpPr>
        <p:spPr>
          <a:xfrm xmlns:a="http://schemas.openxmlformats.org/drawingml/2006/main">
            <a:off x="609600" y="3857625"/>
            <a:ext cx="72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3755B"/>
                </a:solidFill>
                <a:latin typeface="Malgun Gothic"/>
                <a:ea typeface="Malgun Gothic"/>
                <a:cs typeface="Malgun Gothic"/>
              </a:defRPr>
            </a:pPr>
            <a:r>
              <a:rPr sz="2775" b="1">
                <a:solidFill>
                  <a:srgbClr val="13755B"/>
                </a:solidFill>
                <a:latin typeface="Malgun Gothic"/>
                <a:ea typeface="Malgun Gothic"/>
                <a:cs typeface="Malgun Gothic"/>
              </a:rPr>
              <a:t>03</a:t>
            </a:r>
          </a:p>
        </p:txBody>
      </p:sp>
      <p:sp>
        <p:nvSpPr>
          <p:cNvPr id="14" name="DWG 재기록">
            <a:extLst xmlns:a="http://schemas.openxmlformats.org/drawingml/2006/main">
              <a:ext uri="{FF2B5EF4-FFF2-40B4-BE49-F238E27FC236}">
                <a16:creationId xmlns:a16="http://schemas.microsoft.com/office/drawing/2014/main" id="{12A9C82B-5BFA-42FE-933C-F16ABB7C6930}"/>
              </a:ext>
            </a:extLst>
          </p:cNvPr>
          <p:cNvSpPr>
            <a:spLocks xmlns:a="http://schemas.openxmlformats.org/drawingml/2006/main" noGrp="1"/>
          </p:cNvSpPr>
          <p:nvPr/>
        </p:nvSpPr>
        <p:spPr>
          <a:xfrm xmlns:a="http://schemas.openxmlformats.org/drawingml/2006/main">
            <a:off x="1666875" y="38766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2A37"/>
                </a:solidFill>
                <a:latin typeface="Malgun Gothic"/>
                <a:ea typeface="Malgun Gothic"/>
                <a:cs typeface="Malgun Gothic"/>
              </a:defRPr>
            </a:pPr>
            <a:r>
              <a:rPr sz="2100" b="1">
                <a:solidFill>
                  <a:srgbClr val="152A37"/>
                </a:solidFill>
                <a:latin typeface="Malgun Gothic"/>
                <a:ea typeface="Malgun Gothic"/>
                <a:cs typeface="Malgun Gothic"/>
              </a:rPr>
              <a:t>DWG 재기록</a:t>
            </a:r>
          </a:p>
        </p:txBody>
      </p:sp>
      <p:sp>
        <p:nvSpPr>
          <p:cNvPr id="15" name="DB 수정값을 원본에 반영하고 형상·좌표 정합성 검증">
            <a:extLst xmlns:a="http://schemas.openxmlformats.org/drawingml/2006/main">
              <a:ext uri="{FF2B5EF4-FFF2-40B4-BE49-F238E27FC236}">
                <a16:creationId xmlns:a16="http://schemas.microsoft.com/office/drawing/2014/main" id="{53FE25CD-C9CC-462A-9857-E6700984AF58}"/>
              </a:ext>
            </a:extLst>
          </p:cNvPr>
          <p:cNvSpPr>
            <a:spLocks xmlns:a="http://schemas.openxmlformats.org/drawingml/2006/main" noGrp="1"/>
          </p:cNvSpPr>
          <p:nvPr/>
        </p:nvSpPr>
        <p:spPr>
          <a:xfrm xmlns:a="http://schemas.openxmlformats.org/drawingml/2006/main">
            <a:off x="4448175" y="3886200"/>
            <a:ext cx="7134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DB 수정값을 원본에 반영하고 형상·좌표 정합성 검증</a:t>
            </a:r>
          </a:p>
        </p:txBody>
      </p:sp>
      <p:sp>
        <p:nvSpPr>
          <p:cNvPr id="16" name="">
            <a:extLst xmlns:a="http://schemas.openxmlformats.org/drawingml/2006/main">
              <a:ext uri="{FF2B5EF4-FFF2-40B4-BE49-F238E27FC236}">
                <a16:creationId xmlns:a16="http://schemas.microsoft.com/office/drawing/2014/main" id="{7A5C3E5C-586E-4D66-ABCF-7742F62351E4}"/>
              </a:ext>
            </a:extLst>
          </p:cNvPr>
          <p:cNvSpPr>
            <a:spLocks xmlns:a="http://schemas.openxmlformats.org/drawingml/2006/main" noGrp="1"/>
          </p:cNvSpPr>
          <p:nvPr/>
        </p:nvSpPr>
        <p:spPr>
          <a:xfrm xmlns:a="http://schemas.openxmlformats.org/drawingml/2006/main">
            <a:off x="1666875" y="4486275"/>
            <a:ext cx="9915525" cy="0"/>
          </a:xfrm>
          <a:prstGeom xmlns:a="http://schemas.openxmlformats.org/drawingml/2006/main" prst="line">
            <a:avLst/>
          </a:prstGeom>
          <a:noFill xmlns:a="http://schemas.openxmlformats.org/drawingml/2006/main"/>
          <a:ln xmlns:a="http://schemas.openxmlformats.org/drawingml/2006/main" w="9525">
            <a:solidFill>
              <a:srgbClr val="D1DDE3"/>
            </a:solidFill>
            <a:prstDash val="solid"/>
          </a:ln>
        </p:spPr>
      </p:sp>
      <p:sp>
        <p:nvSpPr>
          <p:cNvPr id="17" name="04">
            <a:extLst xmlns:a="http://schemas.openxmlformats.org/drawingml/2006/main">
              <a:ext uri="{FF2B5EF4-FFF2-40B4-BE49-F238E27FC236}">
                <a16:creationId xmlns:a16="http://schemas.microsoft.com/office/drawing/2014/main" id="{43883399-334B-4A81-ADDF-CE06A4697CC0}"/>
              </a:ext>
            </a:extLst>
          </p:cNvPr>
          <p:cNvSpPr>
            <a:spLocks xmlns:a="http://schemas.openxmlformats.org/drawingml/2006/main" noGrp="1"/>
          </p:cNvSpPr>
          <p:nvPr/>
        </p:nvSpPr>
        <p:spPr>
          <a:xfrm xmlns:a="http://schemas.openxmlformats.org/drawingml/2006/main">
            <a:off x="609600" y="4695825"/>
            <a:ext cx="72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3755B"/>
                </a:solidFill>
                <a:latin typeface="Malgun Gothic"/>
                <a:ea typeface="Malgun Gothic"/>
                <a:cs typeface="Malgun Gothic"/>
              </a:defRPr>
            </a:pPr>
            <a:r>
              <a:rPr sz="2775" b="1">
                <a:solidFill>
                  <a:srgbClr val="13755B"/>
                </a:solidFill>
                <a:latin typeface="Malgun Gothic"/>
                <a:ea typeface="Malgun Gothic"/>
                <a:cs typeface="Malgun Gothic"/>
              </a:rPr>
              <a:t>04</a:t>
            </a:r>
          </a:p>
        </p:txBody>
      </p:sp>
      <p:sp>
        <p:nvSpPr>
          <p:cNvPr id="18" name="협업·설계 승인">
            <a:extLst xmlns:a="http://schemas.openxmlformats.org/drawingml/2006/main">
              <a:ext uri="{FF2B5EF4-FFF2-40B4-BE49-F238E27FC236}">
                <a16:creationId xmlns:a16="http://schemas.microsoft.com/office/drawing/2014/main" id="{E592FCC8-5331-4DFA-B67B-D82E4F204426}"/>
              </a:ext>
            </a:extLst>
          </p:cNvPr>
          <p:cNvSpPr>
            <a:spLocks xmlns:a="http://schemas.openxmlformats.org/drawingml/2006/main" noGrp="1"/>
          </p:cNvSpPr>
          <p:nvPr/>
        </p:nvSpPr>
        <p:spPr>
          <a:xfrm xmlns:a="http://schemas.openxmlformats.org/drawingml/2006/main">
            <a:off x="1666875" y="47148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2A37"/>
                </a:solidFill>
                <a:latin typeface="Malgun Gothic"/>
                <a:ea typeface="Malgun Gothic"/>
                <a:cs typeface="Malgun Gothic"/>
              </a:defRPr>
            </a:pPr>
            <a:r>
              <a:rPr sz="2100" b="1">
                <a:solidFill>
                  <a:srgbClr val="152A37"/>
                </a:solidFill>
                <a:latin typeface="Malgun Gothic"/>
                <a:ea typeface="Malgun Gothic"/>
                <a:cs typeface="Malgun Gothic"/>
              </a:rPr>
              <a:t>협업·설계 승인</a:t>
            </a:r>
          </a:p>
        </p:txBody>
      </p:sp>
      <p:sp>
        <p:nvSpPr>
          <p:cNvPr id="19" name="프로젝트 역할, 검수 책임, 승인·발행 이력 연동">
            <a:extLst xmlns:a="http://schemas.openxmlformats.org/drawingml/2006/main">
              <a:ext uri="{FF2B5EF4-FFF2-40B4-BE49-F238E27FC236}">
                <a16:creationId xmlns:a16="http://schemas.microsoft.com/office/drawing/2014/main" id="{40220172-2C0D-4C4E-9031-D0860B49D098}"/>
              </a:ext>
            </a:extLst>
          </p:cNvPr>
          <p:cNvSpPr>
            <a:spLocks xmlns:a="http://schemas.openxmlformats.org/drawingml/2006/main" noGrp="1"/>
          </p:cNvSpPr>
          <p:nvPr/>
        </p:nvSpPr>
        <p:spPr>
          <a:xfrm xmlns:a="http://schemas.openxmlformats.org/drawingml/2006/main">
            <a:off x="4448175" y="4724400"/>
            <a:ext cx="7134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Malgun Gothic"/>
                <a:ea typeface="Malgun Gothic"/>
                <a:cs typeface="Malgun Gothic"/>
              </a:defRPr>
            </a:pPr>
            <a:r>
              <a:rPr sz="1800" b="0">
                <a:solidFill>
                  <a:srgbClr val="526776"/>
                </a:solidFill>
                <a:latin typeface="Malgun Gothic"/>
                <a:ea typeface="Malgun Gothic"/>
                <a:cs typeface="Malgun Gothic"/>
              </a:rPr>
              <a:t>프로젝트 역할, 검수 책임, 승인·발행 이력 연동</a:t>
            </a:r>
          </a:p>
        </p:txBody>
      </p:sp>
      <p:sp>
        <p:nvSpPr>
          <p:cNvPr id="20" name="현재 플랫폼 열기">
            <a:extLst xmlns:a="http://schemas.openxmlformats.org/drawingml/2006/main">
              <a:ext uri="{FF2B5EF4-FFF2-40B4-BE49-F238E27FC236}">
                <a16:creationId xmlns:a16="http://schemas.microsoft.com/office/drawing/2014/main" id="{ADA0FA1F-4D15-499D-A34C-03CA00247256}"/>
              </a:ext>
            </a:extLst>
          </p:cNvPr>
          <p:cNvSpPr>
            <a:spLocks xmlns:a="http://schemas.openxmlformats.org/drawingml/2006/main" noGrp="1"/>
          </p:cNvSpPr>
          <p:nvPr/>
        </p:nvSpPr>
        <p:spPr>
          <a:xfrm xmlns:a="http://schemas.openxmlformats.org/drawingml/2006/main">
            <a:off x="609600" y="5876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3755B"/>
                </a:solidFill>
                <a:latin typeface="Malgun Gothic"/>
                <a:ea typeface="Malgun Gothic"/>
                <a:cs typeface="Malgun Gothic"/>
              </a:defRPr>
            </a:pPr>
            <a:r>
              <a:rPr sz="1650" b="1">
                <a:solidFill>
                  <a:srgbClr val="13755B"/>
                </a:solidFill>
                <a:latin typeface="Malgun Gothic"/>
                <a:ea typeface="Malgun Gothic"/>
                <a:cs typeface="Malgun Gothic"/>
                <a:hlinkClick xmlns:r="http://schemas.openxmlformats.org/officeDocument/2006/relationships" r:id="Rd6bd9bca39b24341"/>
              </a:rPr>
              <a:t>현재 플랫폼 열기</a:t>
            </a:r>
          </a:p>
        </p:txBody>
      </p:sp>
    </p:spTree>
    <p:extLst>
      <p:ext uri="{BB962C8B-B14F-4D97-AF65-F5344CB8AC3E}">
        <p14:creationId xmlns:p14="http://schemas.microsoft.com/office/powerpoint/2010/main" val="347661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2026-09-16T12:55:43.9310000Z</dcterms:created>
  <dcterms:modified xsi:type="dcterms:W3CDTF">2026-09-16T12:55:43.9310000Z</dcterms:modified>
</coreProperties>
</file>