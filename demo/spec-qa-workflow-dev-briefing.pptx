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69880" y="365760"/>
            <a:ext cx="1188720" cy="320040"/>
          </a:xfrm>
          <a:prstGeom prst="rect">
            <a:avLst/>
          </a:prstGeom>
          <a:noFill/>
          <a:ln w="12700">
            <a:solidFill>
              <a:srgbClr val="DEE5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 i="0">
                <a:solidFill>
                  <a:srgbClr val="1A1F29"/>
                </a:solidFill>
                <a:latin typeface="맑은 고딕"/>
                <a:ea typeface="맑은 고딕"/>
              </a:rPr>
              <a:t>[ LOGO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628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1A1F29"/>
                </a:solidFill>
                <a:latin typeface="맑은 고딕"/>
                <a:ea typeface="맑은 고딕"/>
              </a:rPr>
              <a:t>제원 질의 데스크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103628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1A1F29"/>
                </a:solidFill>
                <a:latin typeface="맑은 고딕"/>
                <a:ea typeface="맑은 고딕"/>
              </a:rPr>
              <a:t>반도체 플랜트 제원 검증 · 질의응답 워크플로우 플랫폼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103628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1A1F29"/>
                </a:solidFill>
                <a:latin typeface="맑은 고딕"/>
                <a:ea typeface="맑은 고딕"/>
              </a:rPr>
              <a:t>Developer Briefing · 개발자 인수인계 자료 · Claude Artifact 기반 실시간 협업 데모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1A1F29"/>
                </a:solidFill>
                <a:latin typeface="맑은 고딕"/>
                <a:ea typeface="맑은 고딕"/>
              </a:rPr>
              <a:t>■  Table of Contents</a:t>
            </a:r>
          </a:p>
        </p:txBody>
      </p:sp>
      <p:sp>
        <p:nvSpPr>
          <p:cNvPr id="8" name="Oval 7"/>
          <p:cNvSpPr/>
          <p:nvPr/>
        </p:nvSpPr>
        <p:spPr>
          <a:xfrm>
            <a:off x="1661007" y="3337560"/>
            <a:ext cx="292608" cy="292608"/>
          </a:xfrm>
          <a:prstGeom prst="ellipse">
            <a:avLst/>
          </a:prstGeom>
          <a:solidFill>
            <a:srgbClr val="13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72487" y="3355848"/>
            <a:ext cx="379475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A1F29"/>
                </a:solidFill>
                <a:latin typeface="맑은 고딕"/>
                <a:ea typeface="맑은 고딕"/>
              </a:rPr>
              <a:t>배경 및 목적</a:t>
            </a:r>
          </a:p>
        </p:txBody>
      </p:sp>
      <p:sp>
        <p:nvSpPr>
          <p:cNvPr id="10" name="Oval 9"/>
          <p:cNvSpPr/>
          <p:nvPr/>
        </p:nvSpPr>
        <p:spPr>
          <a:xfrm>
            <a:off x="1661007" y="3758184"/>
            <a:ext cx="292608" cy="292608"/>
          </a:xfrm>
          <a:prstGeom prst="ellipse">
            <a:avLst/>
          </a:prstGeom>
          <a:solidFill>
            <a:srgbClr val="13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72487" y="3776472"/>
            <a:ext cx="379475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A1F29"/>
                </a:solidFill>
                <a:latin typeface="맑은 고딕"/>
                <a:ea typeface="맑은 고딕"/>
              </a:rPr>
              <a:t>AS-IS / TO-BE 비교</a:t>
            </a:r>
          </a:p>
        </p:txBody>
      </p:sp>
      <p:sp>
        <p:nvSpPr>
          <p:cNvPr id="12" name="Oval 11"/>
          <p:cNvSpPr/>
          <p:nvPr/>
        </p:nvSpPr>
        <p:spPr>
          <a:xfrm>
            <a:off x="1661007" y="4178808"/>
            <a:ext cx="292608" cy="292608"/>
          </a:xfrm>
          <a:prstGeom prst="ellipse">
            <a:avLst/>
          </a:prstGeom>
          <a:solidFill>
            <a:srgbClr val="13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72487" y="4197096"/>
            <a:ext cx="379475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A1F29"/>
                </a:solidFill>
                <a:latin typeface="맑은 고딕"/>
                <a:ea typeface="맑은 고딕"/>
              </a:rPr>
              <a:t>핵심 기능 — 화면 구성 (1/2)</a:t>
            </a:r>
          </a:p>
        </p:txBody>
      </p:sp>
      <p:sp>
        <p:nvSpPr>
          <p:cNvPr id="14" name="Oval 13"/>
          <p:cNvSpPr/>
          <p:nvPr/>
        </p:nvSpPr>
        <p:spPr>
          <a:xfrm>
            <a:off x="1661007" y="4599432"/>
            <a:ext cx="292608" cy="292608"/>
          </a:xfrm>
          <a:prstGeom prst="ellipse">
            <a:avLst/>
          </a:prstGeom>
          <a:solidFill>
            <a:srgbClr val="13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72487" y="4617720"/>
            <a:ext cx="379475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A1F29"/>
                </a:solidFill>
                <a:latin typeface="맑은 고딕"/>
                <a:ea typeface="맑은 고딕"/>
              </a:rPr>
              <a:t>핵심 기능 — 화면 구성 (2/2)</a:t>
            </a:r>
          </a:p>
        </p:txBody>
      </p:sp>
      <p:sp>
        <p:nvSpPr>
          <p:cNvPr id="16" name="Oval 15"/>
          <p:cNvSpPr/>
          <p:nvPr/>
        </p:nvSpPr>
        <p:spPr>
          <a:xfrm>
            <a:off x="6324447" y="3337560"/>
            <a:ext cx="292608" cy="292608"/>
          </a:xfrm>
          <a:prstGeom prst="ellipse">
            <a:avLst/>
          </a:prstGeom>
          <a:solidFill>
            <a:srgbClr val="13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355848"/>
            <a:ext cx="379475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A1F29"/>
                </a:solidFill>
                <a:latin typeface="맑은 고딕"/>
                <a:ea typeface="맑은 고딕"/>
              </a:rPr>
              <a:t>업무 가이드 — 플로우차트</a:t>
            </a:r>
          </a:p>
        </p:txBody>
      </p:sp>
      <p:sp>
        <p:nvSpPr>
          <p:cNvPr id="18" name="Oval 17"/>
          <p:cNvSpPr/>
          <p:nvPr/>
        </p:nvSpPr>
        <p:spPr>
          <a:xfrm>
            <a:off x="6324447" y="3758184"/>
            <a:ext cx="292608" cy="292608"/>
          </a:xfrm>
          <a:prstGeom prst="ellipse">
            <a:avLst/>
          </a:prstGeom>
          <a:solidFill>
            <a:srgbClr val="13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5927" y="3776472"/>
            <a:ext cx="379475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A1F29"/>
                </a:solidFill>
                <a:latin typeface="맑은 고딕"/>
                <a:ea typeface="맑은 고딕"/>
              </a:rPr>
              <a:t>질의응답 상태 머신</a:t>
            </a:r>
          </a:p>
        </p:txBody>
      </p:sp>
      <p:sp>
        <p:nvSpPr>
          <p:cNvPr id="20" name="Oval 19"/>
          <p:cNvSpPr/>
          <p:nvPr/>
        </p:nvSpPr>
        <p:spPr>
          <a:xfrm>
            <a:off x="6324447" y="4178808"/>
            <a:ext cx="292608" cy="292608"/>
          </a:xfrm>
          <a:prstGeom prst="ellipse">
            <a:avLst/>
          </a:prstGeom>
          <a:solidFill>
            <a:srgbClr val="13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5927" y="4197096"/>
            <a:ext cx="379475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A1F29"/>
                </a:solidFill>
                <a:latin typeface="맑은 고딕"/>
                <a:ea typeface="맑은 고딕"/>
              </a:rPr>
              <a:t>역할·권한 및 데이터 구조</a:t>
            </a:r>
          </a:p>
        </p:txBody>
      </p:sp>
      <p:sp>
        <p:nvSpPr>
          <p:cNvPr id="22" name="Oval 21"/>
          <p:cNvSpPr/>
          <p:nvPr/>
        </p:nvSpPr>
        <p:spPr>
          <a:xfrm>
            <a:off x="6324447" y="4599432"/>
            <a:ext cx="292608" cy="292608"/>
          </a:xfrm>
          <a:prstGeom prst="ellipse">
            <a:avLst/>
          </a:prstGeom>
          <a:solidFill>
            <a:srgbClr val="13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5927" y="4617720"/>
            <a:ext cx="379475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A1F29"/>
                </a:solidFill>
                <a:latin typeface="맑은 고딕"/>
                <a:ea typeface="맑은 고딕"/>
              </a:rPr>
              <a:t>향후 일정 및 다음 단계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1A1F29"/>
                </a:solidFill>
                <a:latin typeface="맑은 고딕"/>
                <a:ea typeface="맑은 고딕"/>
              </a:rPr>
              <a:t>제원 질의 데스크  ·  Spec Q&amp;A Desk  ·  For Developer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47207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A1F29"/>
                </a:solidFill>
                <a:latin typeface="맑은 고딕"/>
                <a:ea typeface="맑은 고딕"/>
              </a:rPr>
              <a:t>01 /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F29"/>
                </a:solidFill>
                <a:latin typeface="맑은 고딕"/>
                <a:ea typeface="맑은 고딕"/>
              </a:rPr>
              <a:t>배경 및 목적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10996"/>
            <a:ext cx="59436" cy="201168"/>
          </a:xfrm>
          <a:prstGeom prst="rect">
            <a:avLst/>
          </a:prstGeom>
          <a:solidFill>
            <a:srgbClr val="E8A33D"/>
          </a:solidFill>
          <a:ln>
            <a:noFill/>
          </a:ln>
          <a:effectLst>
            <a:outerShdw blurRad="38100" dist="19050" dir="8100000" rotWithShape="0">
              <a:srgbClr val="0A1626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9516" y="111556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A1F29"/>
                </a:solidFill>
                <a:latin typeface="맑은 고딕"/>
                <a:ea typeface="맑은 고딕"/>
              </a:rPr>
              <a:t>왜 "제원 질의 데스크"가 필요한가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1A1F29"/>
                </a:solidFill>
                <a:latin typeface="맑은 고딕"/>
                <a:ea typeface="맑은 고딕"/>
              </a:rPr>
              <a:t>제원 질의 데스크  ·  Spec Q&amp;A Desk  ·  For Developer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47207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A1F29"/>
                </a:solidFill>
                <a:latin typeface="맑은 고딕"/>
                <a:ea typeface="맑은 고딕"/>
              </a:rPr>
              <a:t>02 / 09</a:t>
            </a:r>
          </a:p>
        </p:txBody>
      </p:sp>
      <p:sp>
        <p:nvSpPr>
          <p:cNvPr id="8" name="Rectangle 7"/>
          <p:cNvSpPr/>
          <p:nvPr/>
        </p:nvSpPr>
        <p:spPr>
          <a:xfrm>
            <a:off x="10469880" y="365760"/>
            <a:ext cx="1188720" cy="320040"/>
          </a:xfrm>
          <a:prstGeom prst="rect">
            <a:avLst/>
          </a:prstGeom>
          <a:noFill/>
          <a:ln w="12700">
            <a:solidFill>
              <a:srgbClr val="DEE5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 i="0">
                <a:solidFill>
                  <a:srgbClr val="1A1F29"/>
                </a:solidFill>
                <a:latin typeface="맑은 고딕"/>
                <a:ea typeface="맑은 고딕"/>
              </a:rPr>
              <a:t>[ LOGO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36432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1F29"/>
                </a:solidFill>
                <a:latin typeface="맑은 고딕"/>
                <a:ea typeface="맑은 고딕"/>
              </a:rPr>
              <a:t>■  문제 정의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5364327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1A1F29"/>
                </a:solidFill>
                <a:latin typeface="맑은 고딕"/>
                <a:ea typeface="맑은 고딕"/>
              </a:rPr>
              <a:t>-   반도체 플랜트 건설 과정에서 대공정별 제원표(배관·전기·GCS 등)가 엑셀로 산발적으로 접수되어, 표준 형식 이탈이나 성상별 유량 초과 같은 오류를 사람이 일일이 찾아내야 함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1A1F29"/>
                </a:solidFill>
                <a:latin typeface="맑은 고딕"/>
                <a:ea typeface="맑은 고딕"/>
              </a:rPr>
              <a:t>-   제원 값에 대한 질의가 메일·구두로 오가며 이력이 남지 않아, 누가 언제 어떤 값을 확정했는지 추적이 어려움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1A1F29"/>
                </a:solidFill>
                <a:latin typeface="맑은 고딕"/>
                <a:ea typeface="맑은 고딕"/>
              </a:rPr>
              <a:t>-   제원 확정 전후 값 비교, 승인 이력, 담당자별 처리 현황을 한눈에 볼 수 있는 도구가 없음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1691640"/>
            <a:ext cx="536432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1F29"/>
                </a:solidFill>
                <a:latin typeface="맑은 고딕"/>
                <a:ea typeface="맑은 고딕"/>
              </a:rPr>
              <a:t>■  목적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2011680"/>
            <a:ext cx="5364327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1A1F29"/>
                </a:solidFill>
                <a:latin typeface="맑은 고딕"/>
                <a:ea typeface="맑은 고딕"/>
              </a:rPr>
              <a:t>-   검증 규칙(성상별 유량 OVER, 성상명 표준화)을 자동 실행해 이상 항목을 스스로 찾아 질의를 생성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1A1F29"/>
                </a:solidFill>
                <a:latin typeface="맑은 고딕"/>
                <a:ea typeface="맑은 고딕"/>
              </a:rPr>
              <a:t>-   기술팀(대공정) · 설계사(공종) · 건설팀 · 관리자 역할별로 질의응답·승인 흐름을 표준화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1A1F29"/>
                </a:solidFill>
                <a:latin typeface="맑은 고딕"/>
                <a:ea typeface="맑은 고딕"/>
              </a:rPr>
              <a:t>-   모든 변경 이력·버전·수정 근거를 제원 DB에 남겨 추적 가능한 단일 진실 공급원(Single Source of Truth) 확보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4206240"/>
          <a:ext cx="11094414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73603"/>
                <a:gridCol w="8320811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지표</a:t>
                      </a:r>
                    </a:p>
                  </a:txBody>
                  <a:tcPr anchor="ctr" marL="73152" marR="73152" marT="27432" marB="27432">
                    <a:solidFill>
                      <a:srgbClr val="132A46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기대 효과</a:t>
                      </a:r>
                    </a:p>
                  </a:txBody>
                  <a:tcPr anchor="ctr" marL="73152" marR="73152" marT="27432" marB="27432">
                    <a:solidFill>
                      <a:srgbClr val="132A46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질의 처리 시간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메일 · 구두 대신 화면 내 원클릭 확인 · 제안 · 승인으로 처리 시간 단축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데이터 정합성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표준 검증 규칙 자동 실행 + 승인 없이는 DB에 반영되지 않아 오기입 방지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추적성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모든 값 변경에 수정 이력(누가 · 언제 · 무엇에서 무엇으로)이 자동으로 기록됨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F29"/>
                </a:solidFill>
                <a:latin typeface="맑은 고딕"/>
                <a:ea typeface="맑은 고딕"/>
              </a:rPr>
              <a:t>AS-IS / TO-BE 비교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10996"/>
            <a:ext cx="59436" cy="201168"/>
          </a:xfrm>
          <a:prstGeom prst="rect">
            <a:avLst/>
          </a:prstGeom>
          <a:solidFill>
            <a:srgbClr val="E8A33D"/>
          </a:solidFill>
          <a:ln>
            <a:noFill/>
          </a:ln>
          <a:effectLst>
            <a:outerShdw blurRad="38100" dist="19050" dir="8100000" rotWithShape="0">
              <a:srgbClr val="0A1626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9516" y="111556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A1F29"/>
                </a:solidFill>
                <a:latin typeface="맑은 고딕"/>
                <a:ea typeface="맑은 고딕"/>
              </a:rPr>
              <a:t>제원 질의 데스크 도입 전후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1A1F29"/>
                </a:solidFill>
                <a:latin typeface="맑은 고딕"/>
                <a:ea typeface="맑은 고딕"/>
              </a:rPr>
              <a:t>제원 질의 데스크  ·  Spec Q&amp;A Desk  ·  For Developer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47207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A1F29"/>
                </a:solidFill>
                <a:latin typeface="맑은 고딕"/>
                <a:ea typeface="맑은 고딕"/>
              </a:rPr>
              <a:t>03 / 09</a:t>
            </a:r>
          </a:p>
        </p:txBody>
      </p:sp>
      <p:sp>
        <p:nvSpPr>
          <p:cNvPr id="8" name="Rectangle 7"/>
          <p:cNvSpPr/>
          <p:nvPr/>
        </p:nvSpPr>
        <p:spPr>
          <a:xfrm>
            <a:off x="10469880" y="365760"/>
            <a:ext cx="1188720" cy="320040"/>
          </a:xfrm>
          <a:prstGeom prst="rect">
            <a:avLst/>
          </a:prstGeom>
          <a:noFill/>
          <a:ln w="12700">
            <a:solidFill>
              <a:srgbClr val="DEE5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 i="0">
                <a:solidFill>
                  <a:srgbClr val="1A1F29"/>
                </a:solidFill>
                <a:latin typeface="맑은 고딕"/>
                <a:ea typeface="맑은 고딕"/>
              </a:rPr>
              <a:t>[ LOGO ]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691640"/>
          <a:ext cx="6212871" cy="45811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42574"/>
                <a:gridCol w="2226279"/>
                <a:gridCol w="2744018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anchor="ctr" marL="73152" marR="73152" marT="27432" marB="27432">
                    <a:solidFill>
                      <a:srgbClr val="132A46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AS-IS</a:t>
                      </a:r>
                    </a:p>
                  </a:txBody>
                  <a:tcPr anchor="ctr" marL="73152" marR="73152" marT="27432" marB="27432">
                    <a:solidFill>
                      <a:srgbClr val="132A46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TO-BE</a:t>
                      </a:r>
                    </a:p>
                  </a:txBody>
                  <a:tcPr anchor="ctr" marL="73152" marR="73152" marT="27432" marB="27432">
                    <a:solidFill>
                      <a:srgbClr val="132A46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</a:tr>
              <a:tr h="843076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제원 접수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엑셀 산발 접수, 형식 불일치 시 수작업 확인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표준 파서 자동 인식 + 비표준 제원은 "제원 수기입력"으로 흡수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</a:tr>
              <a:tr h="843076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오류 검증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담당자가 눈으로 직접 검토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성상별 유량 OVER, 표준명 이탈 등 규칙을 시스템이 자동 실행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</a:tr>
              <a:tr h="843076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질의 처리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메일 · 구두, 처리 이력 미보존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화면 내 단계별 흐름(미답변→…→해결됨)으로 이력 보존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</a:tr>
              <a:tr h="843076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값 변경 승인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개별 확인 없이 반영되는 경우 존재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설계사 최종확인(SPEC) · 건설팀 승인(수기입력) 없이는 DB 미반영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</a:tr>
              <a:tr h="843076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진행 현황 파악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개인별 파일 · 메모에 의존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대시보드 · SUMMARY · MY TASK 탭에서 실시간 집계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</a:tr>
            </a:tbl>
          </a:graphicData>
        </a:graphic>
      </p:graphicFrame>
      <p:cxnSp>
        <p:nvCxnSpPr>
          <p:cNvPr id="10" name="Connector 9"/>
          <p:cNvCxnSpPr/>
          <p:nvPr/>
        </p:nvCxnSpPr>
        <p:spPr>
          <a:xfrm>
            <a:off x="6898672" y="1691640"/>
            <a:ext cx="0" cy="4581144"/>
          </a:xfrm>
          <a:prstGeom prst="line">
            <a:avLst/>
          </a:prstGeom>
          <a:ln w="12700">
            <a:solidFill>
              <a:srgbClr val="DEE5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035832" y="1691640"/>
          <a:ext cx="4607222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42889"/>
                <a:gridCol w="2764333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 anchor="ctr" marL="73152" marR="73152" marT="27432" marB="27432">
                    <a:solidFill>
                      <a:srgbClr val="132A46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효과</a:t>
                      </a:r>
                    </a:p>
                  </a:txBody>
                  <a:tcPr anchor="ctr" marL="73152" marR="73152" marT="27432" marB="27432">
                    <a:solidFill>
                      <a:srgbClr val="132A46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처리 속도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자동 질의 일괄 생성 + 원클릭 확인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데이터 신뢰도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승인 게이트 + 수정 이력 자동 기록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협업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실시간 공유 DB로 여러 인원 동시 작업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확장성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PJT · 대공정 · 공종 단위 자동 필터링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7035832" y="3703320"/>
            <a:ext cx="4607222" cy="2569464"/>
          </a:xfrm>
          <a:prstGeom prst="rect">
            <a:avLst/>
          </a:prstGeom>
          <a:solidFill>
            <a:srgbClr val="F4F6FA"/>
          </a:solidFill>
          <a:ln w="12700">
            <a:solidFill>
              <a:srgbClr val="DE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 i="0">
                <a:solidFill>
                  <a:srgbClr val="1A1F29"/>
                </a:solidFill>
                <a:latin typeface="맑은 고딕"/>
                <a:ea typeface="맑은 고딕"/>
              </a:rPr>
              <a:t>■  핵심 개선 포인트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0" i="0">
                <a:solidFill>
                  <a:srgbClr val="1A1F29"/>
                </a:solidFill>
                <a:latin typeface="맑은 고딕"/>
                <a:ea typeface="맑은 고딕"/>
              </a:rPr>
              <a:t>값 변경은 반드시 승인(설계사 최종확인 또는 건설팀 승인)을 거쳐야 제원 DB에 반영되며, 그 과정이 수정 이력에 자동으로 남아 이전 프로세스 대비 추적성이 크게 향상됨.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F29"/>
                </a:solidFill>
                <a:latin typeface="맑은 고딕"/>
                <a:ea typeface="맑은 고딕"/>
              </a:rPr>
              <a:t>핵심 기능 — 화면 구성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10996"/>
            <a:ext cx="59436" cy="201168"/>
          </a:xfrm>
          <a:prstGeom prst="rect">
            <a:avLst/>
          </a:prstGeom>
          <a:solidFill>
            <a:srgbClr val="E8A33D"/>
          </a:solidFill>
          <a:ln>
            <a:noFill/>
          </a:ln>
          <a:effectLst>
            <a:outerShdw blurRad="38100" dist="19050" dir="8100000" rotWithShape="0">
              <a:srgbClr val="0A1626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9516" y="111556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A1F29"/>
                </a:solidFill>
                <a:latin typeface="맑은 고딕"/>
                <a:ea typeface="맑은 고딕"/>
              </a:rPr>
              <a:t>상단 네비게이션 탭 — 정보 확인 · 조회 중심 화면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1A1F29"/>
                </a:solidFill>
                <a:latin typeface="맑은 고딕"/>
                <a:ea typeface="맑은 고딕"/>
              </a:rPr>
              <a:t>제원 질의 데스크  ·  Spec Q&amp;A Desk  ·  For Developer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47207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A1F29"/>
                </a:solidFill>
                <a:latin typeface="맑은 고딕"/>
                <a:ea typeface="맑은 고딕"/>
              </a:rPr>
              <a:t>04 / 09</a:t>
            </a:r>
          </a:p>
        </p:txBody>
      </p:sp>
      <p:sp>
        <p:nvSpPr>
          <p:cNvPr id="8" name="Rectangle 7"/>
          <p:cNvSpPr/>
          <p:nvPr/>
        </p:nvSpPr>
        <p:spPr>
          <a:xfrm>
            <a:off x="10469880" y="365760"/>
            <a:ext cx="1188720" cy="320040"/>
          </a:xfrm>
          <a:prstGeom prst="rect">
            <a:avLst/>
          </a:prstGeom>
          <a:noFill/>
          <a:ln w="12700">
            <a:solidFill>
              <a:srgbClr val="DEE5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 i="0">
                <a:solidFill>
                  <a:srgbClr val="1A1F29"/>
                </a:solidFill>
                <a:latin typeface="맑은 고딕"/>
                <a:ea typeface="맑은 고딕"/>
              </a:rPr>
              <a:t>[ LOGO ]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691640"/>
          <a:ext cx="11094414" cy="458113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00545"/>
                <a:gridCol w="7610218"/>
                <a:gridCol w="1283651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화면(탭)</a:t>
                      </a:r>
                    </a:p>
                  </a:txBody>
                  <a:tcPr anchor="ctr" marL="73152" marR="73152" marT="27432" marB="27432">
                    <a:solidFill>
                      <a:srgbClr val="132A46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기능 설명</a:t>
                      </a:r>
                    </a:p>
                  </a:txBody>
                  <a:tcPr anchor="ctr" marL="73152" marR="73152" marT="27432" marB="27432">
                    <a:solidFill>
                      <a:srgbClr val="132A46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주요 사용자</a:t>
                      </a:r>
                    </a:p>
                  </a:txBody>
                  <a:tcPr anchor="ctr" marL="73152" marR="73152" marT="27432" marB="27432">
                    <a:solidFill>
                      <a:srgbClr val="132A46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</a:tr>
              <a:tr h="702563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업무 가이드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질의응답 · 제원 접수 처리 흐름을 플로우차트와 단계별 설명으로 안내(관리자가 문구 편집 가능)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전체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</a:tr>
              <a:tr h="702563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MY TASK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로그인한 사람이 지금 처리해야 할 질의 · 승인 건을 한곳에 모아 표시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전체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</a:tr>
              <a:tr h="702563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대시보드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전체 제원표 현황과 질의 통계를 한눈에 확인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전체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</a:tr>
              <a:tr h="702563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제원 DB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건설코드별 제원 항목을 검색 · 상세 조회, 변경 이력 셀 음영 및 호버 툴팁 제공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전체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</a:tr>
              <a:tr h="702563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그래프 만들기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행 · 열 · 값 · 집계를 선택해 제원 데이터를 표와 그래프로 즉시 생성, 엑셀 · PNG 다운로드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전체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</a:tr>
              <a:tr h="702563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SUMMARY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대공정별 총량 집계 요약, GCS 종수 확인 + PJT 추이를 꺾은선그래프로 확인(성상명 · 자재명별 보기 전환 가능)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전체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F29"/>
                </a:solidFill>
                <a:latin typeface="맑은 고딕"/>
                <a:ea typeface="맑은 고딕"/>
              </a:rPr>
              <a:t>핵심 기능 — 화면 구성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10996"/>
            <a:ext cx="59436" cy="201168"/>
          </a:xfrm>
          <a:prstGeom prst="rect">
            <a:avLst/>
          </a:prstGeom>
          <a:solidFill>
            <a:srgbClr val="E8A33D"/>
          </a:solidFill>
          <a:ln>
            <a:noFill/>
          </a:ln>
          <a:effectLst>
            <a:outerShdw blurRad="38100" dist="19050" dir="8100000" rotWithShape="0">
              <a:srgbClr val="0A1626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9516" y="111556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A1F29"/>
                </a:solidFill>
                <a:latin typeface="맑은 고딕"/>
                <a:ea typeface="맑은 고딕"/>
              </a:rPr>
              <a:t>상단 네비게이션 탭 — 질의 처리 · 데이터 반영 중심 화면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1A1F29"/>
                </a:solidFill>
                <a:latin typeface="맑은 고딕"/>
                <a:ea typeface="맑은 고딕"/>
              </a:rPr>
              <a:t>제원 질의 데스크  ·  Spec Q&amp;A Desk  ·  For Developer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47207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A1F29"/>
                </a:solidFill>
                <a:latin typeface="맑은 고딕"/>
                <a:ea typeface="맑은 고딕"/>
              </a:rPr>
              <a:t>05 / 09</a:t>
            </a:r>
          </a:p>
        </p:txBody>
      </p:sp>
      <p:sp>
        <p:nvSpPr>
          <p:cNvPr id="8" name="Rectangle 7"/>
          <p:cNvSpPr/>
          <p:nvPr/>
        </p:nvSpPr>
        <p:spPr>
          <a:xfrm>
            <a:off x="10469880" y="365760"/>
            <a:ext cx="1188720" cy="320040"/>
          </a:xfrm>
          <a:prstGeom prst="rect">
            <a:avLst/>
          </a:prstGeom>
          <a:noFill/>
          <a:ln w="12700">
            <a:solidFill>
              <a:srgbClr val="DEE5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 i="0">
                <a:solidFill>
                  <a:srgbClr val="1A1F29"/>
                </a:solidFill>
                <a:latin typeface="맑은 고딕"/>
                <a:ea typeface="맑은 고딕"/>
              </a:rPr>
              <a:t>[ LOGO ]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691640"/>
          <a:ext cx="11094413" cy="3931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64763"/>
                <a:gridCol w="7486475"/>
                <a:gridCol w="1443175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화면(탭)</a:t>
                      </a:r>
                    </a:p>
                  </a:txBody>
                  <a:tcPr anchor="ctr" marL="73152" marR="73152" marT="27432" marB="27432">
                    <a:solidFill>
                      <a:srgbClr val="132A46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기능 설명</a:t>
                      </a:r>
                    </a:p>
                  </a:txBody>
                  <a:tcPr anchor="ctr" marL="73152" marR="73152" marT="27432" marB="27432">
                    <a:solidFill>
                      <a:srgbClr val="132A46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주요 사용자</a:t>
                      </a:r>
                    </a:p>
                  </a:txBody>
                  <a:tcPr anchor="ctr" marL="73152" marR="73152" marT="27432" marB="27432">
                    <a:solidFill>
                      <a:srgbClr val="132A46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질의응답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제원 질의 목록 확인, 답변 · 값 제안 · 최종확인 처리(자동 · 수동 질의)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기술팀 · 설계사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수동질의 등록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설계사가 대공정 · 건설코드 · 설비모듈 · 필드를 직접 선택해 새 질의 등록(단건 또는 일괄)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설계사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제원표 업로드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협의된 엑셀 제원표 업로드 → 자동 파싱 · 건설코드 그룹핑 · 부분접수 누적 반영, 업로드 이력 관리(적용/미적용/삭제)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관리자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제원 수기입력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협의된 양식이 아닌 제원을 기술팀이 직접 추가 · 수정 · 삭제 요청 → 건설팀 담당자 승인 후 DB 반영(건설코드 검색 지원)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기술팀 · 건설팀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사용자 관리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시스템 사용자와 역할별 담당 대공정 · 공종 등록 · 관리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관리자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8640" y="5760720"/>
            <a:ext cx="11094415" cy="512063"/>
          </a:xfrm>
          <a:prstGeom prst="rect">
            <a:avLst/>
          </a:prstGeom>
          <a:solidFill>
            <a:srgbClr val="F4F6FA"/>
          </a:solidFill>
          <a:ln w="12700">
            <a:solidFill>
              <a:srgbClr val="DE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 i="0">
                <a:solidFill>
                  <a:srgbClr val="1A1F29"/>
                </a:solidFill>
                <a:latin typeface="맑은 고딕"/>
                <a:ea typeface="맑은 고딕"/>
              </a:rPr>
              <a:t>■  동기화 원칙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0" i="0">
                <a:solidFill>
                  <a:srgbClr val="1A1F29"/>
                </a:solidFill>
                <a:latin typeface="맑은 고딕"/>
                <a:ea typeface="맑은 고딕"/>
              </a:rPr>
              <a:t>제원표 · 질의 · 수정 이력 등 공유 DB 값이 바뀌면 위 화면들은 캐시 없이 매 렌더링마다 최신 상태를 다시 계산해 즉시 반영한다 — 여러 사용자가 동시에 봐도 항상 같은 값을 본다.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F29"/>
                </a:solidFill>
                <a:latin typeface="맑은 고딕"/>
                <a:ea typeface="맑은 고딕"/>
              </a:rPr>
              <a:t>업무 프로세스 — 질의응답 플로우차트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10996"/>
            <a:ext cx="59436" cy="201168"/>
          </a:xfrm>
          <a:prstGeom prst="rect">
            <a:avLst/>
          </a:prstGeom>
          <a:solidFill>
            <a:srgbClr val="E8A33D"/>
          </a:solidFill>
          <a:ln>
            <a:noFill/>
          </a:ln>
          <a:effectLst>
            <a:outerShdw blurRad="38100" dist="19050" dir="8100000" rotWithShape="0">
              <a:srgbClr val="0A1626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9516" y="111556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A1F29"/>
                </a:solidFill>
                <a:latin typeface="맑은 고딕"/>
                <a:ea typeface="맑은 고딕"/>
              </a:rPr>
              <a:t>질의 등록부터 종결까지의 처리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1A1F29"/>
                </a:solidFill>
                <a:latin typeface="맑은 고딕"/>
                <a:ea typeface="맑은 고딕"/>
              </a:rPr>
              <a:t>제원 질의 데스크  ·  Spec Q&amp;A Desk  ·  For Developer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47207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A1F29"/>
                </a:solidFill>
                <a:latin typeface="맑은 고딕"/>
                <a:ea typeface="맑은 고딕"/>
              </a:rPr>
              <a:t>06 / 09</a:t>
            </a:r>
          </a:p>
        </p:txBody>
      </p:sp>
      <p:sp>
        <p:nvSpPr>
          <p:cNvPr id="8" name="Rectangle 7"/>
          <p:cNvSpPr/>
          <p:nvPr/>
        </p:nvSpPr>
        <p:spPr>
          <a:xfrm>
            <a:off x="10469880" y="365760"/>
            <a:ext cx="1188720" cy="320040"/>
          </a:xfrm>
          <a:prstGeom prst="rect">
            <a:avLst/>
          </a:prstGeom>
          <a:noFill/>
          <a:ln w="12700">
            <a:solidFill>
              <a:srgbClr val="DEE5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 i="0">
                <a:solidFill>
                  <a:srgbClr val="1A1F29"/>
                </a:solidFill>
                <a:latin typeface="맑은 고딕"/>
                <a:ea typeface="맑은 고딕"/>
              </a:rPr>
              <a:t>[ LOGO 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1276" y="1773936"/>
            <a:ext cx="493776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32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F29"/>
                </a:solidFill>
                <a:latin typeface="맑은 고딕"/>
                <a:ea typeface="맑은 고딕"/>
              </a:rPr>
              <a:t>질의 등록</a:t>
            </a:r>
          </a:p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F29"/>
                </a:solidFill>
                <a:latin typeface="맑은 고딕"/>
                <a:ea typeface="맑은 고딕"/>
              </a:rPr>
              <a:t>(검증 규칙 위반 자동 감지 또는 설계사 직접 등록)</a:t>
            </a:r>
          </a:p>
        </p:txBody>
      </p:sp>
      <p:sp>
        <p:nvSpPr>
          <p:cNvPr id="10" name="Diamond 9"/>
          <p:cNvSpPr/>
          <p:nvPr/>
        </p:nvSpPr>
        <p:spPr>
          <a:xfrm>
            <a:off x="4448556" y="2240280"/>
            <a:ext cx="2743200" cy="914400"/>
          </a:xfrm>
          <a:prstGeom prst="diamond">
            <a:avLst/>
          </a:prstGeom>
          <a:solidFill>
            <a:srgbClr val="F4F6FA"/>
          </a:solidFill>
          <a:ln w="15875">
            <a:solidFill>
              <a:srgbClr val="132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A1F29"/>
                </a:solidFill>
                <a:latin typeface="맑은 고딕"/>
                <a:ea typeface="맑은 고딕"/>
              </a:rPr>
              <a:t>제원 DB 값</a:t>
            </a:r>
          </a:p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A1F29"/>
                </a:solidFill>
                <a:latin typeface="맑은 고딕"/>
                <a:ea typeface="맑은 고딕"/>
              </a:rPr>
              <a:t>변경 질의?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25880" y="3017520"/>
            <a:ext cx="283464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32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F29"/>
                </a:solidFill>
                <a:latin typeface="맑은 고딕"/>
                <a:ea typeface="맑은 고딕"/>
              </a:rPr>
              <a:t>기술팀 확인 · 값 제안</a:t>
            </a:r>
          </a:p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F29"/>
                </a:solidFill>
                <a:latin typeface="맑은 고딕"/>
                <a:ea typeface="맑은 고딕"/>
              </a:rPr>
              <a:t>(AS-IS 유지 또는 새 값 제안)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25880" y="3776472"/>
            <a:ext cx="2834640" cy="40233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32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F29"/>
                </a:solidFill>
                <a:latin typeface="맑은 고딕"/>
                <a:ea typeface="맑은 고딕"/>
              </a:rPr>
              <a:t>값 제안됨</a:t>
            </a:r>
          </a:p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F29"/>
                </a:solidFill>
                <a:latin typeface="맑은 고딕"/>
                <a:ea typeface="맑은 고딕"/>
              </a:rPr>
              <a:t>(설계사 최종승인 대기)</a:t>
            </a:r>
          </a:p>
        </p:txBody>
      </p:sp>
      <p:sp>
        <p:nvSpPr>
          <p:cNvPr id="13" name="Diamond 12"/>
          <p:cNvSpPr/>
          <p:nvPr/>
        </p:nvSpPr>
        <p:spPr>
          <a:xfrm>
            <a:off x="1554480" y="4297679"/>
            <a:ext cx="2377440" cy="731520"/>
          </a:xfrm>
          <a:prstGeom prst="diamond">
            <a:avLst/>
          </a:prstGeom>
          <a:solidFill>
            <a:srgbClr val="F4F6FA"/>
          </a:solidFill>
          <a:ln w="15875">
            <a:solidFill>
              <a:srgbClr val="132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A1F29"/>
                </a:solidFill>
                <a:latin typeface="맑은 고딕"/>
                <a:ea typeface="맑은 고딕"/>
              </a:rPr>
              <a:t>설계사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A1F29"/>
                </a:solidFill>
                <a:latin typeface="맑은 고딕"/>
                <a:ea typeface="맑은 고딕"/>
              </a:rPr>
              <a:t>최종확인?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25880" y="5321807"/>
            <a:ext cx="2834640" cy="420624"/>
          </a:xfrm>
          <a:prstGeom prst="roundRect">
            <a:avLst/>
          </a:prstGeom>
          <a:solidFill>
            <a:srgbClr val="132A46"/>
          </a:solidFill>
          <a:ln w="15875">
            <a:solidFill>
              <a:srgbClr val="132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해결됨</a:t>
            </a:r>
          </a:p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(제원 DB 반영 · 수정이력 기록)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3017520"/>
            <a:ext cx="283464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32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F29"/>
                </a:solidFill>
                <a:latin typeface="맑은 고딕"/>
                <a:ea typeface="맑은 고딕"/>
              </a:rPr>
              <a:t>기술팀 서술형 답변 등록</a:t>
            </a:r>
          </a:p>
        </p:txBody>
      </p:sp>
      <p:sp>
        <p:nvSpPr>
          <p:cNvPr id="16" name="Diamond 15"/>
          <p:cNvSpPr/>
          <p:nvPr/>
        </p:nvSpPr>
        <p:spPr>
          <a:xfrm>
            <a:off x="7863840" y="3657600"/>
            <a:ext cx="2377440" cy="731520"/>
          </a:xfrm>
          <a:prstGeom prst="diamond">
            <a:avLst/>
          </a:prstGeom>
          <a:solidFill>
            <a:srgbClr val="F4F6FA"/>
          </a:solidFill>
          <a:ln w="15875">
            <a:solidFill>
              <a:srgbClr val="132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A1F29"/>
                </a:solidFill>
                <a:latin typeface="맑은 고딕"/>
                <a:ea typeface="맑은 고딕"/>
              </a:rPr>
              <a:t>설계사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A1F29"/>
                </a:solidFill>
                <a:latin typeface="맑은 고딕"/>
                <a:ea typeface="맑은 고딕"/>
              </a:rPr>
              <a:t>최종검증?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4681727"/>
            <a:ext cx="2834640" cy="420624"/>
          </a:xfrm>
          <a:prstGeom prst="roundRect">
            <a:avLst/>
          </a:prstGeom>
          <a:solidFill>
            <a:srgbClr val="132A46"/>
          </a:solidFill>
          <a:ln w="15875">
            <a:solidFill>
              <a:srgbClr val="132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해결됨</a:t>
            </a:r>
          </a:p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(제원 DB 변경 없이 종결)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20156" y="2157984"/>
            <a:ext cx="0" cy="82296"/>
          </a:xfrm>
          <a:prstGeom prst="line">
            <a:avLst/>
          </a:prstGeom>
          <a:ln w="15875">
            <a:solidFill>
              <a:srgbClr val="132A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2743200" y="2697480"/>
            <a:ext cx="1751076" cy="0"/>
          </a:xfrm>
          <a:prstGeom prst="line">
            <a:avLst/>
          </a:prstGeom>
          <a:ln w="15875">
            <a:solidFill>
              <a:srgbClr val="132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2697480"/>
            <a:ext cx="0" cy="320040"/>
          </a:xfrm>
          <a:prstGeom prst="line">
            <a:avLst/>
          </a:prstGeom>
          <a:ln w="15875">
            <a:solidFill>
              <a:srgbClr val="132A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146036" y="2697480"/>
            <a:ext cx="1906524" cy="0"/>
          </a:xfrm>
          <a:prstGeom prst="line">
            <a:avLst/>
          </a:prstGeom>
          <a:ln w="15875">
            <a:solidFill>
              <a:srgbClr val="132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052560" y="2697480"/>
            <a:ext cx="0" cy="320040"/>
          </a:xfrm>
          <a:prstGeom prst="line">
            <a:avLst/>
          </a:prstGeom>
          <a:ln w="15875">
            <a:solidFill>
              <a:srgbClr val="132A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43200" y="3474720"/>
            <a:ext cx="0" cy="301752"/>
          </a:xfrm>
          <a:prstGeom prst="line">
            <a:avLst/>
          </a:prstGeom>
          <a:ln w="15875">
            <a:solidFill>
              <a:srgbClr val="132A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743200" y="4178808"/>
            <a:ext cx="0" cy="118872"/>
          </a:xfrm>
          <a:prstGeom prst="line">
            <a:avLst/>
          </a:prstGeom>
          <a:ln w="15875">
            <a:solidFill>
              <a:srgbClr val="132A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743200" y="5029200"/>
            <a:ext cx="0" cy="292608"/>
          </a:xfrm>
          <a:prstGeom prst="line">
            <a:avLst/>
          </a:prstGeom>
          <a:ln w="15875">
            <a:solidFill>
              <a:srgbClr val="132A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052560" y="3474720"/>
            <a:ext cx="0" cy="182880"/>
          </a:xfrm>
          <a:prstGeom prst="line">
            <a:avLst/>
          </a:prstGeom>
          <a:ln w="15875">
            <a:solidFill>
              <a:srgbClr val="132A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052560" y="4389120"/>
            <a:ext cx="0" cy="292608"/>
          </a:xfrm>
          <a:prstGeom prst="line">
            <a:avLst/>
          </a:prstGeom>
          <a:ln w="15875">
            <a:solidFill>
              <a:srgbClr val="132A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914400" y="4663440"/>
            <a:ext cx="640080" cy="0"/>
          </a:xfrm>
          <a:prstGeom prst="line">
            <a:avLst/>
          </a:prstGeom>
          <a:ln w="15875">
            <a:solidFill>
              <a:srgbClr val="132A4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914400" y="3246120"/>
            <a:ext cx="0" cy="1417320"/>
          </a:xfrm>
          <a:prstGeom prst="line">
            <a:avLst/>
          </a:prstGeom>
          <a:ln w="15875">
            <a:solidFill>
              <a:srgbClr val="132A4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14400" y="3246120"/>
            <a:ext cx="411480" cy="0"/>
          </a:xfrm>
          <a:prstGeom prst="line">
            <a:avLst/>
          </a:prstGeom>
          <a:ln w="15875">
            <a:solidFill>
              <a:srgbClr val="132A4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241280" y="4023360"/>
            <a:ext cx="365760" cy="0"/>
          </a:xfrm>
          <a:prstGeom prst="line">
            <a:avLst/>
          </a:prstGeom>
          <a:ln w="15875">
            <a:solidFill>
              <a:srgbClr val="132A4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0607040" y="3246120"/>
            <a:ext cx="0" cy="777240"/>
          </a:xfrm>
          <a:prstGeom prst="line">
            <a:avLst/>
          </a:prstGeom>
          <a:ln w="15875">
            <a:solidFill>
              <a:srgbClr val="132A4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10469880" y="3246120"/>
            <a:ext cx="137160" cy="0"/>
          </a:xfrm>
          <a:prstGeom prst="line">
            <a:avLst/>
          </a:prstGeom>
          <a:ln w="15875">
            <a:solidFill>
              <a:srgbClr val="132A4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3154679" y="2432303"/>
            <a:ext cx="82296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1A1F29"/>
                </a:solidFill>
                <a:latin typeface="맑은 고딕"/>
                <a:ea typeface="맑은 고딕"/>
              </a:rPr>
              <a:t>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26680" y="2432303"/>
            <a:ext cx="82296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1A1F29"/>
                </a:solidFill>
                <a:latin typeface="맑은 고딕"/>
                <a:ea typeface="맑은 고딕"/>
              </a:rPr>
              <a:t>아니오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68880" y="5084064"/>
            <a:ext cx="548640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1A1F29"/>
                </a:solidFill>
                <a:latin typeface="맑은 고딕"/>
                <a:ea typeface="맑은 고딕"/>
              </a:rPr>
              <a:t>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78240" y="4443984"/>
            <a:ext cx="548640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1A1F29"/>
                </a:solidFill>
                <a:latin typeface="맑은 고딕"/>
                <a:ea typeface="맑은 고딕"/>
              </a:rPr>
              <a:t>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334255"/>
            <a:ext cx="731520" cy="2011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1A1F29"/>
                </a:solidFill>
                <a:latin typeface="맑은 고딕"/>
                <a:ea typeface="맑은 고딕"/>
              </a:rPr>
              <a:t>재질의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241280" y="3557016"/>
            <a:ext cx="731520" cy="2011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1A1F29"/>
                </a:solidFill>
                <a:latin typeface="맑은 고딕"/>
                <a:ea typeface="맑은 고딕"/>
              </a:rPr>
              <a:t>재질의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F29"/>
                </a:solidFill>
                <a:latin typeface="맑은 고딕"/>
                <a:ea typeface="맑은 고딕"/>
              </a:rPr>
              <a:t>업무 프로세스 — 제원 접수 플로우차트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10996"/>
            <a:ext cx="59436" cy="201168"/>
          </a:xfrm>
          <a:prstGeom prst="rect">
            <a:avLst/>
          </a:prstGeom>
          <a:solidFill>
            <a:srgbClr val="E8A33D"/>
          </a:solidFill>
          <a:ln>
            <a:noFill/>
          </a:ln>
          <a:effectLst>
            <a:outerShdw blurRad="38100" dist="19050" dir="8100000" rotWithShape="0">
              <a:srgbClr val="0A1626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9516" y="111556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A1F29"/>
                </a:solidFill>
                <a:latin typeface="맑은 고딕"/>
                <a:ea typeface="맑은 고딕"/>
              </a:rPr>
              <a:t>제원표가 제원 DB에 채워지는 과정(부분접수 포함)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1A1F29"/>
                </a:solidFill>
                <a:latin typeface="맑은 고딕"/>
                <a:ea typeface="맑은 고딕"/>
              </a:rPr>
              <a:t>제원 질의 데스크  ·  Spec Q&amp;A Desk  ·  For Developer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47207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A1F29"/>
                </a:solidFill>
                <a:latin typeface="맑은 고딕"/>
                <a:ea typeface="맑은 고딕"/>
              </a:rPr>
              <a:t>07 / 09</a:t>
            </a:r>
          </a:p>
        </p:txBody>
      </p:sp>
      <p:sp>
        <p:nvSpPr>
          <p:cNvPr id="8" name="Rectangle 7"/>
          <p:cNvSpPr/>
          <p:nvPr/>
        </p:nvSpPr>
        <p:spPr>
          <a:xfrm>
            <a:off x="10469880" y="365760"/>
            <a:ext cx="1188720" cy="320040"/>
          </a:xfrm>
          <a:prstGeom prst="rect">
            <a:avLst/>
          </a:prstGeom>
          <a:noFill/>
          <a:ln w="12700">
            <a:solidFill>
              <a:srgbClr val="DEE5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 i="0">
                <a:solidFill>
                  <a:srgbClr val="1A1F29"/>
                </a:solidFill>
                <a:latin typeface="맑은 고딕"/>
                <a:ea typeface="맑은 고딕"/>
              </a:rPr>
              <a:t>[ LOGO 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34156" y="1773936"/>
            <a:ext cx="457200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32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F29"/>
                </a:solidFill>
                <a:latin typeface="맑은 고딕"/>
                <a:ea typeface="맑은 고딕"/>
              </a:rPr>
              <a:t>제원표 도착</a:t>
            </a:r>
          </a:p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F29"/>
                </a:solidFill>
                <a:latin typeface="맑은 고딕"/>
                <a:ea typeface="맑은 고딕"/>
              </a:rPr>
              <a:t>(전체 또는 부분 접수 가능)</a:t>
            </a:r>
          </a:p>
        </p:txBody>
      </p:sp>
      <p:sp>
        <p:nvSpPr>
          <p:cNvPr id="10" name="Diamond 9"/>
          <p:cNvSpPr/>
          <p:nvPr/>
        </p:nvSpPr>
        <p:spPr>
          <a:xfrm>
            <a:off x="4448556" y="2240280"/>
            <a:ext cx="2743200" cy="914400"/>
          </a:xfrm>
          <a:prstGeom prst="diamond">
            <a:avLst/>
          </a:prstGeom>
          <a:solidFill>
            <a:srgbClr val="F4F6FA"/>
          </a:solidFill>
          <a:ln w="15875">
            <a:solidFill>
              <a:srgbClr val="132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A1F29"/>
                </a:solidFill>
                <a:latin typeface="맑은 고딕"/>
                <a:ea typeface="맑은 고딕"/>
              </a:rPr>
              <a:t>표준 엑셀</a:t>
            </a:r>
          </a:p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A1F29"/>
                </a:solidFill>
                <a:latin typeface="맑은 고딕"/>
                <a:ea typeface="맑은 고딕"/>
              </a:rPr>
              <a:t>양식인가?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2994660"/>
            <a:ext cx="292608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32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F29"/>
                </a:solidFill>
                <a:latin typeface="맑은 고딕"/>
                <a:ea typeface="맑은 고딕"/>
              </a:rPr>
              <a:t>제원표 업로드</a:t>
            </a:r>
          </a:p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F29"/>
                </a:solidFill>
                <a:latin typeface="맑은 고딕"/>
                <a:ea typeface="맑은 고딕"/>
              </a:rPr>
              <a:t>(관리자 · 자동 파싱 · 건설코드별 누적)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2994660"/>
            <a:ext cx="292608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32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F29"/>
                </a:solidFill>
                <a:latin typeface="맑은 고딕"/>
                <a:ea typeface="맑은 고딕"/>
              </a:rPr>
              <a:t>제원 수기입력 요청</a:t>
            </a:r>
          </a:p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F29"/>
                </a:solidFill>
                <a:latin typeface="맑은 고딕"/>
                <a:ea typeface="맑은 고딕"/>
              </a:rPr>
              <a:t>(기술팀 담당자)</a:t>
            </a:r>
          </a:p>
        </p:txBody>
      </p:sp>
      <p:sp>
        <p:nvSpPr>
          <p:cNvPr id="13" name="Diamond 12"/>
          <p:cNvSpPr/>
          <p:nvPr/>
        </p:nvSpPr>
        <p:spPr>
          <a:xfrm>
            <a:off x="7406640" y="3817620"/>
            <a:ext cx="2560320" cy="868680"/>
          </a:xfrm>
          <a:prstGeom prst="diamond">
            <a:avLst/>
          </a:prstGeom>
          <a:solidFill>
            <a:srgbClr val="F4F6FA"/>
          </a:solidFill>
          <a:ln w="15875">
            <a:solidFill>
              <a:srgbClr val="132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A1F29"/>
                </a:solidFill>
                <a:latin typeface="맑은 고딕"/>
                <a:ea typeface="맑은 고딕"/>
              </a:rPr>
              <a:t>건설팀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A1F29"/>
                </a:solidFill>
                <a:latin typeface="맑은 고딕"/>
                <a:ea typeface="맑은 고딕"/>
              </a:rPr>
              <a:t>승인?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76956" y="5372100"/>
            <a:ext cx="5486400" cy="502920"/>
          </a:xfrm>
          <a:prstGeom prst="roundRect">
            <a:avLst/>
          </a:prstGeom>
          <a:solidFill>
            <a:srgbClr val="132A46"/>
          </a:solidFill>
          <a:ln w="15875">
            <a:solidFill>
              <a:srgbClr val="132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제원 DB 반영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(버전 +1 · 검증 규칙 실행)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20156" y="2157984"/>
            <a:ext cx="0" cy="82296"/>
          </a:xfrm>
          <a:prstGeom prst="line">
            <a:avLst/>
          </a:prstGeom>
          <a:ln w="15875">
            <a:solidFill>
              <a:srgbClr val="132A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926080" y="2697480"/>
            <a:ext cx="1522476" cy="0"/>
          </a:xfrm>
          <a:prstGeom prst="line">
            <a:avLst/>
          </a:prstGeom>
          <a:ln w="15875">
            <a:solidFill>
              <a:srgbClr val="132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926080" y="2697480"/>
            <a:ext cx="0" cy="297180"/>
          </a:xfrm>
          <a:prstGeom prst="line">
            <a:avLst/>
          </a:prstGeom>
          <a:ln w="15875">
            <a:solidFill>
              <a:srgbClr val="132A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191756" y="2697480"/>
            <a:ext cx="1495044" cy="0"/>
          </a:xfrm>
          <a:prstGeom prst="line">
            <a:avLst/>
          </a:prstGeom>
          <a:ln w="15875">
            <a:solidFill>
              <a:srgbClr val="132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686800" y="2697480"/>
            <a:ext cx="0" cy="297180"/>
          </a:xfrm>
          <a:prstGeom prst="line">
            <a:avLst/>
          </a:prstGeom>
          <a:ln w="15875">
            <a:solidFill>
              <a:srgbClr val="132A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926080" y="3497580"/>
            <a:ext cx="0" cy="1623060"/>
          </a:xfrm>
          <a:prstGeom prst="line">
            <a:avLst/>
          </a:prstGeom>
          <a:ln w="15875">
            <a:solidFill>
              <a:srgbClr val="132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926080" y="5120640"/>
            <a:ext cx="914400" cy="0"/>
          </a:xfrm>
          <a:prstGeom prst="line">
            <a:avLst/>
          </a:prstGeom>
          <a:ln w="15875">
            <a:solidFill>
              <a:srgbClr val="132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840480" y="5120640"/>
            <a:ext cx="0" cy="251460"/>
          </a:xfrm>
          <a:prstGeom prst="line">
            <a:avLst/>
          </a:prstGeom>
          <a:ln w="15875">
            <a:solidFill>
              <a:srgbClr val="132A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686800" y="3497580"/>
            <a:ext cx="0" cy="320040"/>
          </a:xfrm>
          <a:prstGeom prst="line">
            <a:avLst/>
          </a:prstGeom>
          <a:ln w="15875">
            <a:solidFill>
              <a:srgbClr val="132A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86800" y="4686300"/>
            <a:ext cx="0" cy="434340"/>
          </a:xfrm>
          <a:prstGeom prst="line">
            <a:avLst/>
          </a:prstGeom>
          <a:ln w="15875">
            <a:solidFill>
              <a:srgbClr val="132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7863840" y="5120640"/>
            <a:ext cx="822960" cy="0"/>
          </a:xfrm>
          <a:prstGeom prst="line">
            <a:avLst/>
          </a:prstGeom>
          <a:ln w="15875">
            <a:solidFill>
              <a:srgbClr val="132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863840" y="5120640"/>
            <a:ext cx="0" cy="251460"/>
          </a:xfrm>
          <a:prstGeom prst="line">
            <a:avLst/>
          </a:prstGeom>
          <a:ln w="15875">
            <a:solidFill>
              <a:srgbClr val="132A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966960" y="4251960"/>
            <a:ext cx="457200" cy="0"/>
          </a:xfrm>
          <a:prstGeom prst="line">
            <a:avLst/>
          </a:prstGeom>
          <a:ln w="15875">
            <a:solidFill>
              <a:srgbClr val="132A4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0424160" y="3246120"/>
            <a:ext cx="0" cy="1005840"/>
          </a:xfrm>
          <a:prstGeom prst="line">
            <a:avLst/>
          </a:prstGeom>
          <a:ln w="15875">
            <a:solidFill>
              <a:srgbClr val="132A4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10149840" y="3246120"/>
            <a:ext cx="274320" cy="0"/>
          </a:xfrm>
          <a:prstGeom prst="line">
            <a:avLst/>
          </a:prstGeom>
          <a:ln w="15875">
            <a:solidFill>
              <a:srgbClr val="132A4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246120" y="2432303"/>
            <a:ext cx="82296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1A1F29"/>
                </a:solidFill>
                <a:latin typeface="맑은 고딕"/>
                <a:ea typeface="맑은 고딕"/>
              </a:rPr>
              <a:t>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43800" y="2432303"/>
            <a:ext cx="82296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1A1F29"/>
                </a:solidFill>
                <a:latin typeface="맑은 고딕"/>
                <a:ea typeface="맑은 고딕"/>
              </a:rPr>
              <a:t>아니오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0" y="4809744"/>
            <a:ext cx="548640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1A1F29"/>
                </a:solidFill>
                <a:latin typeface="맑은 고딕"/>
                <a:ea typeface="맑은 고딕"/>
              </a:rPr>
              <a:t>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00" y="3648456"/>
            <a:ext cx="731520" cy="2011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1A1F29"/>
                </a:solidFill>
                <a:latin typeface="맑은 고딕"/>
                <a:ea typeface="맑은 고딕"/>
              </a:rPr>
              <a:t>반려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F29"/>
                </a:solidFill>
                <a:latin typeface="맑은 고딕"/>
                <a:ea typeface="맑은 고딕"/>
              </a:rPr>
              <a:t>역할 · 권한 및 데이터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10996"/>
            <a:ext cx="59436" cy="201168"/>
          </a:xfrm>
          <a:prstGeom prst="rect">
            <a:avLst/>
          </a:prstGeom>
          <a:solidFill>
            <a:srgbClr val="E8A33D"/>
          </a:solidFill>
          <a:ln>
            <a:noFill/>
          </a:ln>
          <a:effectLst>
            <a:outerShdw blurRad="38100" dist="19050" dir="8100000" rotWithShape="0">
              <a:srgbClr val="0A1626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9516" y="111556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A1F29"/>
                </a:solidFill>
                <a:latin typeface="맑은 고딕"/>
                <a:ea typeface="맑은 고딕"/>
              </a:rPr>
              <a:t>역할별 권한 범위와 공유 데이터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1A1F29"/>
                </a:solidFill>
                <a:latin typeface="맑은 고딕"/>
                <a:ea typeface="맑은 고딕"/>
              </a:rPr>
              <a:t>제원 질의 데스크  ·  Spec Q&amp;A Desk  ·  For Developer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47207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A1F29"/>
                </a:solidFill>
                <a:latin typeface="맑은 고딕"/>
                <a:ea typeface="맑은 고딕"/>
              </a:rPr>
              <a:t>08 / 09</a:t>
            </a:r>
          </a:p>
        </p:txBody>
      </p:sp>
      <p:sp>
        <p:nvSpPr>
          <p:cNvPr id="8" name="Rectangle 7"/>
          <p:cNvSpPr/>
          <p:nvPr/>
        </p:nvSpPr>
        <p:spPr>
          <a:xfrm>
            <a:off x="10469880" y="365760"/>
            <a:ext cx="1188720" cy="320040"/>
          </a:xfrm>
          <a:prstGeom prst="rect">
            <a:avLst/>
          </a:prstGeom>
          <a:noFill/>
          <a:ln w="12700">
            <a:solidFill>
              <a:srgbClr val="DEE5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 i="0">
                <a:solidFill>
                  <a:srgbClr val="1A1F29"/>
                </a:solidFill>
                <a:latin typeface="맑은 고딕"/>
                <a:ea typeface="맑은 고딕"/>
              </a:rPr>
              <a:t>[ LOGO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10343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1F29"/>
                </a:solidFill>
                <a:latin typeface="맑은 고딕"/>
                <a:ea typeface="맑은 고딕"/>
              </a:rPr>
              <a:t>■  역할별 권한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011680"/>
          <a:ext cx="5103430" cy="42611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33097"/>
                <a:gridCol w="3470333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</a:p>
                  </a:txBody>
                  <a:tcPr anchor="ctr" marL="73152" marR="73152" marT="27432" marB="27432">
                    <a:solidFill>
                      <a:srgbClr val="132A46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권한 요약</a:t>
                      </a:r>
                    </a:p>
                  </a:txBody>
                  <a:tcPr anchor="ctr" marL="73152" marR="73152" marT="27432" marB="27432">
                    <a:solidFill>
                      <a:srgbClr val="132A46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</a:tr>
              <a:tr h="973836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관리자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전체 데이터 열람, 제원표 업로드, 승인 절차 없이 즉시 반영, 모든 승인 대기 요청 검토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</a:tr>
              <a:tr h="973836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기술팀 담당자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담당 대공정의 질의 확인 · 답변 · 값 제안, 제원 수기입력 요청 제출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</a:tr>
              <a:tr h="973836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건설팀 담당자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담당 대공정의 제원 수기입력 요청 승인 · 반려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</a:tr>
              <a:tr h="973836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설계사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담당 공종의 질의 등록 · 최종확인 · 최종검증, 수동질의 직접 등록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</a:tr>
            </a:tbl>
          </a:graphicData>
        </a:graphic>
      </p:graphicFrame>
      <p:cxnSp>
        <p:nvCxnSpPr>
          <p:cNvPr id="11" name="Connector 10"/>
          <p:cNvCxnSpPr/>
          <p:nvPr/>
        </p:nvCxnSpPr>
        <p:spPr>
          <a:xfrm>
            <a:off x="5789230" y="1691640"/>
            <a:ext cx="0" cy="4581144"/>
          </a:xfrm>
          <a:prstGeom prst="line">
            <a:avLst/>
          </a:prstGeom>
          <a:ln w="12700">
            <a:solidFill>
              <a:srgbClr val="DEE5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926390" y="1691640"/>
            <a:ext cx="57166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1F29"/>
                </a:solidFill>
                <a:latin typeface="맑은 고딕"/>
                <a:ea typeface="맑은 고딕"/>
              </a:rPr>
              <a:t>■  공유 데이터 구성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926390" y="2011680"/>
          <a:ext cx="5716663" cy="31089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29332"/>
                <a:gridCol w="3887331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데이터</a:t>
                      </a:r>
                    </a:p>
                  </a:txBody>
                  <a:tcPr anchor="ctr" marL="73152" marR="73152" marT="27432" marB="27432">
                    <a:solidFill>
                      <a:srgbClr val="132A46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저장 내용</a:t>
                      </a:r>
                    </a:p>
                  </a:txBody>
                  <a:tcPr anchor="ctr" marL="73152" marR="73152" marT="27432" marB="27432">
                    <a:solidFill>
                      <a:srgbClr val="132A46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사용자 정보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역할, 담당 대공정 · 공종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제원표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건설코드별 항목, 버전 이력, 적용 상태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질의 스레드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상태, 대상, 메시지, 재질의 횟수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수정 이력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필드별 변경 내역(이전값→이후값, 출처, 처리자)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제원 수기입력 요청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승인 대기 / 처리 이력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업무 가이드 설정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플로우차트 문구 · 단계 설명(관리자 편집)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5926390" y="5257800"/>
            <a:ext cx="5716664" cy="1014984"/>
          </a:xfrm>
          <a:prstGeom prst="rect">
            <a:avLst/>
          </a:prstGeom>
          <a:solidFill>
            <a:srgbClr val="F4F6FA"/>
          </a:solidFill>
          <a:ln w="12700">
            <a:solidFill>
              <a:srgbClr val="DE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 i="0">
                <a:solidFill>
                  <a:srgbClr val="1A1F29"/>
                </a:solidFill>
                <a:latin typeface="맑은 고딕"/>
                <a:ea typeface="맑은 고딕"/>
              </a:rPr>
              <a:t>■  실시간 동기화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050" b="0" i="0">
                <a:solidFill>
                  <a:srgbClr val="1A1F29"/>
                </a:solidFill>
                <a:latin typeface="맑은 고딕"/>
                <a:ea typeface="맑은 고딕"/>
              </a:rPr>
              <a:t>위 공유 데이터 중 하나라도 값이 바뀌면 대시보드 · 질의응답 · 제원 DB 등 모든 탭이 캐시 없이 즉시 다시 계산되어 반영된다 — 여러 사용자가 같은 화면을 동시에 열어도 항상 같은 최신 상태를 본다.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F29"/>
                </a:solidFill>
                <a:latin typeface="맑은 고딕"/>
                <a:ea typeface="맑은 고딕"/>
              </a:rPr>
              <a:t>향후 일정 및 다음 단계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10996"/>
            <a:ext cx="59436" cy="201168"/>
          </a:xfrm>
          <a:prstGeom prst="rect">
            <a:avLst/>
          </a:prstGeom>
          <a:solidFill>
            <a:srgbClr val="E8A33D"/>
          </a:solidFill>
          <a:ln>
            <a:noFill/>
          </a:ln>
          <a:effectLst>
            <a:outerShdw blurRad="38100" dist="19050" dir="8100000" rotWithShape="0">
              <a:srgbClr val="0A1626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9516" y="111556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A1F29"/>
                </a:solidFill>
                <a:latin typeface="맑은 고딕"/>
                <a:ea typeface="맑은 고딕"/>
              </a:rPr>
              <a:t>정식 백엔드 동기화와 기능 고도화 로드맵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1A1F29"/>
                </a:solidFill>
                <a:latin typeface="맑은 고딕"/>
                <a:ea typeface="맑은 고딕"/>
              </a:rPr>
              <a:t>제원 질의 데스크  ·  Spec Q&amp;A Desk  ·  For Developer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47207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A1F29"/>
                </a:solidFill>
                <a:latin typeface="맑은 고딕"/>
                <a:ea typeface="맑은 고딕"/>
              </a:rPr>
              <a:t>09 / 09</a:t>
            </a:r>
          </a:p>
        </p:txBody>
      </p:sp>
      <p:sp>
        <p:nvSpPr>
          <p:cNvPr id="8" name="Rectangle 7"/>
          <p:cNvSpPr/>
          <p:nvPr/>
        </p:nvSpPr>
        <p:spPr>
          <a:xfrm>
            <a:off x="10469880" y="365760"/>
            <a:ext cx="1188720" cy="320040"/>
          </a:xfrm>
          <a:prstGeom prst="rect">
            <a:avLst/>
          </a:prstGeom>
          <a:noFill/>
          <a:ln w="12700">
            <a:solidFill>
              <a:srgbClr val="DEE5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 i="0">
                <a:solidFill>
                  <a:srgbClr val="1A1F29"/>
                </a:solidFill>
                <a:latin typeface="맑은 고딕"/>
                <a:ea typeface="맑은 고딕"/>
              </a:rPr>
              <a:t>[ LOGO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1F29"/>
                </a:solidFill>
                <a:latin typeface="맑은 고딕"/>
                <a:ea typeface="맑은 고딕"/>
              </a:rPr>
              <a:t>■  다음 단계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1A1F29"/>
                </a:solidFill>
                <a:latin typeface="맑은 고딕"/>
                <a:ea typeface="맑은 고딕"/>
              </a:rPr>
              <a:t>-   실제 FastAPI 백엔드(정식 구현)와의 기능 동기화 지속 — 이 Artifact는 서버 호스팅 없이 워크플로우를 체험·운영할 수 있는 경량 버전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1A1F29"/>
                </a:solidFill>
                <a:latin typeface="맑은 고딕"/>
                <a:ea typeface="맑은 고딕"/>
              </a:rPr>
              <a:t>-   검증 규칙 확장(현재: 성상별 유량 OVER, 성상명 표준화) 및 규칙 CRUD 화면 추가 검토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1A1F29"/>
                </a:solidFill>
                <a:latin typeface="맑은 고딕"/>
                <a:ea typeface="맑은 고딕"/>
              </a:rPr>
              <a:t>-   AI 챗봇(자연어 질의 → 표/그래프 생성) 정확도 및 지원 질문 유형 고도화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3108960"/>
          <a:ext cx="11094414" cy="155447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37529"/>
                <a:gridCol w="7458430"/>
                <a:gridCol w="1398455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다음 단계</a:t>
                      </a:r>
                    </a:p>
                  </a:txBody>
                  <a:tcPr anchor="ctr" marL="73152" marR="73152" marT="27432" marB="27432">
                    <a:solidFill>
                      <a:srgbClr val="132A46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설명</a:t>
                      </a:r>
                    </a:p>
                  </a:txBody>
                  <a:tcPr anchor="ctr" marL="73152" marR="73152" marT="27432" marB="27432">
                    <a:solidFill>
                      <a:srgbClr val="132A46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우선순위</a:t>
                      </a:r>
                    </a:p>
                  </a:txBody>
                  <a:tcPr anchor="ctr" marL="73152" marR="73152" marT="27432" marB="27432">
                    <a:solidFill>
                      <a:srgbClr val="132A46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</a:tr>
              <a:tr h="408431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백엔드 기능 동기화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Artifact 경량 버전과 FastAPI 정식 구현 간 기능 차이 정리 및 반영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CORE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</a:tr>
              <a:tr h="408431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검증 규칙 확장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성상별 유량 OVER 외 규칙 추가, 규칙 CRUD 화면 검토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일반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</a:tr>
              <a:tr h="408431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챗봇 고도화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자연어 질의 정확도 개선, 지원 질문 유형 확대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F29"/>
                          </a:solidFill>
                          <a:latin typeface="맑은 고딕"/>
                          <a:ea typeface="맑은 고딕"/>
                        </a:rPr>
                        <a:t>일반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6350" cap="flat">
                      <a:solidFill>
                        <a:srgbClr val="DEE5EE"/>
                      </a:solidFill>
                    </a:lnL>
                    <a:lnR w="6350" cap="flat">
                      <a:solidFill>
                        <a:srgbClr val="DEE5EE"/>
                      </a:solidFill>
                    </a:lnR>
                    <a:lnT w="6350" cap="flat">
                      <a:solidFill>
                        <a:srgbClr val="DEE5EE"/>
                      </a:solidFill>
                    </a:lnT>
                    <a:lnB w="6350" cap="flat">
                      <a:solidFill>
                        <a:srgbClr val="DEE5E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5074920"/>
            <a:ext cx="110944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1F29"/>
                </a:solidFill>
                <a:latin typeface="맑은 고딕"/>
                <a:ea typeface="맑은 고딕"/>
              </a:rPr>
              <a:t>■  향후 일정  (예시 — 실제 일정으로 교체 필요)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5577840"/>
            <a:ext cx="11094415" cy="0"/>
          </a:xfrm>
          <a:prstGeom prst="line">
            <a:avLst/>
          </a:prstGeom>
          <a:ln w="19050">
            <a:solidFill>
              <a:srgbClr val="DEE5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98347" y="5527548"/>
            <a:ext cx="100584" cy="100584"/>
          </a:xfrm>
          <a:prstGeom prst="ellipse">
            <a:avLst/>
          </a:prstGeom>
          <a:solidFill>
            <a:srgbClr val="13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266944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A1F29"/>
                </a:solidFill>
                <a:latin typeface="맑은 고딕"/>
                <a:ea typeface="맑은 고딕"/>
              </a:rPr>
              <a:t>2026.09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687568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A1F29"/>
                </a:solidFill>
                <a:latin typeface="맑은 고딕"/>
                <a:ea typeface="맑은 고딕"/>
              </a:rPr>
              <a:t>기능 정리 · PPT 브리핑(현재)</a:t>
            </a:r>
          </a:p>
        </p:txBody>
      </p:sp>
      <p:sp>
        <p:nvSpPr>
          <p:cNvPr id="17" name="Oval 16"/>
          <p:cNvSpPr/>
          <p:nvPr/>
        </p:nvSpPr>
        <p:spPr>
          <a:xfrm>
            <a:off x="4196486" y="5527548"/>
            <a:ext cx="100584" cy="100584"/>
          </a:xfrm>
          <a:prstGeom prst="ellipse">
            <a:avLst/>
          </a:prstGeom>
          <a:solidFill>
            <a:srgbClr val="13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15258" y="5266944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A1F29"/>
                </a:solidFill>
                <a:latin typeface="맑은 고딕"/>
                <a:ea typeface="맑은 고딕"/>
              </a:rPr>
              <a:t>2026.10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5258" y="5687568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A1F29"/>
                </a:solidFill>
                <a:latin typeface="맑은 고딕"/>
                <a:ea typeface="맑은 고딕"/>
              </a:rPr>
              <a:t>백엔드 동기화 검토</a:t>
            </a:r>
          </a:p>
        </p:txBody>
      </p:sp>
      <p:sp>
        <p:nvSpPr>
          <p:cNvPr id="20" name="Oval 19"/>
          <p:cNvSpPr/>
          <p:nvPr/>
        </p:nvSpPr>
        <p:spPr>
          <a:xfrm>
            <a:off x="7894624" y="5527548"/>
            <a:ext cx="100584" cy="100584"/>
          </a:xfrm>
          <a:prstGeom prst="ellipse">
            <a:avLst/>
          </a:prstGeom>
          <a:solidFill>
            <a:srgbClr val="13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13396" y="5266944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1A1F29"/>
                </a:solidFill>
                <a:latin typeface="맑은 고딕"/>
                <a:ea typeface="맑은 고딕"/>
              </a:rPr>
              <a:t>2026.11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13396" y="5687568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A1F29"/>
                </a:solidFill>
                <a:latin typeface="맑은 고딕"/>
                <a:ea typeface="맑은 고딕"/>
              </a:rPr>
              <a:t>검증 규칙 확장</a:t>
            </a:r>
          </a:p>
        </p:txBody>
      </p:sp>
      <p:sp>
        <p:nvSpPr>
          <p:cNvPr id="23" name="Oval 22"/>
          <p:cNvSpPr/>
          <p:nvPr/>
        </p:nvSpPr>
        <p:spPr>
          <a:xfrm>
            <a:off x="11592763" y="5527548"/>
            <a:ext cx="100584" cy="100584"/>
          </a:xfrm>
          <a:prstGeom prst="ellipse">
            <a:avLst/>
          </a:prstGeom>
          <a:solidFill>
            <a:srgbClr val="13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80015" y="5266944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1A1F29"/>
                </a:solidFill>
                <a:latin typeface="맑은 고딕"/>
                <a:ea typeface="맑은 고딕"/>
              </a:rPr>
              <a:t>2026.12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80015" y="5687568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1A1F29"/>
                </a:solidFill>
                <a:latin typeface="맑은 고딕"/>
                <a:ea typeface="맑은 고딕"/>
              </a:rPr>
              <a:t>정식 배포 검토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