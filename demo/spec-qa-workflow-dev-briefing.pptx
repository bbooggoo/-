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1F29"/>
                </a:solidFill>
                <a:latin typeface="맑은 고딕"/>
                <a:ea typeface="맑은 고딕"/>
              </a:rPr>
              <a:t>반도체 플랜트 제원 검증 · 질의응답 워크플로우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Developer Briefing · 개발자 인수인계 자료 · Claude Artifact 기반 실시간 협업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Table of Contents</a:t>
            </a:r>
          </a:p>
        </p:txBody>
      </p:sp>
      <p:sp>
        <p:nvSpPr>
          <p:cNvPr id="8" name="Oval 7"/>
          <p:cNvSpPr/>
          <p:nvPr/>
        </p:nvSpPr>
        <p:spPr>
          <a:xfrm>
            <a:off x="166100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248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10" name="Oval 9"/>
          <p:cNvSpPr/>
          <p:nvPr/>
        </p:nvSpPr>
        <p:spPr>
          <a:xfrm>
            <a:off x="166100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48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12" name="Oval 11"/>
          <p:cNvSpPr/>
          <p:nvPr/>
        </p:nvSpPr>
        <p:spPr>
          <a:xfrm>
            <a:off x="166100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248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14" name="Oval 13"/>
          <p:cNvSpPr/>
          <p:nvPr/>
        </p:nvSpPr>
        <p:spPr>
          <a:xfrm>
            <a:off x="166100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248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16" name="Oval 15"/>
          <p:cNvSpPr/>
          <p:nvPr/>
        </p:nvSpPr>
        <p:spPr>
          <a:xfrm>
            <a:off x="632444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업무 가이드 — 플로우차트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질의응답 상태 머신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역할·권한 및 데이터 구조</a:t>
            </a:r>
          </a:p>
        </p:txBody>
      </p:sp>
      <p:sp>
        <p:nvSpPr>
          <p:cNvPr id="22" name="Oval 21"/>
          <p:cNvSpPr/>
          <p:nvPr/>
        </p:nvSpPr>
        <p:spPr>
          <a:xfrm>
            <a:off x="632444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92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왜 "제원 질의 데스크"가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02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반도체 플랜트 건설 과정에서 대공정별 제원표(배관·전기·GCS 등)가 엑셀로 산발적으로 접수되어, 표준 형식 이탈이나 성상별 유량 초과 같은 오류를 사람이 일일이 찾아내야 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값에 대한 질의가 메일·구두로 오가며 이력이 남지 않아, 누가 언제 어떤 값을 확정했는지 추적이 어려움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확정 전후 값 비교, 승인 이력, 담당자별 처리 현황을 한눈에 볼 수 있는 도구가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목적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규칙(성상별 유량 OVER, 성상명 표준화)을 자동 실행해 이상 항목을 스스로 찾아 질의를 생성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기술팀(대공정) · 설계사(공종) · 건설팀 · 관리자 역할별로 질의응답·승인 흐름을 표준화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모든 변경 이력·버전·수정 근거를 제원 DB에 남겨 추적 가능한 단일 진실 공급원(Single Source of Truth) 확보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206240"/>
          <a:ext cx="11094414" cy="2066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73603"/>
                <a:gridCol w="83208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기대 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 시간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 대신 화면 내 원클릭 확인 · 제안 · 승인으로 처리 시간 단축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정합성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검증 규칙 자동 실행 + 승인 없이는 DB에 반영되지 않아 오기입 방지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추적성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모든 값 변경에 수정 이력(누가 · 언제 · 무엇에서 무엇으로)이 자동으로 기록됨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도입 전후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03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6212871" cy="45811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42574"/>
                <a:gridCol w="2226279"/>
                <a:gridCol w="274401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AS-IS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TO-BE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접수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엑셀 산발 접수, 형식 불일치 시 수작업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파서 자동 인식 + 비표준 제원은 "제원 수기입력"으로 흡수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오류 검증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담당자가 눈으로 직접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OVER, 표준명 이탈 등 규칙을 시스템이 자동 실행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구두, 처리 이력 미보존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화면 내 상태 머신(OPEN→…→RESOLVED)으로 이력 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값 변경 승인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개별 확인 없이 반영되는 경우 존재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 최종확인(SPEC) · 건설팀 승인(수기입력) 없이는 DB 미반영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진행 현황 파악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개인별 파일 · 메모에 의존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 · SUMMARY · MY TASK 탭에서 실시간 집계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6898672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035832" y="1691640"/>
          <a:ext cx="460722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42889"/>
                <a:gridCol w="27643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처리 속도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자동 질의 일괄 생성 + 원클릭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신뢰도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승인 게이트 + 수정 이력 자동 기록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실시간 공유 DB로 여러 인원 동시 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확장성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PJT · 대공정 · 공종 단위 자동 필터링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035832" y="3703320"/>
            <a:ext cx="4607222" cy="256946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핵심 개선 포인트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값 변경은 반드시 승인(설계사 최종확인 또는 건설팀 승인)을 거쳐야 제원 DB에 반영되며, 그 과정이 corrections 컬렉션에 자동으로 남아 이전 프로세스 대비 추적성이 크게 향상됨.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정보 확인 · 조회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04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4" cy="45811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545"/>
                <a:gridCol w="7610218"/>
                <a:gridCol w="128365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 · 제원 접수 처리 흐름을 플로우차트와 단계별 설명으로 안내(관리자가 문구 편집 가능)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MY TASK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로그인한 사람이 지금 처리해야 할 질의 · 승인 건을 한곳에 모아 표시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제원표 현황과 질의 통계를 한눈에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DB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제원 항목을 검색 · 상세 조회, 변경 이력 셀 음영 및 호버 툴팁 제공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그래프 만들기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행 · 열 · 값 · 집계를 선택해 제원 데이터를 표와 그래프로 즉시 생성, 엑셀 · PNG 다운로드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SUMMARY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대공정별 제원 총량 집계 요약, GCS 종수 등 핵심 지표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질의 처리 · 데이터 반영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05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3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64763"/>
                <a:gridCol w="7486475"/>
                <a:gridCol w="14431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질의 목록 확인, 답변 · 값 제안 · 최종확인 처리(자동 · 수동 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수동질의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설계사가 대공정 · 건설코드 · 설비모듈 · 필드를 직접 선택해 새 질의 등록(단건 또는 일괄)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 업로드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엑셀 제원표 업로드 → 자동 파싱 · 건설코드 그룹핑 · 부분접수 누적 반영, 업로드 이력 관리(적용/미적용/삭제)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양식이 아닌 제원을 기술팀이 직접 추가 · 수정 · 삭제 요청 → 건설팀 담당자 승인 후 DB 반영(건설코드 검색 지원)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건설팀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시스템 사용자와 역할별 담당 대공정 · 공종 등록 ·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760720"/>
            <a:ext cx="11094415" cy="512063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동기화 원칙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제원표 · 질의 · 수정 이력 등 공유 DB 값이 바뀌면 위 화면들은 캐시 없이 매 렌더링마다 최신 상태를 다시 계산해 즉시 반영한다 — 여러 사용자가 동시에 봐도 항상 같은 값을 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업무 가이드 — 플로우차트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"업무 가이드" 탭의 처리 흐름 매뉴얼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06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443776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플로우차트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4437766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"업무 가이드" 탭은 질의 1건이 등록되어 최종 DB 반영으로 종결되기까지 거치는 모든 경로를 플로우차트 한 장(들)에 담아 매뉴얼처럼 제공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도형 색으로 처리 주체 구분 — 기술팀=청록 다이아몬드, 설계사=주황 다이아몬드, 진행 중 상태=회색 사각형, 종결 상태=초록 사각형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실선 화살표=다음 단계로 진행, 주황 점선 화살표=반려로 인한 재질의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관리자만 도형 문구 · 단계별 설명(①~⑨)을 편집 가능 — 도형 배치와 연결(어느 상태에서 어느 상태로 가는지)은 실제 상태 머신과 동기화되어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4437766" cy="151790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단계별 설명 (①~⑨)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흐름도 아래에는 번호(①~⑨)에 맞춘 단계별 설명(누가 · 무엇을 · 어떤 조건에서 하는지, 게이팅 규칙 포함)이 함께 실려 있다. 각 상태 박스 문구는 "질의응답" 탭에서 실제로 보이는 상태 칩(미답변/값 제안됨/답변완료/해결됨) 문구와 그대로 대응되어, 화면에서 본 칩이 흐름도의 어느 단계인지 바로 찾을 수 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23566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260726" y="1691640"/>
          <a:ext cx="6382328" cy="45811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92508"/>
                <a:gridCol w="1798656"/>
                <a:gridCol w="319116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흐름도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경로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1405127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buildFlowSvg
(SPEC 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DB 값을 바꾸는 AUTO/MANUAL 질의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①AUTO 생성 → 기술팀 확인(특이없음→③즉시 해결) 또는 곧장 값 제안(④) → ⑤값 제안됨 → 설계사 최종확인 → ⑥해결됨(반려 시 ④로 재질의)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1405127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buildNonSpecFlowSvg
(일반 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DB와 무관한 일반 문의(NON_SPEC)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Ⓝ①등록 → Ⓝ②기술팀 서술형 답변 → 설계사 최종검증 → Ⓝ③해결됨(이상 있으면 Ⓝ②로 재질의)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1405127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buildIntakeFlowSvg
(제원 접수)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제원표가 DB에 최초로 채워지는 과정(부분접수 포함)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접수①도착 → 표준양식이면 접수②업로드 자동 반영, 아니면 접수③수기입력 → 접수③-A 건설팀 승인(반려 시 재작성) → 접수④DB 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질의응답 상태 머신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상태(status)와 전이 함수, 질의 분류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07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0343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상태 (status)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11680"/>
          <a:ext cx="510343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04210"/>
                <a:gridCol w="2948649"/>
                <a:gridCol w="85057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다음 처리자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OPEN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미답변 — AUTO 자동 생성 직후 또는 설계사가 막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VALUE_PROPOSED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값 제안됨(최종승인 대기) — SPEC 질의에서 기술팀이 AS-IS 유지 확인 또는 새 값 제안 완료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ANSWERED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답변완료(최종검증 대기) — NON_SPEC 질의에서 기술팀이 서술형 답변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RESOLVED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해결됨 — 최종 확인/최종검증 완료로 종결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-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REJECTED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반려됨(레거시/특수 케이스)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-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4764024"/>
            <a:ext cx="5103430" cy="1508759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질의 분류 기준 (queryNature)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SPEC — 제원 DB 값을 바꾸거나 바꿀지 판단하는 질의(AUTO 전체 + 값 확인/변경 목적 MANUAL). NON_SPEC — 제원 DB 값과 무관한 일반 문의. 등록 시점에 이 기준으로 갈려 서로 다른 상태 흐름을 따른다.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89230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26390" y="1691640"/>
            <a:ext cx="57166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전이 함수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26390" y="2011680"/>
          <a:ext cx="5716662" cy="42610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2165"/>
                <a:gridCol w="800332"/>
                <a:gridCol w="314416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전이 함수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decideAuto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AUTO 질의 확인 — 특이사항 없으면 TO-BE 값 즉시 반영·해결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convertAutoToProposal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AUTO 질의에 특이사항 있을 때 곧장 값 제안(VALUE_PROPOSED)으로 전환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quickConfirmAsIs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MANUAL 질의에서 AS-IS 값 유지로 결정, VALUE_PROPOSED로 전환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proposeValue / proposeChanges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MANUAL 질의에서 새 값(단일/다중 필드)을 제안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decideFinal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값 제안에 대한 최종 확인 — 승인 시 RESOLVED, 반려 시 재질의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submitNarrativeAnswer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NON_SPEC 질의 서술형 답변 등록(ANSWERED로 전환)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decideNarrativeAnswer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서술형 답변 최종검증 — 이상 없으면 RESOLVED, 있으면 재질의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역할 · 권한 및 데이터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역할별 권한 범위와 공유 DB 컬렉션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08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0343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역할별 권한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11680"/>
          <a:ext cx="5103430" cy="4261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33097"/>
                <a:gridCol w="347033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권한 요약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
(ADMIN)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데이터 열람, 제원표 업로드, 승인 절차 없이 즉시 반영, 모든 승인 대기 요청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담당자
(TECH_LEAD)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질의 확인 · 답변 · 값 제안, 제원 수기입력 요청 제출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건설팀 담당자
(CONSTRUCTION_LEAD)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제원 수기입력 요청 승인 · 반려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
(DESIGNER)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공종의 질의 등록 · 최종확인 · 최종검증, 수동질의 직접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5789230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26390" y="1691640"/>
            <a:ext cx="57166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공유 DB 컬렉션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26390" y="2011680"/>
          <a:ext cx="5716663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9332"/>
                <a:gridCol w="3887331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컬렉션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저장 내용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owners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사용자(역할, 담당 대공정/공종)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spec_sheets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제원표(항목, 버전 이력, 적용 상태)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qa_threads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스레드(상태, 대상, 메시지, 재질의 횟수)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corrections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필드별 변경 이력(이전값→이후값, 출처, 처리자)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spec_entry_requests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 승인 대기/이력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guide_config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 플로우차트 문구 · 단계 설명(관리자 편집)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926390" y="5257800"/>
            <a:ext cx="5716664" cy="101498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실시간 동기화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위 6개 컬렉션 중 하나라도 값이 바뀌면 대시보드 · 질의응답 · 제원 DB 등 모든 탭이 캐시 없이 즉시 다시 계산되어 반영된다 — 여러 사용자가 같은 화면을 동시에 열어도 항상 같은 최신 상태를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정식 백엔드 동기화와 기능 고도화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09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다음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실제 FastAPI 백엔드(정식 구현)와의 기능 동기화 지속 — 이 Artifact는 서버 호스팅 없이 워크플로우를 체험·운영할 수 있는 경량 버전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 확장(현재: 성상별 유량 OVER, 성상명 표준화) 및 규칙 CRUD 화면 추가 검토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AI 챗봇(자연어 질의 → 표/그래프 생성) 정확도 및 지원 질문 유형 고도화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094414" cy="155447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7529"/>
                <a:gridCol w="7458430"/>
                <a:gridCol w="139845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다음 단계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우선순위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백엔드 기능 동기화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Artifact 경량 버전과 FastAPI 정식 구현 간 기능 차이 정리 및 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CORE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검증 규칙 확장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 외 규칙 추가, 규칙 CRUD 화면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챗봇 고도화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자연어 질의 정확도 개선, 지원 질문 유형 확대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074920"/>
            <a:ext cx="110944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향후 일정  (예시 — 실제 일정으로 교체 필요)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5577840"/>
            <a:ext cx="11094415" cy="0"/>
          </a:xfrm>
          <a:prstGeom prst="line">
            <a:avLst/>
          </a:prstGeom>
          <a:ln w="1905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98347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기능 정리 · PPT 브리핑(현재)</a:t>
            </a:r>
          </a:p>
        </p:txBody>
      </p:sp>
      <p:sp>
        <p:nvSpPr>
          <p:cNvPr id="17" name="Oval 16"/>
          <p:cNvSpPr/>
          <p:nvPr/>
        </p:nvSpPr>
        <p:spPr>
          <a:xfrm>
            <a:off x="4196486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5258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5258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백엔드 동기화 검토</a:t>
            </a:r>
          </a:p>
        </p:txBody>
      </p:sp>
      <p:sp>
        <p:nvSpPr>
          <p:cNvPr id="20" name="Oval 19"/>
          <p:cNvSpPr/>
          <p:nvPr/>
        </p:nvSpPr>
        <p:spPr>
          <a:xfrm>
            <a:off x="7894624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3396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3396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검증 규칙 확장</a:t>
            </a:r>
          </a:p>
        </p:txBody>
      </p:sp>
      <p:sp>
        <p:nvSpPr>
          <p:cNvPr id="23" name="Oval 22"/>
          <p:cNvSpPr/>
          <p:nvPr/>
        </p:nvSpPr>
        <p:spPr>
          <a:xfrm>
            <a:off x="11592763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80015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0015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정식 배포 검토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